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Century Schoolbook" panose="02040604050505020304"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9D9FBE-4DD0-4057-A236-DEB60894E719}">
  <a:tblStyle styleId="{6C9D9FBE-4DD0-4057-A236-DEB60894E71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6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8c4dac25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8c4dac25e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g38c4dac25e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Main point: Customers are less likely to pick up when called during certain business hours</a:t>
            </a:r>
            <a:endParaRPr/>
          </a:p>
          <a:p>
            <a:pPr marL="457200" lvl="0" indent="-317500" algn="l" rtl="0">
              <a:spcBef>
                <a:spcPts val="0"/>
              </a:spcBef>
              <a:spcAft>
                <a:spcPts val="0"/>
              </a:spcAft>
              <a:buSzPts val="1400"/>
              <a:buChar char="-"/>
            </a:pPr>
            <a:r>
              <a:rPr lang="en-US"/>
              <a:t>Agents that answer customer calls back during peak work hours = less likely to be answered</a:t>
            </a:r>
            <a:endParaRPr/>
          </a:p>
          <a:p>
            <a:pPr marL="914400" lvl="1" indent="-317500" algn="l" rtl="0">
              <a:spcBef>
                <a:spcPts val="0"/>
              </a:spcBef>
              <a:spcAft>
                <a:spcPts val="0"/>
              </a:spcAft>
              <a:buSzPts val="1400"/>
              <a:buChar char="-"/>
            </a:pPr>
            <a:r>
              <a:rPr lang="en-US"/>
              <a:t>maybe bc start of workday or after lunch / meeting times</a:t>
            </a:r>
            <a:endParaRPr/>
          </a:p>
          <a:p>
            <a:pPr marL="914400" lvl="1" indent="-317500" algn="l" rtl="0">
              <a:spcBef>
                <a:spcPts val="0"/>
              </a:spcBef>
              <a:spcAft>
                <a:spcPts val="0"/>
              </a:spcAft>
              <a:buSzPts val="1400"/>
              <a:buChar char="-"/>
            </a:pPr>
            <a:r>
              <a:rPr lang="en-US"/>
              <a:t>customers are calling during short breaks or between tasks, making them less willing to wait on hold</a:t>
            </a:r>
            <a:endParaRPr/>
          </a:p>
          <a:p>
            <a:pPr marL="457200" lvl="0" indent="-317500" algn="l" rtl="0">
              <a:spcBef>
                <a:spcPts val="0"/>
              </a:spcBef>
              <a:spcAft>
                <a:spcPts val="0"/>
              </a:spcAft>
              <a:buSzPts val="1400"/>
              <a:buChar char="-"/>
            </a:pPr>
            <a:r>
              <a:rPr lang="en-US"/>
              <a:t>Pick up rates improve later in the day so customers might be more responsive in afternoon (after 2pm)</a:t>
            </a:r>
            <a:endParaRPr/>
          </a:p>
          <a:p>
            <a:pPr marL="457200" lvl="0" indent="-317500" algn="l" rtl="0">
              <a:spcBef>
                <a:spcPts val="0"/>
              </a:spcBef>
              <a:spcAft>
                <a:spcPts val="0"/>
              </a:spcAft>
              <a:buSzPts val="1400"/>
              <a:buChar char="-"/>
            </a:pPr>
            <a:r>
              <a:rPr lang="en-US"/>
              <a:t>Pattern could be due to underlying operational factors </a:t>
            </a:r>
            <a:endParaRPr/>
          </a:p>
          <a:p>
            <a:pPr marL="914400" lvl="1" indent="-317500" algn="l" rtl="0">
              <a:spcBef>
                <a:spcPts val="0"/>
              </a:spcBef>
              <a:spcAft>
                <a:spcPts val="0"/>
              </a:spcAft>
              <a:buSzPts val="1400"/>
              <a:buChar char="-"/>
            </a:pPr>
            <a:r>
              <a:rPr lang="en-US"/>
              <a:t>Like agents might be picking up fewer customer calls later in the day instead of more customers picking up later in the day</a:t>
            </a:r>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Big picture: customer no-answer rate decreases after 9AM and 1PM</a:t>
            </a:r>
            <a:endParaRPr/>
          </a:p>
          <a:p>
            <a:pPr marL="457200" lvl="0" indent="-317500" algn="l" rtl="0">
              <a:spcBef>
                <a:spcPts val="0"/>
              </a:spcBef>
              <a:spcAft>
                <a:spcPts val="0"/>
              </a:spcAft>
              <a:buSzPts val="1400"/>
              <a:buChar char="-"/>
            </a:pPr>
            <a:r>
              <a:rPr lang="en-US"/>
              <a:t>graph has starting hour on x-axis, limited from 8AM to 5PM so during business hours</a:t>
            </a:r>
            <a:endParaRPr/>
          </a:p>
          <a:p>
            <a:pPr marL="457200" lvl="0" indent="-317500" algn="l" rtl="0">
              <a:spcBef>
                <a:spcPts val="0"/>
              </a:spcBef>
              <a:spcAft>
                <a:spcPts val="0"/>
              </a:spcAft>
              <a:buSzPts val="1400"/>
              <a:buChar char="-"/>
            </a:pPr>
            <a:r>
              <a:rPr lang="en-US"/>
              <a:t>Session counts on y-axis represents the number of calls where the termination reason for the call is “No Answer from Customer”</a:t>
            </a:r>
            <a:endParaRPr/>
          </a:p>
          <a:p>
            <a:pPr marL="914400" lvl="1" indent="-317500" algn="l" rtl="0">
              <a:spcBef>
                <a:spcPts val="0"/>
              </a:spcBef>
              <a:spcAft>
                <a:spcPts val="0"/>
              </a:spcAft>
              <a:buSzPts val="1400"/>
              <a:buChar char="-"/>
            </a:pPr>
            <a:r>
              <a:rPr lang="en-US"/>
              <a:t>assuming this means that the agent answered the customer back and the call was not answered</a:t>
            </a:r>
            <a:endParaRPr/>
          </a:p>
          <a:p>
            <a:pPr marL="457200" lvl="0" indent="-317500" algn="l" rtl="0">
              <a:spcBef>
                <a:spcPts val="0"/>
              </a:spcBef>
              <a:spcAft>
                <a:spcPts val="0"/>
              </a:spcAft>
              <a:buSzPts val="1400"/>
              <a:buChar char="-"/>
            </a:pPr>
            <a:r>
              <a:rPr lang="en-US"/>
              <a:t>significant drop towards the end of the day, after 2PM, lowest at 5PM </a:t>
            </a:r>
            <a:endParaRPr/>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c4dac25ed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100"/>
              <a:t>The ratio of agents leaving to customers leaving remains stable, even as call volume declines and staffing levels stay constant.</a:t>
            </a:r>
            <a:endParaRPr sz="1100"/>
          </a:p>
          <a:p>
            <a:pPr marL="457200" lvl="0" indent="-298450" algn="l" rtl="0">
              <a:lnSpc>
                <a:spcPct val="115000"/>
              </a:lnSpc>
              <a:spcBef>
                <a:spcPts val="1200"/>
              </a:spcBef>
              <a:spcAft>
                <a:spcPts val="0"/>
              </a:spcAft>
              <a:buClr>
                <a:schemeClr val="dk1"/>
              </a:buClr>
              <a:buSzPts val="1100"/>
              <a:buChar char="●"/>
            </a:pPr>
            <a:r>
              <a:rPr lang="en-US" sz="1100"/>
              <a:t>This indicates that consistent staffing is </a:t>
            </a:r>
            <a:r>
              <a:rPr lang="en-US" sz="1100" b="1"/>
              <a:t>not translating into improved customer retention</a:t>
            </a:r>
            <a:r>
              <a:rPr lang="en-US" sz="1100"/>
              <a:t> when demand is lower.</a:t>
            </a:r>
            <a:endParaRPr/>
          </a:p>
        </p:txBody>
      </p:sp>
      <p:sp>
        <p:nvSpPr>
          <p:cNvPr id="167" name="Google Shape;167;g38c4dac25ed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Recommendation: focus agent efforts on early morning and early afternoon where customers are less responsive </a:t>
            </a:r>
            <a:endParaRPr/>
          </a:p>
          <a:p>
            <a:pPr marL="457200" lvl="0" indent="-317500" algn="l" rtl="0">
              <a:spcBef>
                <a:spcPts val="0"/>
              </a:spcBef>
              <a:spcAft>
                <a:spcPts val="0"/>
              </a:spcAft>
              <a:buSzPts val="1400"/>
              <a:buChar char="-"/>
            </a:pPr>
            <a:r>
              <a:rPr lang="en-US"/>
              <a:t>High rates of no answer from customers indicates call attempts are high as well + we know from cynthia telling us in class that most calls come at the beginning of the day</a:t>
            </a:r>
            <a:endParaRPr/>
          </a:p>
          <a:p>
            <a:pPr marL="457200" lvl="0" indent="-317500" algn="l" rtl="0">
              <a:spcBef>
                <a:spcPts val="0"/>
              </a:spcBef>
              <a:spcAft>
                <a:spcPts val="0"/>
              </a:spcAft>
              <a:buSzPts val="1400"/>
              <a:buChar char="-"/>
            </a:pPr>
            <a:r>
              <a:rPr lang="en-US"/>
              <a:t>I recommend focusing efforts there but also at 1pm - 2pm </a:t>
            </a:r>
            <a:endParaRPr/>
          </a:p>
          <a:p>
            <a:pPr marL="457200" lvl="0" indent="-317500" algn="l" rtl="0">
              <a:spcBef>
                <a:spcPts val="0"/>
              </a:spcBef>
              <a:spcAft>
                <a:spcPts val="0"/>
              </a:spcAft>
              <a:buSzPts val="1400"/>
              <a:buChar char="-"/>
            </a:pPr>
            <a:r>
              <a:rPr lang="en-US"/>
              <a:t>Allow for leaner coverage in late morning and late afternoon where pickup likelihood is naturally higher </a:t>
            </a:r>
            <a:endParaRPr/>
          </a:p>
          <a:p>
            <a:pPr marL="914400" lvl="1" indent="-317500" algn="l" rtl="0">
              <a:spcBef>
                <a:spcPts val="0"/>
              </a:spcBef>
              <a:spcAft>
                <a:spcPts val="0"/>
              </a:spcAft>
              <a:buSzPts val="1400"/>
              <a:buChar char="-"/>
            </a:pPr>
            <a:r>
              <a:rPr lang="en-US"/>
              <a:t>assuming if people are waiting that long and still pick up, these are possibly some more dedicated customers so assuming the response rate won’t change in these time areas </a:t>
            </a:r>
            <a:endParaRPr/>
          </a:p>
          <a:p>
            <a:pPr marL="457200" lvl="0" indent="-292100" algn="l" rtl="0">
              <a:lnSpc>
                <a:spcPct val="95000"/>
              </a:lnSpc>
              <a:spcBef>
                <a:spcPts val="0"/>
              </a:spcBef>
              <a:spcAft>
                <a:spcPts val="0"/>
              </a:spcAft>
              <a:buSzPts val="1000"/>
              <a:buChar char="-"/>
            </a:pPr>
            <a:r>
              <a:rPr lang="en-US">
                <a:solidFill>
                  <a:srgbClr val="262626"/>
                </a:solidFill>
              </a:rPr>
              <a:t>Addressing the critical windows where there are high rates of customers not answering helps ensure that calls are answered more quickly. </a:t>
            </a:r>
            <a:endParaRPr sz="800"/>
          </a:p>
        </p:txBody>
      </p:sp>
      <p:sp>
        <p:nvSpPr>
          <p:cNvPr id="174" name="Google Shape;17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Big picture: call volumes spike late-spring into summer</a:t>
            </a:r>
            <a:endParaRPr/>
          </a:p>
          <a:p>
            <a:pPr marL="457200" lvl="0" indent="-317500" algn="l" rtl="0">
              <a:spcBef>
                <a:spcPts val="0"/>
              </a:spcBef>
              <a:spcAft>
                <a:spcPts val="0"/>
              </a:spcAft>
              <a:buClr>
                <a:schemeClr val="dk1"/>
              </a:buClr>
              <a:buSzPts val="1400"/>
              <a:buChar char="-"/>
            </a:pPr>
            <a:r>
              <a:rPr lang="en-US"/>
              <a:t>graph has each month over the course of the last year on the x axis</a:t>
            </a:r>
            <a:endParaRPr/>
          </a:p>
          <a:p>
            <a:pPr marL="457200" lvl="0" indent="-317500" algn="l" rtl="0">
              <a:spcBef>
                <a:spcPts val="0"/>
              </a:spcBef>
              <a:spcAft>
                <a:spcPts val="0"/>
              </a:spcAft>
              <a:buClr>
                <a:schemeClr val="dk1"/>
              </a:buClr>
              <a:buSzPts val="1400"/>
              <a:buChar char="-"/>
            </a:pPr>
            <a:r>
              <a:rPr lang="en-US"/>
              <a:t>Session counts on y-axis represents the number of calls </a:t>
            </a:r>
            <a:endParaRPr/>
          </a:p>
          <a:p>
            <a:pPr marL="457200" lvl="0" indent="-317500" algn="l" rtl="0">
              <a:spcBef>
                <a:spcPts val="0"/>
              </a:spcBef>
              <a:spcAft>
                <a:spcPts val="0"/>
              </a:spcAft>
              <a:buClr>
                <a:schemeClr val="dk1"/>
              </a:buClr>
              <a:buSzPts val="1400"/>
              <a:buChar char="-"/>
            </a:pPr>
            <a:r>
              <a:rPr lang="en-US"/>
              <a:t>Steep rise in calls in April, slight drop in June/July when kids get out of school, summer starts, picks back up again in August, and then drops back down in September, before tapering off during the holidays</a:t>
            </a:r>
            <a:endParaRPr/>
          </a:p>
        </p:txBody>
      </p:sp>
      <p:sp>
        <p:nvSpPr>
          <p:cNvPr id="194" name="Google Shape;19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400">
              <a:latin typeface="Century Schoolbook"/>
              <a:ea typeface="Century Schoolbook"/>
              <a:cs typeface="Century Schoolbook"/>
              <a:sym typeface="Century Schoolbook"/>
            </a:endParaRPr>
          </a:p>
          <a:p>
            <a:pPr marL="0" lvl="0" indent="0" algn="l" rtl="0">
              <a:spcBef>
                <a:spcPts val="0"/>
              </a:spcBef>
              <a:spcAft>
                <a:spcPts val="0"/>
              </a:spcAft>
              <a:buNone/>
            </a:pPr>
            <a:endParaRPr/>
          </a:p>
        </p:txBody>
      </p:sp>
      <p:sp>
        <p:nvSpPr>
          <p:cNvPr id="219" name="Google Shape;21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A7A192"/>
        </a:solidFill>
        <a:effectLst/>
      </p:bgPr>
    </p:bg>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1261872" y="758952"/>
            <a:ext cx="9418320" cy="4041648"/>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chemeClr val="dk1"/>
              </a:buClr>
              <a:buSzPts val="7200"/>
              <a:buFont typeface="Century Schoolbook"/>
              <a:buNone/>
              <a:defRPr sz="7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261872" y="4800600"/>
            <a:ext cx="9418320" cy="1691640"/>
          </a:xfrm>
          <a:prstGeom prst="rect">
            <a:avLst/>
          </a:prstGeom>
          <a:noFill/>
          <a:ln>
            <a:noFill/>
          </a:ln>
        </p:spPr>
        <p:txBody>
          <a:bodyPr spcFirstLastPara="1" wrap="square" lIns="91425" tIns="45700" rIns="91425" bIns="45700" anchor="t" anchorCtr="0">
            <a:normAutofit/>
          </a:bodyPr>
          <a:lstStyle>
            <a:lvl1pPr lvl="0" algn="l">
              <a:lnSpc>
                <a:spcPct val="95000"/>
              </a:lnSpc>
              <a:spcBef>
                <a:spcPts val="1400"/>
              </a:spcBef>
              <a:spcAft>
                <a:spcPts val="0"/>
              </a:spcAft>
              <a:buSzPts val="1760"/>
              <a:buNone/>
              <a:defRPr sz="2200">
                <a:solidFill>
                  <a:schemeClr val="dk1"/>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a:endParaRPr/>
          </a:p>
        </p:txBody>
      </p:sp>
      <p:sp>
        <p:nvSpPr>
          <p:cNvPr id="19" name="Google Shape;19;p2"/>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1pPr>
            <a:lvl2pPr marL="0" lvl="1"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2pPr>
            <a:lvl3pPr marL="0" lvl="2"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3pPr>
            <a:lvl4pPr marL="0" lvl="3"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4pPr>
            <a:lvl5pPr marL="0" lvl="4"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5pPr>
            <a:lvl6pPr marL="0" lvl="5"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6pPr>
            <a:lvl7pPr marL="0" lvl="6"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7pPr>
            <a:lvl8pPr marL="0" lvl="7"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8pPr>
            <a:lvl9pPr marL="0" lvl="8" indent="0" algn="ctr">
              <a:spcBef>
                <a:spcPts val="0"/>
              </a:spcBef>
              <a:buNone/>
              <a:defRPr sz="3600" b="0" i="0" u="none" strike="noStrike" cap="none">
                <a:solidFill>
                  <a:schemeClr val="dk1"/>
                </a:solidFill>
                <a:latin typeface="Century Schoolbook"/>
                <a:ea typeface="Century Schoolbook"/>
                <a:cs typeface="Century Schoolbook"/>
                <a:sym typeface="Century Schoolbook"/>
              </a:defRPr>
            </a:lvl9pPr>
          </a:lstStyle>
          <a:p>
            <a:pPr marL="0" lvl="0" indent="0" algn="ctr" rtl="0">
              <a:spcBef>
                <a:spcPts val="0"/>
              </a:spcBef>
              <a:spcAft>
                <a:spcPts val="0"/>
              </a:spcAft>
              <a:buNone/>
            </a:pPr>
            <a:fld id="{00000000-1234-1234-1234-123412341234}" type="slidenum">
              <a:rPr lang="en-US"/>
              <a:t>‹#›</a:t>
            </a:fld>
            <a:endParaRPr/>
          </a:p>
        </p:txBody>
      </p:sp>
      <p:sp>
        <p:nvSpPr>
          <p:cNvPr id="22" name="Google Shape;22;p2"/>
          <p:cNvSpPr/>
          <p:nvPr/>
        </p:nvSpPr>
        <p:spPr>
          <a:xfrm>
            <a:off x="0" y="0"/>
            <a:ext cx="4572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1261872" y="1828800"/>
            <a:ext cx="8595360" cy="4351337"/>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6" name="Google Shape;26;p3"/>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343437"/>
        </a:solidFill>
        <a:effectLst/>
      </p:bgPr>
    </p:bg>
    <p:spTree>
      <p:nvGrpSpPr>
        <p:cNvPr id="1" name="Shape 29"/>
        <p:cNvGrpSpPr/>
        <p:nvPr/>
      </p:nvGrpSpPr>
      <p:grpSpPr>
        <a:xfrm>
          <a:off x="0" y="0"/>
          <a:ext cx="0" cy="0"/>
          <a:chOff x="0" y="0"/>
          <a:chExt cx="0" cy="0"/>
        </a:xfrm>
      </p:grpSpPr>
      <p:sp>
        <p:nvSpPr>
          <p:cNvPr id="30" name="Google Shape;30;p4"/>
          <p:cNvSpPr txBox="1">
            <a:spLocks noGrp="1"/>
          </p:cNvSpPr>
          <p:nvPr>
            <p:ph type="ctrTitle"/>
          </p:nvPr>
        </p:nvSpPr>
        <p:spPr>
          <a:xfrm>
            <a:off x="1261872" y="758952"/>
            <a:ext cx="9418320" cy="4041648"/>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ubTitle" idx="1"/>
          </p:nvPr>
        </p:nvSpPr>
        <p:spPr>
          <a:xfrm>
            <a:off x="1261872" y="4800600"/>
            <a:ext cx="9418320" cy="1691640"/>
          </a:xfrm>
          <a:prstGeom prst="rect">
            <a:avLst/>
          </a:prstGeom>
          <a:noFill/>
          <a:ln>
            <a:noFill/>
          </a:ln>
        </p:spPr>
        <p:txBody>
          <a:bodyPr spcFirstLastPara="1" wrap="square" lIns="91425" tIns="45700" rIns="91425" bIns="45700" anchor="t" anchorCtr="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a:endParaRPr/>
          </a:p>
        </p:txBody>
      </p:sp>
      <p:sp>
        <p:nvSpPr>
          <p:cNvPr id="32" name="Google Shape;32;p4"/>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1pPr>
            <a:lvl2pPr marL="0" lvl="1"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2pPr>
            <a:lvl3pPr marL="0" lvl="2"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3pPr>
            <a:lvl4pPr marL="0" lvl="3"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4pPr>
            <a:lvl5pPr marL="0" lvl="4"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5pPr>
            <a:lvl6pPr marL="0" lvl="5"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6pPr>
            <a:lvl7pPr marL="0" lvl="6"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7pPr>
            <a:lvl8pPr marL="0" lvl="7"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8pPr>
            <a:lvl9pPr marL="0" lvl="8" indent="0" algn="ctr">
              <a:spcBef>
                <a:spcPts val="0"/>
              </a:spcBef>
              <a:buNone/>
              <a:defRPr sz="3600" b="0" i="0" u="none" strike="noStrike" cap="none">
                <a:solidFill>
                  <a:srgbClr val="A5A5A5"/>
                </a:solidFill>
                <a:latin typeface="Century Schoolbook"/>
                <a:ea typeface="Century Schoolbook"/>
                <a:cs typeface="Century Schoolbook"/>
                <a:sym typeface="Century Schoolbook"/>
              </a:defRPr>
            </a:lvl9pPr>
          </a:lstStyle>
          <a:p>
            <a:pPr marL="0" lvl="0" indent="0" algn="ctr" rtl="0">
              <a:spcBef>
                <a:spcPts val="0"/>
              </a:spcBef>
              <a:spcAft>
                <a:spcPts val="0"/>
              </a:spcAft>
              <a:buNone/>
            </a:pPr>
            <a:fld id="{00000000-1234-1234-1234-123412341234}" type="slidenum">
              <a:rPr lang="en-US"/>
              <a:t>‹#›</a:t>
            </a:fld>
            <a:endParaRPr/>
          </a:p>
        </p:txBody>
      </p:sp>
      <p:sp>
        <p:nvSpPr>
          <p:cNvPr id="35" name="Google Shape;35;p4"/>
          <p:cNvSpPr/>
          <p:nvPr/>
        </p:nvSpPr>
        <p:spPr>
          <a:xfrm>
            <a:off x="0" y="0"/>
            <a:ext cx="4572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1261872" y="758952"/>
            <a:ext cx="9418320" cy="4041648"/>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chemeClr val="dk1"/>
              </a:buClr>
              <a:buSzPts val="7200"/>
              <a:buFont typeface="Century Schoolbook"/>
              <a:buNone/>
              <a:defRPr sz="7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1261872" y="4800600"/>
            <a:ext cx="9418320" cy="1691640"/>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1400"/>
              </a:spcBef>
              <a:spcAft>
                <a:spcPts val="0"/>
              </a:spcAft>
              <a:buSzPts val="1760"/>
              <a:buNone/>
              <a:defRPr sz="2200">
                <a:solidFill>
                  <a:srgbClr val="595959"/>
                </a:solidFill>
              </a:defRPr>
            </a:lvl1pPr>
            <a:lvl2pPr marL="914400" lvl="1" indent="-228600" algn="l">
              <a:lnSpc>
                <a:spcPct val="90000"/>
              </a:lnSpc>
              <a:spcBef>
                <a:spcPts val="300"/>
              </a:spcBef>
              <a:spcAft>
                <a:spcPts val="0"/>
              </a:spcAft>
              <a:buSzPts val="1800"/>
              <a:buNone/>
              <a:defRPr sz="1800">
                <a:solidFill>
                  <a:srgbClr val="888888"/>
                </a:solidFill>
              </a:defRPr>
            </a:lvl2pPr>
            <a:lvl3pPr marL="1371600" lvl="2" indent="-228600" algn="l">
              <a:lnSpc>
                <a:spcPct val="90000"/>
              </a:lnSpc>
              <a:spcBef>
                <a:spcPts val="300"/>
              </a:spcBef>
              <a:spcAft>
                <a:spcPts val="0"/>
              </a:spcAft>
              <a:buSzPts val="1600"/>
              <a:buNone/>
              <a:defRPr sz="1600">
                <a:solidFill>
                  <a:srgbClr val="888888"/>
                </a:solidFill>
              </a:defRPr>
            </a:lvl3pPr>
            <a:lvl4pPr marL="1828800" lvl="3" indent="-228600" algn="l">
              <a:lnSpc>
                <a:spcPct val="90000"/>
              </a:lnSpc>
              <a:spcBef>
                <a:spcPts val="300"/>
              </a:spcBef>
              <a:spcAft>
                <a:spcPts val="0"/>
              </a:spcAft>
              <a:buSzPts val="1400"/>
              <a:buNone/>
              <a:defRPr sz="1400">
                <a:solidFill>
                  <a:srgbClr val="888888"/>
                </a:solidFill>
              </a:defRPr>
            </a:lvl4pPr>
            <a:lvl5pPr marL="2286000" lvl="4" indent="-228600" algn="l">
              <a:lnSpc>
                <a:spcPct val="90000"/>
              </a:lnSpc>
              <a:spcBef>
                <a:spcPts val="300"/>
              </a:spcBef>
              <a:spcAft>
                <a:spcPts val="0"/>
              </a:spcAft>
              <a:buSzPts val="1400"/>
              <a:buNone/>
              <a:defRPr sz="1400">
                <a:solidFill>
                  <a:srgbClr val="888888"/>
                </a:solidFill>
              </a:defRPr>
            </a:lvl5pPr>
            <a:lvl6pPr marL="2743200" lvl="5" indent="-228600" algn="l">
              <a:lnSpc>
                <a:spcPct val="90000"/>
              </a:lnSpc>
              <a:spcBef>
                <a:spcPts val="300"/>
              </a:spcBef>
              <a:spcAft>
                <a:spcPts val="0"/>
              </a:spcAft>
              <a:buSzPts val="1400"/>
              <a:buNone/>
              <a:defRPr sz="1400">
                <a:solidFill>
                  <a:srgbClr val="888888"/>
                </a:solidFill>
              </a:defRPr>
            </a:lvl6pPr>
            <a:lvl7pPr marL="3200400" lvl="6" indent="-228600" algn="l">
              <a:lnSpc>
                <a:spcPct val="90000"/>
              </a:lnSpc>
              <a:spcBef>
                <a:spcPts val="300"/>
              </a:spcBef>
              <a:spcAft>
                <a:spcPts val="0"/>
              </a:spcAft>
              <a:buSzPts val="1400"/>
              <a:buNone/>
              <a:defRPr sz="1400">
                <a:solidFill>
                  <a:srgbClr val="888888"/>
                </a:solidFill>
              </a:defRPr>
            </a:lvl7pPr>
            <a:lvl8pPr marL="3657600" lvl="7" indent="-228600" algn="l">
              <a:lnSpc>
                <a:spcPct val="90000"/>
              </a:lnSpc>
              <a:spcBef>
                <a:spcPts val="300"/>
              </a:spcBef>
              <a:spcAft>
                <a:spcPts val="0"/>
              </a:spcAft>
              <a:buSzPts val="1400"/>
              <a:buNone/>
              <a:defRPr sz="1400">
                <a:solidFill>
                  <a:srgbClr val="888888"/>
                </a:solidFill>
              </a:defRPr>
            </a:lvl8pPr>
            <a:lvl9pPr marL="4114800" lvl="8" indent="-228600" algn="l">
              <a:lnSpc>
                <a:spcPct val="90000"/>
              </a:lnSpc>
              <a:spcBef>
                <a:spcPts val="300"/>
              </a:spcBef>
              <a:spcAft>
                <a:spcPts val="300"/>
              </a:spcAft>
              <a:buSzPts val="1400"/>
              <a:buNone/>
              <a:defRPr sz="1400">
                <a:solidFill>
                  <a:srgbClr val="888888"/>
                </a:solidFill>
              </a:defRPr>
            </a:lvl9pPr>
          </a:lstStyle>
          <a:p>
            <a:endParaRPr/>
          </a:p>
        </p:txBody>
      </p:sp>
      <p:sp>
        <p:nvSpPr>
          <p:cNvPr id="39" name="Google Shape;39;p5"/>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2" name="Google Shape;42;p5"/>
          <p:cNvSpPr/>
          <p:nvPr/>
        </p:nvSpPr>
        <p:spPr>
          <a:xfrm>
            <a:off x="0" y="0"/>
            <a:ext cx="4572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1261872" y="1828800"/>
            <a:ext cx="4480560" cy="4351337"/>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sz="1800"/>
            </a:lvl1pPr>
            <a:lvl2pPr marL="914400" lvl="1" indent="-330200" algn="l">
              <a:lnSpc>
                <a:spcPct val="90000"/>
              </a:lnSpc>
              <a:spcBef>
                <a:spcPts val="300"/>
              </a:spcBef>
              <a:spcAft>
                <a:spcPts val="0"/>
              </a:spcAft>
              <a:buSzPts val="1600"/>
              <a:buChar char="●"/>
              <a:defRPr sz="1600"/>
            </a:lvl2pPr>
            <a:lvl3pPr marL="1371600" lvl="2" indent="-317500" algn="l">
              <a:lnSpc>
                <a:spcPct val="90000"/>
              </a:lnSpc>
              <a:spcBef>
                <a:spcPts val="300"/>
              </a:spcBef>
              <a:spcAft>
                <a:spcPts val="0"/>
              </a:spcAft>
              <a:buSzPts val="1400"/>
              <a:buChar char="●"/>
              <a:defRPr sz="1400"/>
            </a:lvl3pPr>
            <a:lvl4pPr marL="1828800" lvl="3" indent="-317500" algn="l">
              <a:lnSpc>
                <a:spcPct val="90000"/>
              </a:lnSpc>
              <a:spcBef>
                <a:spcPts val="300"/>
              </a:spcBef>
              <a:spcAft>
                <a:spcPts val="0"/>
              </a:spcAft>
              <a:buSzPts val="1400"/>
              <a:buChar char="●"/>
              <a:defRPr sz="1400"/>
            </a:lvl4pPr>
            <a:lvl5pPr marL="2286000" lvl="4" indent="-317500" algn="l">
              <a:lnSpc>
                <a:spcPct val="90000"/>
              </a:lnSpc>
              <a:spcBef>
                <a:spcPts val="300"/>
              </a:spcBef>
              <a:spcAft>
                <a:spcPts val="0"/>
              </a:spcAft>
              <a:buSzPts val="1400"/>
              <a:buChar char="●"/>
              <a:defRPr sz="1400"/>
            </a:lvl5pPr>
            <a:lvl6pPr marL="2743200" lvl="5" indent="-317500" algn="l">
              <a:lnSpc>
                <a:spcPct val="90000"/>
              </a:lnSpc>
              <a:spcBef>
                <a:spcPts val="300"/>
              </a:spcBef>
              <a:spcAft>
                <a:spcPts val="0"/>
              </a:spcAft>
              <a:buSzPts val="1400"/>
              <a:buChar char="●"/>
              <a:defRPr sz="1400"/>
            </a:lvl6pPr>
            <a:lvl7pPr marL="3200400" lvl="6" indent="-317500" algn="l">
              <a:lnSpc>
                <a:spcPct val="90000"/>
              </a:lnSpc>
              <a:spcBef>
                <a:spcPts val="300"/>
              </a:spcBef>
              <a:spcAft>
                <a:spcPts val="0"/>
              </a:spcAft>
              <a:buSzPts val="1400"/>
              <a:buChar char="●"/>
              <a:defRPr sz="1400"/>
            </a:lvl7pPr>
            <a:lvl8pPr marL="3657600" lvl="7" indent="-317500" algn="l">
              <a:lnSpc>
                <a:spcPct val="90000"/>
              </a:lnSpc>
              <a:spcBef>
                <a:spcPts val="300"/>
              </a:spcBef>
              <a:spcAft>
                <a:spcPts val="0"/>
              </a:spcAft>
              <a:buSzPts val="1400"/>
              <a:buChar char="●"/>
              <a:defRPr sz="1400"/>
            </a:lvl8pPr>
            <a:lvl9pPr marL="4114800" lvl="8" indent="-317500" algn="l">
              <a:lnSpc>
                <a:spcPct val="90000"/>
              </a:lnSpc>
              <a:spcBef>
                <a:spcPts val="300"/>
              </a:spcBef>
              <a:spcAft>
                <a:spcPts val="300"/>
              </a:spcAft>
              <a:buSzPts val="1400"/>
              <a:buChar char="●"/>
              <a:defRPr sz="1400"/>
            </a:lvl9pPr>
          </a:lstStyle>
          <a:p>
            <a:endParaRPr/>
          </a:p>
        </p:txBody>
      </p:sp>
      <p:sp>
        <p:nvSpPr>
          <p:cNvPr id="46" name="Google Shape;46;p6"/>
          <p:cNvSpPr txBox="1">
            <a:spLocks noGrp="1"/>
          </p:cNvSpPr>
          <p:nvPr>
            <p:ph type="body" idx="2"/>
          </p:nvPr>
        </p:nvSpPr>
        <p:spPr>
          <a:xfrm>
            <a:off x="6126480" y="1828800"/>
            <a:ext cx="4480560" cy="4351337"/>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sz="1800"/>
            </a:lvl1pPr>
            <a:lvl2pPr marL="914400" lvl="1" indent="-330200" algn="l">
              <a:lnSpc>
                <a:spcPct val="90000"/>
              </a:lnSpc>
              <a:spcBef>
                <a:spcPts val="300"/>
              </a:spcBef>
              <a:spcAft>
                <a:spcPts val="0"/>
              </a:spcAft>
              <a:buSzPts val="1600"/>
              <a:buChar char="●"/>
              <a:defRPr sz="1600"/>
            </a:lvl2pPr>
            <a:lvl3pPr marL="1371600" lvl="2" indent="-317500" algn="l">
              <a:lnSpc>
                <a:spcPct val="90000"/>
              </a:lnSpc>
              <a:spcBef>
                <a:spcPts val="300"/>
              </a:spcBef>
              <a:spcAft>
                <a:spcPts val="0"/>
              </a:spcAft>
              <a:buSzPts val="1400"/>
              <a:buChar char="●"/>
              <a:defRPr sz="1400"/>
            </a:lvl3pPr>
            <a:lvl4pPr marL="1828800" lvl="3" indent="-317500" algn="l">
              <a:lnSpc>
                <a:spcPct val="90000"/>
              </a:lnSpc>
              <a:spcBef>
                <a:spcPts val="300"/>
              </a:spcBef>
              <a:spcAft>
                <a:spcPts val="0"/>
              </a:spcAft>
              <a:buSzPts val="1400"/>
              <a:buChar char="●"/>
              <a:defRPr sz="1400"/>
            </a:lvl4pPr>
            <a:lvl5pPr marL="2286000" lvl="4" indent="-317500" algn="l">
              <a:lnSpc>
                <a:spcPct val="90000"/>
              </a:lnSpc>
              <a:spcBef>
                <a:spcPts val="300"/>
              </a:spcBef>
              <a:spcAft>
                <a:spcPts val="0"/>
              </a:spcAft>
              <a:buSzPts val="1400"/>
              <a:buChar char="●"/>
              <a:defRPr sz="1400"/>
            </a:lvl5pPr>
            <a:lvl6pPr marL="2743200" lvl="5" indent="-317500" algn="l">
              <a:lnSpc>
                <a:spcPct val="90000"/>
              </a:lnSpc>
              <a:spcBef>
                <a:spcPts val="300"/>
              </a:spcBef>
              <a:spcAft>
                <a:spcPts val="0"/>
              </a:spcAft>
              <a:buSzPts val="1400"/>
              <a:buChar char="●"/>
              <a:defRPr sz="1400"/>
            </a:lvl6pPr>
            <a:lvl7pPr marL="3200400" lvl="6" indent="-317500" algn="l">
              <a:lnSpc>
                <a:spcPct val="90000"/>
              </a:lnSpc>
              <a:spcBef>
                <a:spcPts val="300"/>
              </a:spcBef>
              <a:spcAft>
                <a:spcPts val="0"/>
              </a:spcAft>
              <a:buSzPts val="1400"/>
              <a:buChar char="●"/>
              <a:defRPr sz="1400"/>
            </a:lvl7pPr>
            <a:lvl8pPr marL="3657600" lvl="7" indent="-317500" algn="l">
              <a:lnSpc>
                <a:spcPct val="90000"/>
              </a:lnSpc>
              <a:spcBef>
                <a:spcPts val="300"/>
              </a:spcBef>
              <a:spcAft>
                <a:spcPts val="0"/>
              </a:spcAft>
              <a:buSzPts val="1400"/>
              <a:buChar char="●"/>
              <a:defRPr sz="1400"/>
            </a:lvl8pPr>
            <a:lvl9pPr marL="4114800" lvl="8" indent="-317500" algn="l">
              <a:lnSpc>
                <a:spcPct val="90000"/>
              </a:lnSpc>
              <a:spcBef>
                <a:spcPts val="300"/>
              </a:spcBef>
              <a:spcAft>
                <a:spcPts val="300"/>
              </a:spcAft>
              <a:buSzPts val="1400"/>
              <a:buChar char="●"/>
              <a:defRPr sz="1400"/>
            </a:lvl9pPr>
          </a:lstStyle>
          <a:p>
            <a:endParaRPr/>
          </a:p>
        </p:txBody>
      </p:sp>
      <p:sp>
        <p:nvSpPr>
          <p:cNvPr id="47" name="Google Shape;47;p6"/>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1261872" y="1713655"/>
            <a:ext cx="4480560" cy="731520"/>
          </a:xfrm>
          <a:prstGeom prst="rect">
            <a:avLst/>
          </a:prstGeom>
          <a:noFill/>
          <a:ln>
            <a:noFill/>
          </a:ln>
        </p:spPr>
        <p:txBody>
          <a:bodyPr spcFirstLastPara="1" wrap="square" lIns="91425" tIns="45700" rIns="91425" bIns="45700" anchor="b" anchorCtr="0">
            <a:normAutofit/>
          </a:bodyPr>
          <a:lstStyle>
            <a:lvl1pPr marL="457200" lvl="0" indent="-228600" algn="l">
              <a:lnSpc>
                <a:spcPct val="95000"/>
              </a:lnSpc>
              <a:spcBef>
                <a:spcPts val="0"/>
              </a:spcBef>
              <a:spcAft>
                <a:spcPts val="0"/>
              </a:spcAft>
              <a:buSzPts val="1600"/>
              <a:buNone/>
              <a:defRPr sz="2000" b="0">
                <a:solidFill>
                  <a:schemeClr val="dk2"/>
                </a:solidFill>
              </a:defRPr>
            </a:lvl1pPr>
            <a:lvl2pPr marL="914400" lvl="1" indent="-228600" algn="l">
              <a:lnSpc>
                <a:spcPct val="90000"/>
              </a:lnSpc>
              <a:spcBef>
                <a:spcPts val="300"/>
              </a:spcBef>
              <a:spcAft>
                <a:spcPts val="0"/>
              </a:spcAft>
              <a:buSzPts val="2000"/>
              <a:buNone/>
              <a:defRPr sz="2000" b="1"/>
            </a:lvl2pPr>
            <a:lvl3pPr marL="1371600" lvl="2" indent="-228600" algn="l">
              <a:lnSpc>
                <a:spcPct val="90000"/>
              </a:lnSpc>
              <a:spcBef>
                <a:spcPts val="300"/>
              </a:spcBef>
              <a:spcAft>
                <a:spcPts val="0"/>
              </a:spcAft>
              <a:buSzPts val="1800"/>
              <a:buNone/>
              <a:defRPr sz="1800" b="1"/>
            </a:lvl3pPr>
            <a:lvl4pPr marL="1828800" lvl="3" indent="-228600" algn="l">
              <a:lnSpc>
                <a:spcPct val="90000"/>
              </a:lnSpc>
              <a:spcBef>
                <a:spcPts val="300"/>
              </a:spcBef>
              <a:spcAft>
                <a:spcPts val="0"/>
              </a:spcAft>
              <a:buSzPts val="1600"/>
              <a:buNone/>
              <a:defRPr sz="1600" b="1"/>
            </a:lvl4pPr>
            <a:lvl5pPr marL="2286000" lvl="4" indent="-228600" algn="l">
              <a:lnSpc>
                <a:spcPct val="90000"/>
              </a:lnSpc>
              <a:spcBef>
                <a:spcPts val="300"/>
              </a:spcBef>
              <a:spcAft>
                <a:spcPts val="0"/>
              </a:spcAft>
              <a:buSzPts val="1600"/>
              <a:buNone/>
              <a:defRPr sz="1600" b="1"/>
            </a:lvl5pPr>
            <a:lvl6pPr marL="2743200" lvl="5" indent="-228600" algn="l">
              <a:lnSpc>
                <a:spcPct val="90000"/>
              </a:lnSpc>
              <a:spcBef>
                <a:spcPts val="300"/>
              </a:spcBef>
              <a:spcAft>
                <a:spcPts val="0"/>
              </a:spcAft>
              <a:buSzPts val="1600"/>
              <a:buNone/>
              <a:defRPr sz="1600" b="1"/>
            </a:lvl6pPr>
            <a:lvl7pPr marL="3200400" lvl="6" indent="-228600" algn="l">
              <a:lnSpc>
                <a:spcPct val="90000"/>
              </a:lnSpc>
              <a:spcBef>
                <a:spcPts val="300"/>
              </a:spcBef>
              <a:spcAft>
                <a:spcPts val="0"/>
              </a:spcAft>
              <a:buSzPts val="1600"/>
              <a:buNone/>
              <a:defRPr sz="1600" b="1"/>
            </a:lvl7pPr>
            <a:lvl8pPr marL="3657600" lvl="7" indent="-228600" algn="l">
              <a:lnSpc>
                <a:spcPct val="90000"/>
              </a:lnSpc>
              <a:spcBef>
                <a:spcPts val="300"/>
              </a:spcBef>
              <a:spcAft>
                <a:spcPts val="0"/>
              </a:spcAft>
              <a:buSzPts val="1600"/>
              <a:buNone/>
              <a:defRPr sz="1600" b="1"/>
            </a:lvl8pPr>
            <a:lvl9pPr marL="4114800" lvl="8" indent="-228600" algn="l">
              <a:lnSpc>
                <a:spcPct val="90000"/>
              </a:lnSpc>
              <a:spcBef>
                <a:spcPts val="300"/>
              </a:spcBef>
              <a:spcAft>
                <a:spcPts val="300"/>
              </a:spcAft>
              <a:buSzPts val="1600"/>
              <a:buNone/>
              <a:defRPr sz="1600" b="1"/>
            </a:lvl9pPr>
          </a:lstStyle>
          <a:p>
            <a:endParaRPr/>
          </a:p>
        </p:txBody>
      </p:sp>
      <p:sp>
        <p:nvSpPr>
          <p:cNvPr id="53" name="Google Shape;53;p7"/>
          <p:cNvSpPr txBox="1">
            <a:spLocks noGrp="1"/>
          </p:cNvSpPr>
          <p:nvPr>
            <p:ph type="body" idx="2"/>
          </p:nvPr>
        </p:nvSpPr>
        <p:spPr>
          <a:xfrm>
            <a:off x="1261872" y="2507550"/>
            <a:ext cx="4480560" cy="3664650"/>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sz="1800"/>
            </a:lvl1pPr>
            <a:lvl2pPr marL="914400" lvl="1" indent="-330200" algn="l">
              <a:lnSpc>
                <a:spcPct val="90000"/>
              </a:lnSpc>
              <a:spcBef>
                <a:spcPts val="300"/>
              </a:spcBef>
              <a:spcAft>
                <a:spcPts val="0"/>
              </a:spcAft>
              <a:buSzPts val="1600"/>
              <a:buChar char="●"/>
              <a:defRPr sz="1600"/>
            </a:lvl2pPr>
            <a:lvl3pPr marL="1371600" lvl="2" indent="-317500" algn="l">
              <a:lnSpc>
                <a:spcPct val="90000"/>
              </a:lnSpc>
              <a:spcBef>
                <a:spcPts val="300"/>
              </a:spcBef>
              <a:spcAft>
                <a:spcPts val="0"/>
              </a:spcAft>
              <a:buSzPts val="1400"/>
              <a:buChar char="●"/>
              <a:defRPr sz="1400"/>
            </a:lvl3pPr>
            <a:lvl4pPr marL="1828800" lvl="3" indent="-317500" algn="l">
              <a:lnSpc>
                <a:spcPct val="90000"/>
              </a:lnSpc>
              <a:spcBef>
                <a:spcPts val="300"/>
              </a:spcBef>
              <a:spcAft>
                <a:spcPts val="0"/>
              </a:spcAft>
              <a:buSzPts val="1400"/>
              <a:buChar char="●"/>
              <a:defRPr sz="1400"/>
            </a:lvl4pPr>
            <a:lvl5pPr marL="2286000" lvl="4" indent="-317500" algn="l">
              <a:lnSpc>
                <a:spcPct val="90000"/>
              </a:lnSpc>
              <a:spcBef>
                <a:spcPts val="300"/>
              </a:spcBef>
              <a:spcAft>
                <a:spcPts val="0"/>
              </a:spcAft>
              <a:buSzPts val="1400"/>
              <a:buChar char="●"/>
              <a:defRPr sz="1400"/>
            </a:lvl5pPr>
            <a:lvl6pPr marL="2743200" lvl="5" indent="-317500" algn="l">
              <a:lnSpc>
                <a:spcPct val="90000"/>
              </a:lnSpc>
              <a:spcBef>
                <a:spcPts val="300"/>
              </a:spcBef>
              <a:spcAft>
                <a:spcPts val="0"/>
              </a:spcAft>
              <a:buSzPts val="1400"/>
              <a:buChar char="●"/>
              <a:defRPr sz="1400"/>
            </a:lvl6pPr>
            <a:lvl7pPr marL="3200400" lvl="6" indent="-317500" algn="l">
              <a:lnSpc>
                <a:spcPct val="90000"/>
              </a:lnSpc>
              <a:spcBef>
                <a:spcPts val="300"/>
              </a:spcBef>
              <a:spcAft>
                <a:spcPts val="0"/>
              </a:spcAft>
              <a:buSzPts val="1400"/>
              <a:buChar char="●"/>
              <a:defRPr sz="1400"/>
            </a:lvl7pPr>
            <a:lvl8pPr marL="3657600" lvl="7" indent="-317500" algn="l">
              <a:lnSpc>
                <a:spcPct val="90000"/>
              </a:lnSpc>
              <a:spcBef>
                <a:spcPts val="300"/>
              </a:spcBef>
              <a:spcAft>
                <a:spcPts val="0"/>
              </a:spcAft>
              <a:buSzPts val="1400"/>
              <a:buChar char="●"/>
              <a:defRPr sz="1400"/>
            </a:lvl8pPr>
            <a:lvl9pPr marL="4114800" lvl="8" indent="-317500" algn="l">
              <a:lnSpc>
                <a:spcPct val="90000"/>
              </a:lnSpc>
              <a:spcBef>
                <a:spcPts val="300"/>
              </a:spcBef>
              <a:spcAft>
                <a:spcPts val="300"/>
              </a:spcAft>
              <a:buSzPts val="1400"/>
              <a:buChar char="●"/>
              <a:defRPr sz="1400"/>
            </a:lvl9pPr>
          </a:lstStyle>
          <a:p>
            <a:endParaRPr/>
          </a:p>
        </p:txBody>
      </p:sp>
      <p:sp>
        <p:nvSpPr>
          <p:cNvPr id="54" name="Google Shape;54;p7"/>
          <p:cNvSpPr txBox="1">
            <a:spLocks noGrp="1"/>
          </p:cNvSpPr>
          <p:nvPr>
            <p:ph type="body" idx="3"/>
          </p:nvPr>
        </p:nvSpPr>
        <p:spPr>
          <a:xfrm>
            <a:off x="6126480" y="1713655"/>
            <a:ext cx="4480560" cy="731520"/>
          </a:xfrm>
          <a:prstGeom prst="rect">
            <a:avLst/>
          </a:prstGeom>
          <a:noFill/>
          <a:ln>
            <a:noFill/>
          </a:ln>
        </p:spPr>
        <p:txBody>
          <a:bodyPr spcFirstLastPara="1" wrap="square" lIns="91425" tIns="45700" rIns="91425" bIns="45700" anchor="b" anchorCtr="0">
            <a:normAutofit/>
          </a:bodyPr>
          <a:lstStyle>
            <a:lvl1pPr marL="457200" lvl="0" indent="-228600" algn="l">
              <a:lnSpc>
                <a:spcPct val="95000"/>
              </a:lnSpc>
              <a:spcBef>
                <a:spcPts val="0"/>
              </a:spcBef>
              <a:spcAft>
                <a:spcPts val="0"/>
              </a:spcAft>
              <a:buSzPts val="1600"/>
              <a:buNone/>
              <a:defRPr sz="2000" b="0">
                <a:solidFill>
                  <a:schemeClr val="dk2"/>
                </a:solidFill>
                <a:latin typeface="Century Schoolbook"/>
                <a:ea typeface="Century Schoolbook"/>
                <a:cs typeface="Century Schoolbook"/>
                <a:sym typeface="Century Schoolbook"/>
              </a:defRPr>
            </a:lvl1pPr>
            <a:lvl2pPr marL="914400" lvl="1" indent="-228600" algn="l">
              <a:lnSpc>
                <a:spcPct val="90000"/>
              </a:lnSpc>
              <a:spcBef>
                <a:spcPts val="300"/>
              </a:spcBef>
              <a:spcAft>
                <a:spcPts val="0"/>
              </a:spcAft>
              <a:buSzPts val="2000"/>
              <a:buNone/>
              <a:defRPr sz="2000" b="1"/>
            </a:lvl2pPr>
            <a:lvl3pPr marL="1371600" lvl="2" indent="-228600" algn="l">
              <a:lnSpc>
                <a:spcPct val="90000"/>
              </a:lnSpc>
              <a:spcBef>
                <a:spcPts val="300"/>
              </a:spcBef>
              <a:spcAft>
                <a:spcPts val="0"/>
              </a:spcAft>
              <a:buSzPts val="1800"/>
              <a:buNone/>
              <a:defRPr sz="1800" b="1"/>
            </a:lvl3pPr>
            <a:lvl4pPr marL="1828800" lvl="3" indent="-228600" algn="l">
              <a:lnSpc>
                <a:spcPct val="90000"/>
              </a:lnSpc>
              <a:spcBef>
                <a:spcPts val="300"/>
              </a:spcBef>
              <a:spcAft>
                <a:spcPts val="0"/>
              </a:spcAft>
              <a:buSzPts val="1600"/>
              <a:buNone/>
              <a:defRPr sz="1600" b="1"/>
            </a:lvl4pPr>
            <a:lvl5pPr marL="2286000" lvl="4" indent="-228600" algn="l">
              <a:lnSpc>
                <a:spcPct val="90000"/>
              </a:lnSpc>
              <a:spcBef>
                <a:spcPts val="300"/>
              </a:spcBef>
              <a:spcAft>
                <a:spcPts val="0"/>
              </a:spcAft>
              <a:buSzPts val="1600"/>
              <a:buNone/>
              <a:defRPr sz="1600" b="1"/>
            </a:lvl5pPr>
            <a:lvl6pPr marL="2743200" lvl="5" indent="-228600" algn="l">
              <a:lnSpc>
                <a:spcPct val="90000"/>
              </a:lnSpc>
              <a:spcBef>
                <a:spcPts val="300"/>
              </a:spcBef>
              <a:spcAft>
                <a:spcPts val="0"/>
              </a:spcAft>
              <a:buSzPts val="1600"/>
              <a:buNone/>
              <a:defRPr sz="1600" b="1"/>
            </a:lvl6pPr>
            <a:lvl7pPr marL="3200400" lvl="6" indent="-228600" algn="l">
              <a:lnSpc>
                <a:spcPct val="90000"/>
              </a:lnSpc>
              <a:spcBef>
                <a:spcPts val="300"/>
              </a:spcBef>
              <a:spcAft>
                <a:spcPts val="0"/>
              </a:spcAft>
              <a:buSzPts val="1600"/>
              <a:buNone/>
              <a:defRPr sz="1600" b="1"/>
            </a:lvl7pPr>
            <a:lvl8pPr marL="3657600" lvl="7" indent="-228600" algn="l">
              <a:lnSpc>
                <a:spcPct val="90000"/>
              </a:lnSpc>
              <a:spcBef>
                <a:spcPts val="300"/>
              </a:spcBef>
              <a:spcAft>
                <a:spcPts val="0"/>
              </a:spcAft>
              <a:buSzPts val="1600"/>
              <a:buNone/>
              <a:defRPr sz="1600" b="1"/>
            </a:lvl8pPr>
            <a:lvl9pPr marL="4114800" lvl="8" indent="-228600" algn="l">
              <a:lnSpc>
                <a:spcPct val="90000"/>
              </a:lnSpc>
              <a:spcBef>
                <a:spcPts val="300"/>
              </a:spcBef>
              <a:spcAft>
                <a:spcPts val="300"/>
              </a:spcAft>
              <a:buSzPts val="1600"/>
              <a:buNone/>
              <a:defRPr sz="1600" b="1"/>
            </a:lvl9pPr>
          </a:lstStyle>
          <a:p>
            <a:endParaRPr/>
          </a:p>
        </p:txBody>
      </p:sp>
      <p:sp>
        <p:nvSpPr>
          <p:cNvPr id="55" name="Google Shape;55;p7"/>
          <p:cNvSpPr txBox="1">
            <a:spLocks noGrp="1"/>
          </p:cNvSpPr>
          <p:nvPr>
            <p:ph type="body" idx="4"/>
          </p:nvPr>
        </p:nvSpPr>
        <p:spPr>
          <a:xfrm>
            <a:off x="6126480" y="2507550"/>
            <a:ext cx="4480560" cy="3664650"/>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sz="1800"/>
            </a:lvl1pPr>
            <a:lvl2pPr marL="914400" lvl="1" indent="-330200" algn="l">
              <a:lnSpc>
                <a:spcPct val="90000"/>
              </a:lnSpc>
              <a:spcBef>
                <a:spcPts val="300"/>
              </a:spcBef>
              <a:spcAft>
                <a:spcPts val="0"/>
              </a:spcAft>
              <a:buSzPts val="1600"/>
              <a:buChar char="●"/>
              <a:defRPr sz="1600"/>
            </a:lvl2pPr>
            <a:lvl3pPr marL="1371600" lvl="2" indent="-317500" algn="l">
              <a:lnSpc>
                <a:spcPct val="90000"/>
              </a:lnSpc>
              <a:spcBef>
                <a:spcPts val="300"/>
              </a:spcBef>
              <a:spcAft>
                <a:spcPts val="0"/>
              </a:spcAft>
              <a:buSzPts val="1400"/>
              <a:buChar char="●"/>
              <a:defRPr sz="1400"/>
            </a:lvl3pPr>
            <a:lvl4pPr marL="1828800" lvl="3" indent="-317500" algn="l">
              <a:lnSpc>
                <a:spcPct val="90000"/>
              </a:lnSpc>
              <a:spcBef>
                <a:spcPts val="300"/>
              </a:spcBef>
              <a:spcAft>
                <a:spcPts val="0"/>
              </a:spcAft>
              <a:buSzPts val="1400"/>
              <a:buChar char="●"/>
              <a:defRPr sz="1400"/>
            </a:lvl4pPr>
            <a:lvl5pPr marL="2286000" lvl="4" indent="-317500" algn="l">
              <a:lnSpc>
                <a:spcPct val="90000"/>
              </a:lnSpc>
              <a:spcBef>
                <a:spcPts val="300"/>
              </a:spcBef>
              <a:spcAft>
                <a:spcPts val="0"/>
              </a:spcAft>
              <a:buSzPts val="1400"/>
              <a:buChar char="●"/>
              <a:defRPr sz="1400"/>
            </a:lvl5pPr>
            <a:lvl6pPr marL="2743200" lvl="5" indent="-317500" algn="l">
              <a:lnSpc>
                <a:spcPct val="90000"/>
              </a:lnSpc>
              <a:spcBef>
                <a:spcPts val="300"/>
              </a:spcBef>
              <a:spcAft>
                <a:spcPts val="0"/>
              </a:spcAft>
              <a:buSzPts val="1400"/>
              <a:buChar char="●"/>
              <a:defRPr sz="1400"/>
            </a:lvl6pPr>
            <a:lvl7pPr marL="3200400" lvl="6" indent="-317500" algn="l">
              <a:lnSpc>
                <a:spcPct val="90000"/>
              </a:lnSpc>
              <a:spcBef>
                <a:spcPts val="300"/>
              </a:spcBef>
              <a:spcAft>
                <a:spcPts val="0"/>
              </a:spcAft>
              <a:buSzPts val="1400"/>
              <a:buChar char="●"/>
              <a:defRPr sz="1400"/>
            </a:lvl7pPr>
            <a:lvl8pPr marL="3657600" lvl="7" indent="-317500" algn="l">
              <a:lnSpc>
                <a:spcPct val="90000"/>
              </a:lnSpc>
              <a:spcBef>
                <a:spcPts val="300"/>
              </a:spcBef>
              <a:spcAft>
                <a:spcPts val="0"/>
              </a:spcAft>
              <a:buSzPts val="1400"/>
              <a:buChar char="●"/>
              <a:defRPr sz="1400"/>
            </a:lvl8pPr>
            <a:lvl9pPr marL="4114800" lvl="8" indent="-317500" algn="l">
              <a:lnSpc>
                <a:spcPct val="90000"/>
              </a:lnSpc>
              <a:spcBef>
                <a:spcPts val="300"/>
              </a:spcBef>
              <a:spcAft>
                <a:spcPts val="300"/>
              </a:spcAft>
              <a:buSzPts val="1400"/>
              <a:buChar char="●"/>
              <a:defRPr sz="1400"/>
            </a:lvl9pPr>
          </a:lstStyle>
          <a:p>
            <a:endParaRPr/>
          </a:p>
        </p:txBody>
      </p:sp>
      <p:sp>
        <p:nvSpPr>
          <p:cNvPr id="56" name="Google Shape;56;p7"/>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8"/>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8"/>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9"/>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841248" y="457200"/>
            <a:ext cx="3200400" cy="160019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Schoolbook"/>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
          <p:cNvSpPr txBox="1">
            <a:spLocks noGrp="1"/>
          </p:cNvSpPr>
          <p:nvPr>
            <p:ph type="body" idx="1"/>
          </p:nvPr>
        </p:nvSpPr>
        <p:spPr>
          <a:xfrm>
            <a:off x="4504267" y="685800"/>
            <a:ext cx="6079066" cy="5486400"/>
          </a:xfrm>
          <a:prstGeom prst="rect">
            <a:avLst/>
          </a:prstGeom>
          <a:noFill/>
          <a:ln>
            <a:noFill/>
          </a:ln>
        </p:spPr>
        <p:txBody>
          <a:bodyPr spcFirstLastPara="1" wrap="square" lIns="91425" tIns="45700" rIns="91425" bIns="45700" anchor="t" anchorCtr="0">
            <a:normAutofit/>
          </a:bodyPr>
          <a:lstStyle>
            <a:lvl1pPr marL="457200" lvl="0" indent="-330200" algn="l">
              <a:lnSpc>
                <a:spcPct val="95000"/>
              </a:lnSpc>
              <a:spcBef>
                <a:spcPts val="1400"/>
              </a:spcBef>
              <a:spcAft>
                <a:spcPts val="0"/>
              </a:spcAft>
              <a:buSzPts val="1600"/>
              <a:buChar char="•"/>
              <a:defRPr sz="2000"/>
            </a:lvl1pPr>
            <a:lvl2pPr marL="914400" lvl="1" indent="-342900" algn="l">
              <a:lnSpc>
                <a:spcPct val="90000"/>
              </a:lnSpc>
              <a:spcBef>
                <a:spcPts val="300"/>
              </a:spcBef>
              <a:spcAft>
                <a:spcPts val="0"/>
              </a:spcAft>
              <a:buSzPts val="1800"/>
              <a:buChar char="●"/>
              <a:defRPr sz="1800"/>
            </a:lvl2pPr>
            <a:lvl3pPr marL="1371600" lvl="2" indent="-330200" algn="l">
              <a:lnSpc>
                <a:spcPct val="90000"/>
              </a:lnSpc>
              <a:spcBef>
                <a:spcPts val="300"/>
              </a:spcBef>
              <a:spcAft>
                <a:spcPts val="0"/>
              </a:spcAft>
              <a:buSzPts val="1600"/>
              <a:buChar char="●"/>
              <a:defRPr sz="1600"/>
            </a:lvl3pPr>
            <a:lvl4pPr marL="1828800" lvl="3" indent="-317500" algn="l">
              <a:lnSpc>
                <a:spcPct val="90000"/>
              </a:lnSpc>
              <a:spcBef>
                <a:spcPts val="300"/>
              </a:spcBef>
              <a:spcAft>
                <a:spcPts val="0"/>
              </a:spcAft>
              <a:buSzPts val="1400"/>
              <a:buChar char="●"/>
              <a:defRPr sz="1400"/>
            </a:lvl4pPr>
            <a:lvl5pPr marL="2286000" lvl="4" indent="-317500" algn="l">
              <a:lnSpc>
                <a:spcPct val="90000"/>
              </a:lnSpc>
              <a:spcBef>
                <a:spcPts val="300"/>
              </a:spcBef>
              <a:spcAft>
                <a:spcPts val="0"/>
              </a:spcAft>
              <a:buSzPts val="1400"/>
              <a:buChar char="●"/>
              <a:defRPr sz="1400"/>
            </a:lvl5pPr>
            <a:lvl6pPr marL="2743200" lvl="5" indent="-317500" algn="l">
              <a:lnSpc>
                <a:spcPct val="90000"/>
              </a:lnSpc>
              <a:spcBef>
                <a:spcPts val="300"/>
              </a:spcBef>
              <a:spcAft>
                <a:spcPts val="0"/>
              </a:spcAft>
              <a:buSzPts val="1400"/>
              <a:buChar char="●"/>
              <a:defRPr sz="1400"/>
            </a:lvl6pPr>
            <a:lvl7pPr marL="3200400" lvl="6" indent="-317500" algn="l">
              <a:lnSpc>
                <a:spcPct val="90000"/>
              </a:lnSpc>
              <a:spcBef>
                <a:spcPts val="300"/>
              </a:spcBef>
              <a:spcAft>
                <a:spcPts val="0"/>
              </a:spcAft>
              <a:buSzPts val="1400"/>
              <a:buChar char="●"/>
              <a:defRPr sz="1400"/>
            </a:lvl7pPr>
            <a:lvl8pPr marL="3657600" lvl="7" indent="-317500" algn="l">
              <a:lnSpc>
                <a:spcPct val="90000"/>
              </a:lnSpc>
              <a:spcBef>
                <a:spcPts val="300"/>
              </a:spcBef>
              <a:spcAft>
                <a:spcPts val="0"/>
              </a:spcAft>
              <a:buSzPts val="1400"/>
              <a:buChar char="●"/>
              <a:defRPr sz="1400"/>
            </a:lvl8pPr>
            <a:lvl9pPr marL="4114800" lvl="8" indent="-317500" algn="l">
              <a:lnSpc>
                <a:spcPct val="90000"/>
              </a:lnSpc>
              <a:spcBef>
                <a:spcPts val="300"/>
              </a:spcBef>
              <a:spcAft>
                <a:spcPts val="300"/>
              </a:spcAft>
              <a:buSzPts val="1400"/>
              <a:buChar char="●"/>
              <a:defRPr sz="1400"/>
            </a:lvl9pPr>
          </a:lstStyle>
          <a:p>
            <a:endParaRPr/>
          </a:p>
        </p:txBody>
      </p:sp>
      <p:sp>
        <p:nvSpPr>
          <p:cNvPr id="71" name="Google Shape;71;p10"/>
          <p:cNvSpPr txBox="1">
            <a:spLocks noGrp="1"/>
          </p:cNvSpPr>
          <p:nvPr>
            <p:ph type="body" idx="2"/>
          </p:nvPr>
        </p:nvSpPr>
        <p:spPr>
          <a:xfrm>
            <a:off x="841248" y="2099734"/>
            <a:ext cx="3200400" cy="381000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800"/>
              </a:spcBef>
              <a:spcAft>
                <a:spcPts val="0"/>
              </a:spcAft>
              <a:buSzPts val="1040"/>
              <a:buNone/>
              <a:defRPr sz="1300"/>
            </a:lvl1pPr>
            <a:lvl2pPr marL="914400" lvl="1" indent="-228600" algn="l">
              <a:lnSpc>
                <a:spcPct val="90000"/>
              </a:lnSpc>
              <a:spcBef>
                <a:spcPts val="300"/>
              </a:spcBef>
              <a:spcAft>
                <a:spcPts val="0"/>
              </a:spcAft>
              <a:buSzPts val="1200"/>
              <a:buNone/>
              <a:defRPr sz="1200"/>
            </a:lvl2pPr>
            <a:lvl3pPr marL="1371600" lvl="2" indent="-228600" algn="l">
              <a:lnSpc>
                <a:spcPct val="90000"/>
              </a:lnSpc>
              <a:spcBef>
                <a:spcPts val="300"/>
              </a:spcBef>
              <a:spcAft>
                <a:spcPts val="0"/>
              </a:spcAft>
              <a:buSzPts val="1000"/>
              <a:buNone/>
              <a:defRPr sz="1000"/>
            </a:lvl3pPr>
            <a:lvl4pPr marL="1828800" lvl="3" indent="-228600" algn="l">
              <a:lnSpc>
                <a:spcPct val="90000"/>
              </a:lnSpc>
              <a:spcBef>
                <a:spcPts val="300"/>
              </a:spcBef>
              <a:spcAft>
                <a:spcPts val="0"/>
              </a:spcAft>
              <a:buSzPts val="900"/>
              <a:buNone/>
              <a:defRPr sz="900"/>
            </a:lvl4pPr>
            <a:lvl5pPr marL="2286000" lvl="4" indent="-228600" algn="l">
              <a:lnSpc>
                <a:spcPct val="90000"/>
              </a:lnSpc>
              <a:spcBef>
                <a:spcPts val="300"/>
              </a:spcBef>
              <a:spcAft>
                <a:spcPts val="0"/>
              </a:spcAft>
              <a:buSzPts val="900"/>
              <a:buNone/>
              <a:defRPr sz="900"/>
            </a:lvl5pPr>
            <a:lvl6pPr marL="2743200" lvl="5" indent="-228600" algn="l">
              <a:lnSpc>
                <a:spcPct val="90000"/>
              </a:lnSpc>
              <a:spcBef>
                <a:spcPts val="300"/>
              </a:spcBef>
              <a:spcAft>
                <a:spcPts val="0"/>
              </a:spcAft>
              <a:buSzPts val="900"/>
              <a:buNone/>
              <a:defRPr sz="900"/>
            </a:lvl6pPr>
            <a:lvl7pPr marL="3200400" lvl="6" indent="-228600" algn="l">
              <a:lnSpc>
                <a:spcPct val="90000"/>
              </a:lnSpc>
              <a:spcBef>
                <a:spcPts val="300"/>
              </a:spcBef>
              <a:spcAft>
                <a:spcPts val="0"/>
              </a:spcAft>
              <a:buSzPts val="900"/>
              <a:buNone/>
              <a:defRPr sz="900"/>
            </a:lvl7pPr>
            <a:lvl8pPr marL="3657600" lvl="7" indent="-228600" algn="l">
              <a:lnSpc>
                <a:spcPct val="90000"/>
              </a:lnSpc>
              <a:spcBef>
                <a:spcPts val="300"/>
              </a:spcBef>
              <a:spcAft>
                <a:spcPts val="0"/>
              </a:spcAft>
              <a:buSzPts val="900"/>
              <a:buNone/>
              <a:defRPr sz="900"/>
            </a:lvl8pPr>
            <a:lvl9pPr marL="4114800" lvl="8" indent="-228600" algn="l">
              <a:lnSpc>
                <a:spcPct val="90000"/>
              </a:lnSpc>
              <a:spcBef>
                <a:spcPts val="300"/>
              </a:spcBef>
              <a:spcAft>
                <a:spcPts val="300"/>
              </a:spcAft>
              <a:buSzPts val="900"/>
              <a:buNone/>
              <a:defRPr sz="900"/>
            </a:lvl9pPr>
          </a:lstStyle>
          <a:p>
            <a:endParaRPr/>
          </a:p>
        </p:txBody>
      </p:sp>
      <p:sp>
        <p:nvSpPr>
          <p:cNvPr id="72" name="Google Shape;72;p10"/>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11"/>
          <p:cNvSpPr/>
          <p:nvPr/>
        </p:nvSpPr>
        <p:spPr>
          <a:xfrm>
            <a:off x="0" y="5105400"/>
            <a:ext cx="11292840" cy="1752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txBox="1">
            <a:spLocks noGrp="1"/>
          </p:cNvSpPr>
          <p:nvPr>
            <p:ph type="title"/>
          </p:nvPr>
        </p:nvSpPr>
        <p:spPr>
          <a:xfrm>
            <a:off x="914400" y="5257800"/>
            <a:ext cx="9982200" cy="914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entury Schoolbook"/>
              <a:buNone/>
              <a:defRPr sz="28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1"/>
          <p:cNvSpPr>
            <a:spLocks noGrp="1"/>
          </p:cNvSpPr>
          <p:nvPr>
            <p:ph type="pic" idx="2"/>
          </p:nvPr>
        </p:nvSpPr>
        <p:spPr>
          <a:xfrm>
            <a:off x="0" y="0"/>
            <a:ext cx="11292840" cy="5128923"/>
          </a:xfrm>
          <a:prstGeom prst="rect">
            <a:avLst/>
          </a:prstGeom>
          <a:solidFill>
            <a:schemeClr val="accent1"/>
          </a:solidFill>
          <a:ln>
            <a:noFill/>
          </a:ln>
        </p:spPr>
      </p:sp>
      <p:sp>
        <p:nvSpPr>
          <p:cNvPr id="79" name="Google Shape;79;p11"/>
          <p:cNvSpPr txBox="1">
            <a:spLocks noGrp="1"/>
          </p:cNvSpPr>
          <p:nvPr>
            <p:ph type="body" idx="1"/>
          </p:nvPr>
        </p:nvSpPr>
        <p:spPr>
          <a:xfrm>
            <a:off x="914400" y="6108589"/>
            <a:ext cx="9982200" cy="59701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800"/>
              </a:spcBef>
              <a:spcAft>
                <a:spcPts val="0"/>
              </a:spcAft>
              <a:buSzPts val="1040"/>
              <a:buNone/>
              <a:defRPr sz="1300">
                <a:solidFill>
                  <a:srgbClr val="D8D8D8"/>
                </a:solidFill>
              </a:defRPr>
            </a:lvl1pPr>
            <a:lvl2pPr marL="914400" lvl="1" indent="-228600" algn="l">
              <a:lnSpc>
                <a:spcPct val="90000"/>
              </a:lnSpc>
              <a:spcBef>
                <a:spcPts val="300"/>
              </a:spcBef>
              <a:spcAft>
                <a:spcPts val="0"/>
              </a:spcAft>
              <a:buSzPts val="1200"/>
              <a:buNone/>
              <a:defRPr sz="1200"/>
            </a:lvl2pPr>
            <a:lvl3pPr marL="1371600" lvl="2" indent="-228600" algn="l">
              <a:lnSpc>
                <a:spcPct val="90000"/>
              </a:lnSpc>
              <a:spcBef>
                <a:spcPts val="300"/>
              </a:spcBef>
              <a:spcAft>
                <a:spcPts val="0"/>
              </a:spcAft>
              <a:buSzPts val="1000"/>
              <a:buNone/>
              <a:defRPr sz="1000"/>
            </a:lvl3pPr>
            <a:lvl4pPr marL="1828800" lvl="3" indent="-228600" algn="l">
              <a:lnSpc>
                <a:spcPct val="90000"/>
              </a:lnSpc>
              <a:spcBef>
                <a:spcPts val="300"/>
              </a:spcBef>
              <a:spcAft>
                <a:spcPts val="0"/>
              </a:spcAft>
              <a:buSzPts val="900"/>
              <a:buNone/>
              <a:defRPr sz="900"/>
            </a:lvl4pPr>
            <a:lvl5pPr marL="2286000" lvl="4" indent="-228600" algn="l">
              <a:lnSpc>
                <a:spcPct val="90000"/>
              </a:lnSpc>
              <a:spcBef>
                <a:spcPts val="300"/>
              </a:spcBef>
              <a:spcAft>
                <a:spcPts val="0"/>
              </a:spcAft>
              <a:buSzPts val="900"/>
              <a:buNone/>
              <a:defRPr sz="900"/>
            </a:lvl5pPr>
            <a:lvl6pPr marL="2743200" lvl="5" indent="-228600" algn="l">
              <a:lnSpc>
                <a:spcPct val="90000"/>
              </a:lnSpc>
              <a:spcBef>
                <a:spcPts val="300"/>
              </a:spcBef>
              <a:spcAft>
                <a:spcPts val="0"/>
              </a:spcAft>
              <a:buSzPts val="900"/>
              <a:buNone/>
              <a:defRPr sz="900"/>
            </a:lvl6pPr>
            <a:lvl7pPr marL="3200400" lvl="6" indent="-228600" algn="l">
              <a:lnSpc>
                <a:spcPct val="90000"/>
              </a:lnSpc>
              <a:spcBef>
                <a:spcPts val="300"/>
              </a:spcBef>
              <a:spcAft>
                <a:spcPts val="0"/>
              </a:spcAft>
              <a:buSzPts val="900"/>
              <a:buNone/>
              <a:defRPr sz="900"/>
            </a:lvl7pPr>
            <a:lvl8pPr marL="3657600" lvl="7" indent="-228600" algn="l">
              <a:lnSpc>
                <a:spcPct val="90000"/>
              </a:lnSpc>
              <a:spcBef>
                <a:spcPts val="300"/>
              </a:spcBef>
              <a:spcAft>
                <a:spcPts val="0"/>
              </a:spcAft>
              <a:buSzPts val="900"/>
              <a:buNone/>
              <a:defRPr sz="900"/>
            </a:lvl8pPr>
            <a:lvl9pPr marL="4114800" lvl="8" indent="-228600" algn="l">
              <a:lnSpc>
                <a:spcPct val="90000"/>
              </a:lnSpc>
              <a:spcBef>
                <a:spcPts val="300"/>
              </a:spcBef>
              <a:spcAft>
                <a:spcPts val="300"/>
              </a:spcAft>
              <a:buSzPts val="900"/>
              <a:buNone/>
              <a:defRPr sz="900"/>
            </a:lvl9pPr>
          </a:lstStyle>
          <a:p>
            <a:endParaRPr/>
          </a:p>
        </p:txBody>
      </p:sp>
      <p:sp>
        <p:nvSpPr>
          <p:cNvPr id="80" name="Google Shape;80;p11"/>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2"/>
          <p:cNvSpPr txBox="1">
            <a:spLocks noGrp="1"/>
          </p:cNvSpPr>
          <p:nvPr>
            <p:ph type="body" idx="1"/>
          </p:nvPr>
        </p:nvSpPr>
        <p:spPr>
          <a:xfrm rot="5400000">
            <a:off x="3383884" y="-293212"/>
            <a:ext cx="4351337" cy="8595360"/>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86" name="Google Shape;86;p12"/>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rot="5400000">
            <a:off x="6938169" y="2091531"/>
            <a:ext cx="5897562" cy="24765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rot="5400000">
            <a:off x="1680369" y="-537369"/>
            <a:ext cx="5897562" cy="7734300"/>
          </a:xfrm>
          <a:prstGeom prst="rect">
            <a:avLst/>
          </a:prstGeom>
          <a:noFill/>
          <a:ln>
            <a:noFill/>
          </a:ln>
        </p:spPr>
        <p:txBody>
          <a:bodyPr spcFirstLastPara="1" wrap="square" lIns="91425" tIns="45700" rIns="91425" bIns="45700" anchor="t" anchorCtr="0">
            <a:normAutofit/>
          </a:bodyPr>
          <a:lstStyle>
            <a:lvl1pPr marL="457200" lvl="0" indent="-320040" algn="l">
              <a:lnSpc>
                <a:spcPct val="95000"/>
              </a:lnSpc>
              <a:spcBef>
                <a:spcPts val="1400"/>
              </a:spcBef>
              <a:spcAft>
                <a:spcPts val="0"/>
              </a:spcAft>
              <a:buSzPts val="1440"/>
              <a:buChar char="•"/>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92" name="Google Shape;92;p13"/>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1292840" y="0"/>
            <a:ext cx="914400" cy="6858000"/>
          </a:xfrm>
          <a:prstGeom prst="rect">
            <a:avLst/>
          </a:prstGeom>
          <a:solidFill>
            <a:srgbClr val="3434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4400"/>
              <a:buFont typeface="Century Schoolbook"/>
              <a:buNone/>
              <a:defRPr sz="4400" b="0" i="0" u="none" strike="noStrike" cap="non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1261872" y="1828800"/>
            <a:ext cx="8595360" cy="4351337"/>
          </a:xfrm>
          <a:prstGeom prst="rect">
            <a:avLst/>
          </a:prstGeom>
          <a:noFill/>
          <a:ln>
            <a:noFill/>
          </a:ln>
        </p:spPr>
        <p:txBody>
          <a:bodyPr spcFirstLastPara="1" wrap="square" lIns="91425" tIns="45700" rIns="91425" bIns="45700" anchor="t" anchorCtr="0">
            <a:normAutofit/>
          </a:bodyPr>
          <a:lstStyle>
            <a:lvl1pPr marL="457200" marR="0" lvl="0" indent="-320040" algn="l" rtl="0">
              <a:lnSpc>
                <a:spcPct val="95000"/>
              </a:lnSpc>
              <a:spcBef>
                <a:spcPts val="1400"/>
              </a:spcBef>
              <a:spcAft>
                <a:spcPts val="0"/>
              </a:spcAft>
              <a:buClr>
                <a:schemeClr val="accent1"/>
              </a:buClr>
              <a:buSzPts val="1440"/>
              <a:buFont typeface="Arial"/>
              <a:buChar char="•"/>
              <a:defRPr sz="1800" b="0" i="0" u="none" strike="noStrike" cap="none">
                <a:solidFill>
                  <a:schemeClr val="dk1"/>
                </a:solidFill>
                <a:latin typeface="Century Schoolbook"/>
                <a:ea typeface="Century Schoolbook"/>
                <a:cs typeface="Century Schoolbook"/>
                <a:sym typeface="Century Schoolbook"/>
              </a:defRPr>
            </a:lvl1pPr>
            <a:lvl2pPr marL="914400" marR="0" lvl="1" indent="-330200" algn="l" rtl="0">
              <a:lnSpc>
                <a:spcPct val="90000"/>
              </a:lnSpc>
              <a:spcBef>
                <a:spcPts val="300"/>
              </a:spcBef>
              <a:spcAft>
                <a:spcPts val="0"/>
              </a:spcAft>
              <a:buClr>
                <a:schemeClr val="accent1"/>
              </a:buClr>
              <a:buSzPts val="1600"/>
              <a:buFont typeface="Noto Sans Symbols"/>
              <a:buChar char="●"/>
              <a:defRPr sz="1600" b="0" i="0" u="none" strike="noStrike" cap="none">
                <a:solidFill>
                  <a:srgbClr val="262626"/>
                </a:solidFill>
                <a:latin typeface="Century Schoolbook"/>
                <a:ea typeface="Century Schoolbook"/>
                <a:cs typeface="Century Schoolbook"/>
                <a:sym typeface="Century Schoolbook"/>
              </a:defRPr>
            </a:lvl2pPr>
            <a:lvl3pPr marL="1371600" marR="0" lvl="2"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3pPr>
            <a:lvl4pPr marL="1828800" marR="0" lvl="3"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4pPr>
            <a:lvl5pPr marL="2286000" marR="0" lvl="4"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5pPr>
            <a:lvl6pPr marL="2743200" marR="0" lvl="5"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6pPr>
            <a:lvl7pPr marL="3200400" marR="0" lvl="6"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7pPr>
            <a:lvl8pPr marL="3657600" marR="0" lvl="7" indent="-317500" algn="l" rtl="0">
              <a:lnSpc>
                <a:spcPct val="90000"/>
              </a:lnSpc>
              <a:spcBef>
                <a:spcPts val="300"/>
              </a:spcBef>
              <a:spcAft>
                <a:spcPts val="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8pPr>
            <a:lvl9pPr marL="4114800" marR="0" lvl="8" indent="-317500" algn="l" rtl="0">
              <a:lnSpc>
                <a:spcPct val="90000"/>
              </a:lnSpc>
              <a:spcBef>
                <a:spcPts val="300"/>
              </a:spcBef>
              <a:spcAft>
                <a:spcPts val="300"/>
              </a:spcAft>
              <a:buClr>
                <a:schemeClr val="accent1"/>
              </a:buClr>
              <a:buSzPts val="1400"/>
              <a:buFont typeface="Noto Sans Symbols"/>
              <a:buChar char="●"/>
              <a:defRPr sz="1400" b="0" i="0" u="none" strike="noStrike" cap="none">
                <a:solidFill>
                  <a:srgbClr val="262626"/>
                </a:solidFill>
                <a:latin typeface="Century Schoolbook"/>
                <a:ea typeface="Century Schoolbook"/>
                <a:cs typeface="Century Schoolbook"/>
                <a:sym typeface="Century Schoolbook"/>
              </a:defRPr>
            </a:lvl9pPr>
          </a:lstStyle>
          <a:p>
            <a:endParaRPr/>
          </a:p>
        </p:txBody>
      </p:sp>
      <p:sp>
        <p:nvSpPr>
          <p:cNvPr id="13" name="Google Shape;13;p1"/>
          <p:cNvSpPr txBox="1">
            <a:spLocks noGrp="1"/>
          </p:cNvSpPr>
          <p:nvPr>
            <p:ph type="dt" idx="10"/>
          </p:nvPr>
        </p:nvSpPr>
        <p:spPr>
          <a:xfrm rot="-5400000">
            <a:off x="10797542" y="998537"/>
            <a:ext cx="19049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rgbClr val="DADADA"/>
                </a:solidFill>
                <a:latin typeface="Century Schoolbook"/>
                <a:ea typeface="Century Schoolbook"/>
                <a:cs typeface="Century Schoolbook"/>
                <a:sym typeface="Century Schoolbook"/>
              </a:defRPr>
            </a:lvl1pPr>
            <a:lvl2pPr marR="0" lvl="1"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2pPr>
            <a:lvl3pPr marR="0" lvl="2"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3pPr>
            <a:lvl4pPr marR="0" lvl="3"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4pPr>
            <a:lvl5pPr marR="0" lvl="4"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5pPr>
            <a:lvl6pPr marR="0" lvl="5"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6pPr>
            <a:lvl7pPr marR="0" lvl="6"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7pPr>
            <a:lvl8pPr marR="0" lvl="7"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8pPr>
            <a:lvl9pPr marR="0" lvl="8"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9pPr>
          </a:lstStyle>
          <a:p>
            <a:endParaRPr/>
          </a:p>
        </p:txBody>
      </p:sp>
      <p:sp>
        <p:nvSpPr>
          <p:cNvPr id="14" name="Google Shape;14;p1"/>
          <p:cNvSpPr txBox="1">
            <a:spLocks noGrp="1"/>
          </p:cNvSpPr>
          <p:nvPr>
            <p:ph type="ftr" idx="11"/>
          </p:nvPr>
        </p:nvSpPr>
        <p:spPr>
          <a:xfrm rot="-5400000">
            <a:off x="9959341" y="4046537"/>
            <a:ext cx="3581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rgbClr val="DADADA"/>
                </a:solidFill>
                <a:latin typeface="Century Schoolbook"/>
                <a:ea typeface="Century Schoolbook"/>
                <a:cs typeface="Century Schoolbook"/>
                <a:sym typeface="Century Schoolbook"/>
              </a:defRPr>
            </a:lvl1pPr>
            <a:lvl2pPr marR="0" lvl="1"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2pPr>
            <a:lvl3pPr marR="0" lvl="2"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3pPr>
            <a:lvl4pPr marR="0" lvl="3"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4pPr>
            <a:lvl5pPr marR="0" lvl="4"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5pPr>
            <a:lvl6pPr marR="0" lvl="5"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6pPr>
            <a:lvl7pPr marR="0" lvl="6"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7pPr>
            <a:lvl8pPr marR="0" lvl="7"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8pPr>
            <a:lvl9pPr marR="0" lvl="8"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9pPr>
          </a:lstStyle>
          <a:p>
            <a:endParaRPr/>
          </a:p>
        </p:txBody>
      </p:sp>
      <p:sp>
        <p:nvSpPr>
          <p:cNvPr id="15" name="Google Shape;15;p1"/>
          <p:cNvSpPr txBox="1">
            <a:spLocks noGrp="1"/>
          </p:cNvSpPr>
          <p:nvPr>
            <p:ph type="sldNum" idx="12"/>
          </p:nvPr>
        </p:nvSpPr>
        <p:spPr>
          <a:xfrm>
            <a:off x="11292840" y="6172200"/>
            <a:ext cx="914400" cy="593725"/>
          </a:xfrm>
          <a:prstGeom prst="rect">
            <a:avLst/>
          </a:prstGeom>
          <a:noFill/>
          <a:ln>
            <a:noFill/>
          </a:ln>
        </p:spPr>
        <p:txBody>
          <a:bodyPr spcFirstLastPara="1" wrap="square" lIns="45700" tIns="45700" rIns="45700" bIns="45700" anchor="ctr" anchorCtr="0">
            <a:normAutofit/>
          </a:bodyPr>
          <a:lstStyle>
            <a:lvl1pPr marL="0" marR="0" lvl="0"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1pPr>
            <a:lvl2pPr marL="0" marR="0" lvl="1"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2pPr>
            <a:lvl3pPr marL="0" marR="0" lvl="2"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3pPr>
            <a:lvl4pPr marL="0" marR="0" lvl="3"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4pPr>
            <a:lvl5pPr marL="0" marR="0" lvl="4"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5pPr>
            <a:lvl6pPr marL="0" marR="0" lvl="5"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6pPr>
            <a:lvl7pPr marL="0" marR="0" lvl="6"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7pPr>
            <a:lvl8pPr marL="0" marR="0" lvl="7"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8pPr>
            <a:lvl9pPr marL="0" marR="0" lvl="8" indent="0" algn="ctr" rtl="0">
              <a:spcBef>
                <a:spcPts val="0"/>
              </a:spcBef>
              <a:buNone/>
              <a:defRPr sz="3600" b="0" i="0" u="none" strike="noStrike" cap="none">
                <a:solidFill>
                  <a:srgbClr val="8E8E93"/>
                </a:solidFill>
                <a:latin typeface="Century Schoolbook"/>
                <a:ea typeface="Century Schoolbook"/>
                <a:cs typeface="Century Schoolbook"/>
                <a:sym typeface="Century Schoolbook"/>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8"/>
        <p:cNvGrpSpPr/>
        <p:nvPr/>
      </p:nvGrpSpPr>
      <p:grpSpPr>
        <a:xfrm>
          <a:off x="0" y="0"/>
          <a:ext cx="0" cy="0"/>
          <a:chOff x="0" y="0"/>
          <a:chExt cx="0" cy="0"/>
        </a:xfrm>
      </p:grpSpPr>
      <p:sp>
        <p:nvSpPr>
          <p:cNvPr id="99" name="Google Shape;99;p14"/>
          <p:cNvSpPr/>
          <p:nvPr/>
        </p:nvSpPr>
        <p:spPr>
          <a:xfrm>
            <a:off x="0" y="0"/>
            <a:ext cx="12192000"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00" name="Google Shape;100;p14"/>
          <p:cNvSpPr txBox="1">
            <a:spLocks noGrp="1"/>
          </p:cNvSpPr>
          <p:nvPr>
            <p:ph type="ctrTitle"/>
          </p:nvPr>
        </p:nvSpPr>
        <p:spPr>
          <a:xfrm>
            <a:off x="1442594" y="758952"/>
            <a:ext cx="9056876" cy="4041648"/>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7200"/>
              <a:buFont typeface="Century Schoolbook"/>
              <a:buNone/>
            </a:pPr>
            <a:r>
              <a:rPr lang="en-US"/>
              <a:t>Time Trends Findings</a:t>
            </a:r>
            <a:endParaRPr/>
          </a:p>
        </p:txBody>
      </p:sp>
      <p:sp>
        <p:nvSpPr>
          <p:cNvPr id="101" name="Google Shape;101;p14"/>
          <p:cNvSpPr txBox="1">
            <a:spLocks noGrp="1"/>
          </p:cNvSpPr>
          <p:nvPr>
            <p:ph type="subTitle" idx="1"/>
          </p:nvPr>
        </p:nvSpPr>
        <p:spPr>
          <a:xfrm>
            <a:off x="1442594" y="4800600"/>
            <a:ext cx="9056876" cy="169164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SzPts val="1760"/>
              <a:buNone/>
            </a:pPr>
            <a:r>
              <a:rPr lang="en-US">
                <a:solidFill>
                  <a:schemeClr val="dk2"/>
                </a:solidFill>
              </a:rPr>
              <a:t>Presentation 1</a:t>
            </a:r>
            <a:endParaRPr/>
          </a:p>
          <a:p>
            <a:pPr marL="0" lvl="0" indent="0" algn="l" rtl="0">
              <a:lnSpc>
                <a:spcPct val="95000"/>
              </a:lnSpc>
              <a:spcBef>
                <a:spcPts val="1600"/>
              </a:spcBef>
              <a:spcAft>
                <a:spcPts val="0"/>
              </a:spcAft>
              <a:buSzPts val="1760"/>
              <a:buNone/>
            </a:pPr>
            <a:r>
              <a:rPr lang="en-US">
                <a:solidFill>
                  <a:schemeClr val="dk2"/>
                </a:solidFill>
              </a:rPr>
              <a:t>Julia, Sophia, and Varun</a:t>
            </a:r>
            <a:endParaRPr/>
          </a:p>
        </p:txBody>
      </p:sp>
      <p:sp>
        <p:nvSpPr>
          <p:cNvPr id="102" name="Google Shape;102;p14"/>
          <p:cNvSpPr/>
          <p:nvPr/>
        </p:nvSpPr>
        <p:spPr>
          <a:xfrm>
            <a:off x="0" y="0"/>
            <a:ext cx="457200" cy="6858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Recommendations</a:t>
            </a:r>
            <a:endParaRPr/>
          </a:p>
        </p:txBody>
      </p:sp>
      <p:sp>
        <p:nvSpPr>
          <p:cNvPr id="108" name="Google Shape;108;p15"/>
          <p:cNvSpPr txBox="1">
            <a:spLocks noGrp="1"/>
          </p:cNvSpPr>
          <p:nvPr>
            <p:ph type="body" idx="1"/>
          </p:nvPr>
        </p:nvSpPr>
        <p:spPr>
          <a:xfrm>
            <a:off x="1261872" y="1828800"/>
            <a:ext cx="8595300" cy="618600"/>
          </a:xfrm>
          <a:prstGeom prst="rect">
            <a:avLst/>
          </a:prstGeom>
          <a:noFill/>
          <a:ln>
            <a:noFill/>
          </a:ln>
        </p:spPr>
        <p:txBody>
          <a:bodyPr spcFirstLastPara="1" wrap="square" lIns="91425" tIns="45700" rIns="91425" bIns="45700" anchor="t" anchorCtr="0">
            <a:spAutoFit/>
          </a:bodyPr>
          <a:lstStyle/>
          <a:p>
            <a:pPr marL="0" lvl="0" indent="0" algn="l" rtl="0">
              <a:lnSpc>
                <a:spcPct val="95000"/>
              </a:lnSpc>
              <a:spcBef>
                <a:spcPts val="0"/>
              </a:spcBef>
              <a:spcAft>
                <a:spcPts val="0"/>
              </a:spcAft>
              <a:buSzPts val="1440"/>
              <a:buNone/>
            </a:pPr>
            <a:r>
              <a:rPr lang="en-US"/>
              <a:t>1a. Adjust website prompts to reduce calls at peak opening times and encourage calling later in the week</a:t>
            </a:r>
            <a:endParaRPr/>
          </a:p>
        </p:txBody>
      </p:sp>
      <p:sp>
        <p:nvSpPr>
          <p:cNvPr id="109" name="Google Shape;109;p15"/>
          <p:cNvSpPr txBox="1">
            <a:spLocks noGrp="1"/>
          </p:cNvSpPr>
          <p:nvPr>
            <p:ph type="body" idx="1"/>
          </p:nvPr>
        </p:nvSpPr>
        <p:spPr>
          <a:xfrm>
            <a:off x="1261872" y="3512350"/>
            <a:ext cx="8595300" cy="618600"/>
          </a:xfrm>
          <a:prstGeom prst="rect">
            <a:avLst/>
          </a:prstGeom>
          <a:noFill/>
          <a:ln>
            <a:noFill/>
          </a:ln>
        </p:spPr>
        <p:txBody>
          <a:bodyPr spcFirstLastPara="1" wrap="square" lIns="91425" tIns="45700" rIns="91425" bIns="45700" anchor="t" anchorCtr="0">
            <a:spAutoFit/>
          </a:bodyPr>
          <a:lstStyle/>
          <a:p>
            <a:pPr marL="0" lvl="0" indent="0" algn="l" rtl="0">
              <a:lnSpc>
                <a:spcPct val="95000"/>
              </a:lnSpc>
              <a:spcBef>
                <a:spcPts val="1600"/>
              </a:spcBef>
              <a:spcAft>
                <a:spcPts val="0"/>
              </a:spcAft>
              <a:buSzPts val="1440"/>
              <a:buNone/>
            </a:pPr>
            <a:r>
              <a:rPr lang="en-US"/>
              <a:t>2. Increase agent engagement to minimize customer departures when call volume is low.</a:t>
            </a:r>
            <a:endParaRPr/>
          </a:p>
        </p:txBody>
      </p:sp>
      <p:sp>
        <p:nvSpPr>
          <p:cNvPr id="110" name="Google Shape;110;p15"/>
          <p:cNvSpPr txBox="1"/>
          <p:nvPr/>
        </p:nvSpPr>
        <p:spPr>
          <a:xfrm>
            <a:off x="1261900" y="4392134"/>
            <a:ext cx="8400300" cy="711000"/>
          </a:xfrm>
          <a:prstGeom prst="rect">
            <a:avLst/>
          </a:prstGeom>
          <a:noFill/>
          <a:ln>
            <a:noFill/>
          </a:ln>
        </p:spPr>
        <p:txBody>
          <a:bodyPr spcFirstLastPara="1" wrap="square" lIns="91425" tIns="91425" rIns="91425" bIns="91425" anchor="t" anchorCtr="0">
            <a:spAutoFit/>
          </a:bodyPr>
          <a:lstStyle/>
          <a:p>
            <a:pPr marL="0" lvl="0" indent="0" algn="l" rtl="0">
              <a:lnSpc>
                <a:spcPct val="95000"/>
              </a:lnSpc>
              <a:spcBef>
                <a:spcPts val="1600"/>
              </a:spcBef>
              <a:spcAft>
                <a:spcPts val="0"/>
              </a:spcAft>
              <a:buNone/>
            </a:pPr>
            <a:r>
              <a:rPr lang="en-US" sz="1800">
                <a:solidFill>
                  <a:schemeClr val="dk1"/>
                </a:solidFill>
                <a:latin typeface="Century Schoolbook"/>
                <a:ea typeface="Century Schoolbook"/>
                <a:cs typeface="Century Schoolbook"/>
                <a:sym typeface="Century Schoolbook"/>
              </a:rPr>
              <a:t>3. Align staffing with seasonal demand can help legal aid serve more clients without raising costs</a:t>
            </a:r>
            <a:endParaRPr/>
          </a:p>
        </p:txBody>
      </p:sp>
      <p:sp>
        <p:nvSpPr>
          <p:cNvPr id="111" name="Google Shape;111;p15"/>
          <p:cNvSpPr txBox="1">
            <a:spLocks noGrp="1"/>
          </p:cNvSpPr>
          <p:nvPr>
            <p:ph type="body" idx="1"/>
          </p:nvPr>
        </p:nvSpPr>
        <p:spPr>
          <a:xfrm>
            <a:off x="1261868" y="2733975"/>
            <a:ext cx="8595300" cy="355500"/>
          </a:xfrm>
          <a:prstGeom prst="rect">
            <a:avLst/>
          </a:prstGeom>
          <a:noFill/>
          <a:ln>
            <a:noFill/>
          </a:ln>
        </p:spPr>
        <p:txBody>
          <a:bodyPr spcFirstLastPara="1" wrap="square" lIns="91425" tIns="45700" rIns="91425" bIns="45700" anchor="t" anchorCtr="0">
            <a:spAutoFit/>
          </a:bodyPr>
          <a:lstStyle/>
          <a:p>
            <a:pPr marL="0" lvl="0" indent="0" algn="l" rtl="0">
              <a:lnSpc>
                <a:spcPct val="95000"/>
              </a:lnSpc>
              <a:spcBef>
                <a:spcPts val="0"/>
              </a:spcBef>
              <a:spcAft>
                <a:spcPts val="0"/>
              </a:spcAft>
              <a:buSzPts val="1440"/>
              <a:buNone/>
            </a:pPr>
            <a:r>
              <a:rPr lang="en-US" dirty="0"/>
              <a:t>1b. Implement a system to record call success for analysis and improvement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600"/>
              <a:buFont typeface="Century Schoolbook"/>
              <a:buNone/>
            </a:pPr>
            <a:r>
              <a:rPr lang="en-US" sz="3500"/>
              <a:t>Call volumes peak in the morning, as well as towards the beginning of the week</a:t>
            </a:r>
            <a:endParaRPr sz="4300"/>
          </a:p>
        </p:txBody>
      </p:sp>
      <p:sp>
        <p:nvSpPr>
          <p:cNvPr id="117" name="Google Shape;117;p16"/>
          <p:cNvSpPr txBox="1">
            <a:spLocks noGrp="1"/>
          </p:cNvSpPr>
          <p:nvPr>
            <p:ph type="body" idx="1"/>
          </p:nvPr>
        </p:nvSpPr>
        <p:spPr>
          <a:xfrm>
            <a:off x="1261872" y="1828800"/>
            <a:ext cx="8595300" cy="1153800"/>
          </a:xfrm>
          <a:prstGeom prst="rect">
            <a:avLst/>
          </a:prstGeom>
          <a:noFill/>
          <a:ln>
            <a:noFill/>
          </a:ln>
        </p:spPr>
        <p:txBody>
          <a:bodyPr spcFirstLastPara="1" wrap="square" lIns="91425" tIns="45700" rIns="91425" bIns="45700" anchor="t" anchorCtr="0">
            <a:spAutoFit/>
          </a:bodyPr>
          <a:lstStyle/>
          <a:p>
            <a:pPr marL="182880" lvl="0" indent="-182880" algn="l" rtl="0">
              <a:lnSpc>
                <a:spcPct val="95000"/>
              </a:lnSpc>
              <a:spcBef>
                <a:spcPts val="0"/>
              </a:spcBef>
              <a:spcAft>
                <a:spcPts val="0"/>
              </a:spcAft>
              <a:buSzPts val="1440"/>
              <a:buChar char="●"/>
            </a:pPr>
            <a:r>
              <a:rPr lang="en-US"/>
              <a:t>Peak call time is typically between 8am - 10am depending on flow, EP, termination reason, duration, outcome etc.</a:t>
            </a:r>
            <a:endParaRPr/>
          </a:p>
          <a:p>
            <a:pPr marL="457200" lvl="1" indent="-182880" algn="l" rtl="0">
              <a:spcBef>
                <a:spcPts val="500"/>
              </a:spcBef>
              <a:spcAft>
                <a:spcPts val="0"/>
              </a:spcAft>
              <a:buSzPts val="1800"/>
              <a:buChar char="○"/>
            </a:pPr>
            <a:r>
              <a:rPr lang="en-US"/>
              <a:t>Difficult to see when callers have time/want to call, since they are encouraged to call first thing in the morning</a:t>
            </a:r>
            <a:endParaRPr/>
          </a:p>
        </p:txBody>
      </p:sp>
      <p:sp>
        <p:nvSpPr>
          <p:cNvPr id="118" name="Google Shape;118;p16"/>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1</a:t>
            </a:r>
            <a:endParaRPr/>
          </a:p>
        </p:txBody>
      </p:sp>
      <p:sp>
        <p:nvSpPr>
          <p:cNvPr id="119" name="Google Shape;119;p16"/>
          <p:cNvSpPr txBox="1"/>
          <p:nvPr/>
        </p:nvSpPr>
        <p:spPr>
          <a:xfrm>
            <a:off x="1234875" y="3210163"/>
            <a:ext cx="8649300" cy="711000"/>
          </a:xfrm>
          <a:prstGeom prst="rect">
            <a:avLst/>
          </a:prstGeom>
          <a:noFill/>
          <a:ln>
            <a:noFill/>
          </a:ln>
        </p:spPr>
        <p:txBody>
          <a:bodyPr spcFirstLastPara="1" wrap="square" lIns="91425" tIns="91425" rIns="91425" bIns="91425" anchor="t" anchorCtr="0">
            <a:spAutoFit/>
          </a:bodyPr>
          <a:lstStyle/>
          <a:p>
            <a:pPr marL="182880" lvl="0" indent="-182880" algn="l" rtl="0">
              <a:lnSpc>
                <a:spcPct val="95000"/>
              </a:lnSpc>
              <a:spcBef>
                <a:spcPts val="1700"/>
              </a:spcBef>
              <a:spcAft>
                <a:spcPts val="0"/>
              </a:spcAft>
              <a:buClr>
                <a:schemeClr val="accent1"/>
              </a:buClr>
              <a:buSzPts val="1440"/>
              <a:buChar char="●"/>
            </a:pPr>
            <a:r>
              <a:rPr lang="en-US" sz="1800">
                <a:solidFill>
                  <a:schemeClr val="dk1"/>
                </a:solidFill>
                <a:latin typeface="Century Schoolbook"/>
                <a:ea typeface="Century Schoolbook"/>
                <a:cs typeface="Century Schoolbook"/>
                <a:sym typeface="Century Schoolbook"/>
              </a:rPr>
              <a:t>Call volumes tend to be higher at the beginning of the week compared to the end of the week</a:t>
            </a:r>
            <a:endParaRPr/>
          </a:p>
        </p:txBody>
      </p:sp>
      <p:sp>
        <p:nvSpPr>
          <p:cNvPr id="120" name="Google Shape;120;p16"/>
          <p:cNvSpPr txBox="1"/>
          <p:nvPr/>
        </p:nvSpPr>
        <p:spPr>
          <a:xfrm>
            <a:off x="1234875" y="4065675"/>
            <a:ext cx="8649300" cy="1442700"/>
          </a:xfrm>
          <a:prstGeom prst="rect">
            <a:avLst/>
          </a:prstGeom>
          <a:noFill/>
          <a:ln>
            <a:noFill/>
          </a:ln>
        </p:spPr>
        <p:txBody>
          <a:bodyPr spcFirstLastPara="1" wrap="square" lIns="91425" tIns="91425" rIns="91425" bIns="91425" anchor="t" anchorCtr="0">
            <a:spAutoFit/>
          </a:bodyPr>
          <a:lstStyle/>
          <a:p>
            <a:pPr marL="182880" lvl="0" indent="-182880" algn="l" rtl="0">
              <a:lnSpc>
                <a:spcPct val="95000"/>
              </a:lnSpc>
              <a:spcBef>
                <a:spcPts val="1600"/>
              </a:spcBef>
              <a:spcAft>
                <a:spcPts val="0"/>
              </a:spcAft>
              <a:buClr>
                <a:schemeClr val="accent1"/>
              </a:buClr>
              <a:buSzPts val="1440"/>
              <a:buChar char="●"/>
            </a:pPr>
            <a:r>
              <a:rPr lang="en-US" sz="1800">
                <a:solidFill>
                  <a:schemeClr val="dk1"/>
                </a:solidFill>
                <a:latin typeface="Century Schoolbook"/>
                <a:ea typeface="Century Schoolbook"/>
                <a:cs typeface="Century Schoolbook"/>
                <a:sym typeface="Century Schoolbook"/>
              </a:rPr>
              <a:t>Afternoon calls are shorter and less active: average duration drops to ~5 minutes, with fewer menus/actions per call</a:t>
            </a:r>
            <a:endParaRPr sz="1800">
              <a:solidFill>
                <a:schemeClr val="dk1"/>
              </a:solidFill>
              <a:latin typeface="Century Schoolbook"/>
              <a:ea typeface="Century Schoolbook"/>
              <a:cs typeface="Century Schoolbook"/>
              <a:sym typeface="Century Schoolbook"/>
            </a:endParaRPr>
          </a:p>
          <a:p>
            <a:pPr marL="457200" lvl="1" indent="-182880" algn="l" rtl="0">
              <a:lnSpc>
                <a:spcPct val="95000"/>
              </a:lnSpc>
              <a:spcBef>
                <a:spcPts val="1600"/>
              </a:spcBef>
              <a:spcAft>
                <a:spcPts val="0"/>
              </a:spcAft>
              <a:buClr>
                <a:schemeClr val="dk1"/>
              </a:buClr>
              <a:buSzPts val="1800"/>
              <a:buFont typeface="Century Schoolbook"/>
              <a:buChar char="○"/>
            </a:pPr>
            <a:r>
              <a:rPr lang="en-US" sz="1800">
                <a:solidFill>
                  <a:schemeClr val="dk1"/>
                </a:solidFill>
                <a:latin typeface="Century Schoolbook"/>
                <a:ea typeface="Century Schoolbook"/>
                <a:cs typeface="Century Schoolbook"/>
                <a:sym typeface="Century Schoolbook"/>
              </a:rPr>
              <a:t>Suggests lower engagement or effectiveness compared to mornings, but current data doesn’t clearly indicate impact on call quality or success</a:t>
            </a:r>
            <a:endParaRPr sz="1800">
              <a:solidFill>
                <a:schemeClr val="dk1"/>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2800"/>
              <a:buFont typeface="Century Schoolbook"/>
              <a:buNone/>
            </a:pPr>
            <a:r>
              <a:rPr lang="en-US" sz="2800"/>
              <a:t>Call volumes, activities per call, and durations tend to be higher in the morning and lower in the afternoon</a:t>
            </a:r>
            <a:endParaRPr/>
          </a:p>
        </p:txBody>
      </p:sp>
      <p:sp>
        <p:nvSpPr>
          <p:cNvPr id="127" name="Google Shape;127;p17"/>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1</a:t>
            </a:r>
            <a:endParaRPr/>
          </a:p>
        </p:txBody>
      </p:sp>
      <p:pic>
        <p:nvPicPr>
          <p:cNvPr id="128" name="Google Shape;128;p17"/>
          <p:cNvPicPr preferRelativeResize="0"/>
          <p:nvPr/>
        </p:nvPicPr>
        <p:blipFill rotWithShape="1">
          <a:blip r:embed="rId3">
            <a:alphaModFix/>
          </a:blip>
          <a:srcRect/>
          <a:stretch/>
        </p:blipFill>
        <p:spPr>
          <a:xfrm>
            <a:off x="1926100" y="1642000"/>
            <a:ext cx="8450851" cy="47988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1"/>
              </a:buClr>
              <a:buSzPct val="102857"/>
              <a:buFont typeface="Century Schoolbook"/>
              <a:buNone/>
            </a:pPr>
            <a:r>
              <a:rPr lang="en-US" sz="3500"/>
              <a:t>Instructing users to call at 8 a.m. may overwhelm system and diminish service quality</a:t>
            </a:r>
            <a:endParaRPr sz="4300"/>
          </a:p>
          <a:p>
            <a:pPr marL="0" lvl="0" indent="0" algn="l" rtl="0">
              <a:lnSpc>
                <a:spcPct val="90000"/>
              </a:lnSpc>
              <a:spcBef>
                <a:spcPts val="0"/>
              </a:spcBef>
              <a:spcAft>
                <a:spcPts val="0"/>
              </a:spcAft>
              <a:buClr>
                <a:schemeClr val="dk1"/>
              </a:buClr>
              <a:buSzPct val="100000"/>
              <a:buFont typeface="Century Schoolbook"/>
              <a:buNone/>
            </a:pPr>
            <a:endParaRPr/>
          </a:p>
        </p:txBody>
      </p:sp>
      <p:sp>
        <p:nvSpPr>
          <p:cNvPr id="134" name="Google Shape;134;p18"/>
          <p:cNvSpPr txBox="1">
            <a:spLocks noGrp="1"/>
          </p:cNvSpPr>
          <p:nvPr>
            <p:ph type="body" idx="1"/>
          </p:nvPr>
        </p:nvSpPr>
        <p:spPr>
          <a:xfrm>
            <a:off x="1261872" y="1828800"/>
            <a:ext cx="8595300" cy="591000"/>
          </a:xfrm>
          <a:prstGeom prst="rect">
            <a:avLst/>
          </a:prstGeom>
          <a:noFill/>
          <a:ln>
            <a:noFill/>
          </a:ln>
        </p:spPr>
        <p:txBody>
          <a:bodyPr spcFirstLastPara="1" wrap="square" lIns="91425" tIns="45700" rIns="91425" bIns="45700" anchor="t" anchorCtr="0">
            <a:spAutoFit/>
          </a:bodyPr>
          <a:lstStyle/>
          <a:p>
            <a:pPr marL="182880" lvl="0" indent="-182880" algn="l" rtl="0">
              <a:lnSpc>
                <a:spcPct val="90000"/>
              </a:lnSpc>
              <a:spcBef>
                <a:spcPts val="500"/>
              </a:spcBef>
              <a:spcAft>
                <a:spcPts val="0"/>
              </a:spcAft>
              <a:buSzPts val="1440"/>
              <a:buChar char="●"/>
            </a:pPr>
            <a:r>
              <a:rPr lang="en-US"/>
              <a:t>There is currently a note on the website which encourages people to call at 8am</a:t>
            </a:r>
            <a:endParaRPr/>
          </a:p>
        </p:txBody>
      </p:sp>
      <p:sp>
        <p:nvSpPr>
          <p:cNvPr id="135" name="Google Shape;135;p18"/>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1</a:t>
            </a:r>
            <a:endParaRPr/>
          </a:p>
        </p:txBody>
      </p:sp>
      <p:sp>
        <p:nvSpPr>
          <p:cNvPr id="136" name="Google Shape;136;p18"/>
          <p:cNvSpPr txBox="1"/>
          <p:nvPr/>
        </p:nvSpPr>
        <p:spPr>
          <a:xfrm>
            <a:off x="1261875" y="2486075"/>
            <a:ext cx="8305200" cy="2089200"/>
          </a:xfrm>
          <a:prstGeom prst="rect">
            <a:avLst/>
          </a:prstGeom>
          <a:noFill/>
          <a:ln>
            <a:noFill/>
          </a:ln>
        </p:spPr>
        <p:txBody>
          <a:bodyPr spcFirstLastPara="1" wrap="square" lIns="91425" tIns="91425" rIns="91425" bIns="91425" anchor="t" anchorCtr="0">
            <a:spAutoFit/>
          </a:bodyPr>
          <a:lstStyle/>
          <a:p>
            <a:pPr marL="182880" lvl="0" indent="-182880" algn="l" rtl="0">
              <a:lnSpc>
                <a:spcPct val="95000"/>
              </a:lnSpc>
              <a:spcBef>
                <a:spcPts val="1700"/>
              </a:spcBef>
              <a:spcAft>
                <a:spcPts val="0"/>
              </a:spcAft>
              <a:buClr>
                <a:schemeClr val="accent1"/>
              </a:buClr>
              <a:buSzPts val="1440"/>
              <a:buChar char="●"/>
            </a:pPr>
            <a:r>
              <a:rPr lang="en-US" sz="1800">
                <a:solidFill>
                  <a:schemeClr val="dk1"/>
                </a:solidFill>
                <a:latin typeface="Century Schoolbook"/>
                <a:ea typeface="Century Schoolbook"/>
                <a:cs typeface="Century Schoolbook"/>
                <a:sym typeface="Century Schoolbook"/>
              </a:rPr>
              <a:t>Revise website messaging to distribute call volume more evenly throughout the week.</a:t>
            </a:r>
            <a:endParaRPr sz="1800">
              <a:solidFill>
                <a:schemeClr val="dk1"/>
              </a:solidFill>
              <a:latin typeface="Century Schoolbook"/>
              <a:ea typeface="Century Schoolbook"/>
              <a:cs typeface="Century Schoolbook"/>
              <a:sym typeface="Century Schoolbook"/>
            </a:endParaRPr>
          </a:p>
          <a:p>
            <a:pPr marL="457200" lvl="1" indent="-182880" algn="l" rtl="0">
              <a:lnSpc>
                <a:spcPct val="90000"/>
              </a:lnSpc>
              <a:spcBef>
                <a:spcPts val="1700"/>
              </a:spcBef>
              <a:spcAft>
                <a:spcPts val="0"/>
              </a:spcAft>
              <a:buClr>
                <a:schemeClr val="accent1"/>
              </a:buClr>
              <a:buSzPts val="1800"/>
              <a:buFont typeface="Noto Sans Symbols"/>
              <a:buChar char="○"/>
            </a:pPr>
            <a:r>
              <a:rPr lang="en-US" sz="1600">
                <a:solidFill>
                  <a:schemeClr val="dk1"/>
                </a:solidFill>
                <a:latin typeface="Century Schoolbook"/>
                <a:ea typeface="Century Schoolbook"/>
                <a:cs typeface="Century Schoolbook"/>
                <a:sym typeface="Century Schoolbook"/>
              </a:rPr>
              <a:t>Remove prompts that encourage users to call immediately when phone lines open, and instead trial messaging that highlights Thursday and Friday as optimal times to reach support</a:t>
            </a:r>
            <a:endParaRPr sz="1600">
              <a:solidFill>
                <a:schemeClr val="dk1"/>
              </a:solidFill>
              <a:latin typeface="Century Schoolbook"/>
              <a:ea typeface="Century Schoolbook"/>
              <a:cs typeface="Century Schoolbook"/>
              <a:sym typeface="Century Schoolbook"/>
            </a:endParaRPr>
          </a:p>
          <a:p>
            <a:pPr marL="457200" lvl="1" indent="-182880" algn="l" rtl="0">
              <a:lnSpc>
                <a:spcPct val="90000"/>
              </a:lnSpc>
              <a:spcBef>
                <a:spcPts val="1700"/>
              </a:spcBef>
              <a:spcAft>
                <a:spcPts val="0"/>
              </a:spcAft>
              <a:buClr>
                <a:schemeClr val="accent1"/>
              </a:buClr>
              <a:buSzPts val="1800"/>
              <a:buFont typeface="Noto Sans Symbols"/>
              <a:buChar char="○"/>
            </a:pPr>
            <a:r>
              <a:rPr lang="en-US" sz="1600">
                <a:solidFill>
                  <a:schemeClr val="dk1"/>
                </a:solidFill>
                <a:latin typeface="Century Schoolbook"/>
                <a:ea typeface="Century Schoolbook"/>
                <a:cs typeface="Century Schoolbook"/>
                <a:sym typeface="Century Schoolbook"/>
              </a:rPr>
              <a:t>May not be the perfect solution (exploring more options in next steps)</a:t>
            </a:r>
            <a:endParaRPr sz="1600">
              <a:solidFill>
                <a:srgbClr val="262626"/>
              </a:solidFill>
              <a:latin typeface="Century Schoolbook"/>
              <a:ea typeface="Century Schoolbook"/>
              <a:cs typeface="Century Schoolbook"/>
              <a:sym typeface="Century Schoolbook"/>
            </a:endParaRPr>
          </a:p>
        </p:txBody>
      </p:sp>
      <p:sp>
        <p:nvSpPr>
          <p:cNvPr id="137" name="Google Shape;137;p18"/>
          <p:cNvSpPr txBox="1"/>
          <p:nvPr/>
        </p:nvSpPr>
        <p:spPr>
          <a:xfrm>
            <a:off x="1261875" y="4501675"/>
            <a:ext cx="8305200" cy="1338600"/>
          </a:xfrm>
          <a:prstGeom prst="rect">
            <a:avLst/>
          </a:prstGeom>
          <a:noFill/>
          <a:ln>
            <a:noFill/>
          </a:ln>
        </p:spPr>
        <p:txBody>
          <a:bodyPr spcFirstLastPara="1" wrap="square" lIns="91425" tIns="91425" rIns="91425" bIns="91425" anchor="t" anchorCtr="0">
            <a:spAutoFit/>
          </a:bodyPr>
          <a:lstStyle/>
          <a:p>
            <a:pPr marL="182880" lvl="0" indent="-182880" algn="l" rtl="0">
              <a:lnSpc>
                <a:spcPct val="95000"/>
              </a:lnSpc>
              <a:spcBef>
                <a:spcPts val="1700"/>
              </a:spcBef>
              <a:spcAft>
                <a:spcPts val="0"/>
              </a:spcAft>
              <a:buClr>
                <a:schemeClr val="accent1"/>
              </a:buClr>
              <a:buSzPts val="1440"/>
              <a:buChar char="●"/>
            </a:pPr>
            <a:r>
              <a:rPr lang="en-US" sz="1600">
                <a:solidFill>
                  <a:srgbClr val="262626"/>
                </a:solidFill>
                <a:latin typeface="Century Schoolbook"/>
                <a:ea typeface="Century Schoolbook"/>
                <a:cs typeface="Century Schoolbook"/>
                <a:sym typeface="Century Schoolbook"/>
              </a:rPr>
              <a:t>Develop a system to track and categorize call outcomes and resolution success.</a:t>
            </a:r>
            <a:endParaRPr sz="1600">
              <a:solidFill>
                <a:srgbClr val="262626"/>
              </a:solidFill>
              <a:latin typeface="Century Schoolbook"/>
              <a:ea typeface="Century Schoolbook"/>
              <a:cs typeface="Century Schoolbook"/>
              <a:sym typeface="Century Schoolbook"/>
            </a:endParaRPr>
          </a:p>
          <a:p>
            <a:pPr marL="457200" lvl="1" indent="-170180" algn="l" rtl="0">
              <a:lnSpc>
                <a:spcPct val="95000"/>
              </a:lnSpc>
              <a:spcBef>
                <a:spcPts val="1700"/>
              </a:spcBef>
              <a:spcAft>
                <a:spcPts val="0"/>
              </a:spcAft>
              <a:buClr>
                <a:srgbClr val="262626"/>
              </a:buClr>
              <a:buSzPts val="1600"/>
              <a:buFont typeface="Century Schoolbook"/>
              <a:buChar char="○"/>
            </a:pPr>
            <a:r>
              <a:rPr lang="en-US" sz="1600">
                <a:solidFill>
                  <a:srgbClr val="262626"/>
                </a:solidFill>
                <a:latin typeface="Century Schoolbook"/>
                <a:ea typeface="Century Schoolbook"/>
                <a:cs typeface="Century Schoolbook"/>
                <a:sym typeface="Century Schoolbook"/>
              </a:rPr>
              <a:t>This data will enable deeper analysis of call effectiveness, help identify when and why shorter calls are less successful, and guide future staffing and training decisions.</a:t>
            </a:r>
            <a:endParaRPr sz="1600">
              <a:solidFill>
                <a:srgbClr val="262626"/>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a:off x="1261872" y="365760"/>
            <a:ext cx="9692700" cy="1325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Note about Callbacks</a:t>
            </a:r>
            <a:endParaRPr/>
          </a:p>
        </p:txBody>
      </p:sp>
      <p:sp>
        <p:nvSpPr>
          <p:cNvPr id="144" name="Google Shape;144;p19"/>
          <p:cNvSpPr txBox="1">
            <a:spLocks noGrp="1"/>
          </p:cNvSpPr>
          <p:nvPr>
            <p:ph type="body" idx="1"/>
          </p:nvPr>
        </p:nvSpPr>
        <p:spPr>
          <a:xfrm>
            <a:off x="1261875" y="1828800"/>
            <a:ext cx="8595300" cy="840000"/>
          </a:xfrm>
          <a:prstGeom prst="rect">
            <a:avLst/>
          </a:prstGeom>
        </p:spPr>
        <p:txBody>
          <a:bodyPr spcFirstLastPara="1" wrap="square" lIns="91425" tIns="45700" rIns="91425" bIns="45700" anchor="t" anchorCtr="0">
            <a:normAutofit/>
          </a:bodyPr>
          <a:lstStyle/>
          <a:p>
            <a:pPr marL="457200" lvl="0" indent="-320040" algn="l" rtl="0">
              <a:spcBef>
                <a:spcPts val="0"/>
              </a:spcBef>
              <a:spcAft>
                <a:spcPts val="0"/>
              </a:spcAft>
              <a:buSzPts val="1440"/>
              <a:buChar char="●"/>
            </a:pPr>
            <a:r>
              <a:rPr lang="en-US"/>
              <a:t>Total number of callbacks was 72,426 and out of these, 44 were terminated because of the customer not answering. </a:t>
            </a:r>
            <a:endParaRPr/>
          </a:p>
        </p:txBody>
      </p:sp>
      <p:sp>
        <p:nvSpPr>
          <p:cNvPr id="145" name="Google Shape;145;p19"/>
          <p:cNvSpPr txBox="1">
            <a:spLocks noGrp="1"/>
          </p:cNvSpPr>
          <p:nvPr>
            <p:ph type="body" idx="1"/>
          </p:nvPr>
        </p:nvSpPr>
        <p:spPr>
          <a:xfrm>
            <a:off x="1261875" y="2806150"/>
            <a:ext cx="8595300" cy="840000"/>
          </a:xfrm>
          <a:prstGeom prst="rect">
            <a:avLst/>
          </a:prstGeom>
        </p:spPr>
        <p:txBody>
          <a:bodyPr spcFirstLastPara="1" wrap="square" lIns="91425" tIns="45700" rIns="91425" bIns="45700" anchor="t" anchorCtr="0">
            <a:normAutofit/>
          </a:bodyPr>
          <a:lstStyle/>
          <a:p>
            <a:pPr marL="457200" lvl="0" indent="-320040" algn="l" rtl="0">
              <a:spcBef>
                <a:spcPts val="0"/>
              </a:spcBef>
              <a:spcAft>
                <a:spcPts val="0"/>
              </a:spcAft>
              <a:buSzPts val="1440"/>
              <a:buChar char="●"/>
            </a:pPr>
            <a:r>
              <a:rPr lang="en-US"/>
              <a:t>Termination reason is only taken into account for calls post March 16, 2025 so I will be focusing on this group (11,916)</a:t>
            </a:r>
            <a:endParaRPr/>
          </a:p>
        </p:txBody>
      </p:sp>
      <p:sp>
        <p:nvSpPr>
          <p:cNvPr id="146" name="Google Shape;146;p19"/>
          <p:cNvSpPr txBox="1"/>
          <p:nvPr/>
        </p:nvSpPr>
        <p:spPr>
          <a:xfrm>
            <a:off x="1576350" y="3437625"/>
            <a:ext cx="9039300" cy="681900"/>
          </a:xfrm>
          <a:prstGeom prst="rect">
            <a:avLst/>
          </a:prstGeom>
          <a:noFill/>
          <a:ln>
            <a:noFill/>
          </a:ln>
        </p:spPr>
        <p:txBody>
          <a:bodyPr spcFirstLastPara="1" wrap="square" lIns="91425" tIns="91425" rIns="91425" bIns="91425" anchor="t" anchorCtr="0">
            <a:spAutoFit/>
          </a:bodyPr>
          <a:lstStyle/>
          <a:p>
            <a:pPr marL="914400" lvl="1" indent="-342900" algn="l" rtl="0">
              <a:lnSpc>
                <a:spcPct val="95000"/>
              </a:lnSpc>
              <a:spcBef>
                <a:spcPts val="0"/>
              </a:spcBef>
              <a:spcAft>
                <a:spcPts val="0"/>
              </a:spcAft>
              <a:buClr>
                <a:schemeClr val="accent1"/>
              </a:buClr>
              <a:buSzPts val="1800"/>
              <a:buFont typeface="Noto Sans Symbols"/>
              <a:buChar char="○"/>
            </a:pPr>
            <a:r>
              <a:rPr lang="en-US" sz="1600">
                <a:solidFill>
                  <a:srgbClr val="262626"/>
                </a:solidFill>
                <a:latin typeface="Century Schoolbook"/>
                <a:ea typeface="Century Schoolbook"/>
                <a:cs typeface="Century Schoolbook"/>
                <a:sym typeface="Century Schoolbook"/>
              </a:rPr>
              <a:t>Beneficial because it gives us insight as to why these callbacks are not being completed.</a:t>
            </a:r>
            <a:endParaRPr sz="1800">
              <a:solidFill>
                <a:schemeClr val="dk1"/>
              </a:solidFill>
              <a:latin typeface="Century Schoolbook"/>
              <a:ea typeface="Century Schoolbook"/>
              <a:cs typeface="Century Schoolbook"/>
              <a:sym typeface="Century Schoolbook"/>
            </a:endParaRPr>
          </a:p>
        </p:txBody>
      </p:sp>
      <p:sp>
        <p:nvSpPr>
          <p:cNvPr id="147" name="Google Shape;147;p19"/>
          <p:cNvSpPr txBox="1">
            <a:spLocks noGrp="1"/>
          </p:cNvSpPr>
          <p:nvPr>
            <p:ph type="body" idx="1"/>
          </p:nvPr>
        </p:nvSpPr>
        <p:spPr>
          <a:xfrm>
            <a:off x="1261875" y="4119525"/>
            <a:ext cx="8595300" cy="1640400"/>
          </a:xfrm>
          <a:prstGeom prst="rect">
            <a:avLst/>
          </a:prstGeom>
        </p:spPr>
        <p:txBody>
          <a:bodyPr spcFirstLastPara="1" wrap="square" lIns="91425" tIns="45700" rIns="91425" bIns="45700" anchor="t" anchorCtr="0">
            <a:normAutofit/>
          </a:bodyPr>
          <a:lstStyle/>
          <a:p>
            <a:pPr marL="457200" lvl="0" indent="-320040" algn="l" rtl="0">
              <a:spcBef>
                <a:spcPts val="0"/>
              </a:spcBef>
              <a:spcAft>
                <a:spcPts val="0"/>
              </a:spcAft>
              <a:buSzPts val="1440"/>
              <a:buChar char="●"/>
            </a:pPr>
            <a:r>
              <a:rPr lang="en-US"/>
              <a:t>Still, 44 customers is not enough to make my previous recommendation actionable so I looked into termination reasons that were of larger proportions of the data.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604600" y="185800"/>
            <a:ext cx="11004000" cy="16431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960"/>
              <a:buFont typeface="Century Schoolbook"/>
              <a:buNone/>
            </a:pPr>
            <a:r>
              <a:rPr lang="en-US" sz="3859"/>
              <a:t>Customer leave rates remain steady despite lower call volume and consistent staffing.</a:t>
            </a:r>
            <a:endParaRPr sz="3859"/>
          </a:p>
        </p:txBody>
      </p:sp>
      <p:sp>
        <p:nvSpPr>
          <p:cNvPr id="153" name="Google Shape;153;p20"/>
          <p:cNvSpPr txBox="1">
            <a:spLocks noGrp="1"/>
          </p:cNvSpPr>
          <p:nvPr>
            <p:ph type="body" idx="1"/>
          </p:nvPr>
        </p:nvSpPr>
        <p:spPr>
          <a:xfrm>
            <a:off x="1328375" y="2064175"/>
            <a:ext cx="8840400" cy="697800"/>
          </a:xfrm>
          <a:prstGeom prst="rect">
            <a:avLst/>
          </a:prstGeom>
          <a:noFill/>
          <a:ln>
            <a:noFill/>
          </a:ln>
        </p:spPr>
        <p:txBody>
          <a:bodyPr spcFirstLastPara="1" wrap="square" lIns="91425" tIns="45700" rIns="91425" bIns="45700" anchor="t" anchorCtr="0">
            <a:normAutofit/>
          </a:bodyPr>
          <a:lstStyle/>
          <a:p>
            <a:pPr marL="457200" lvl="0" indent="-320040" algn="l" rtl="0">
              <a:lnSpc>
                <a:spcPct val="95000"/>
              </a:lnSpc>
              <a:spcBef>
                <a:spcPts val="0"/>
              </a:spcBef>
              <a:spcAft>
                <a:spcPts val="0"/>
              </a:spcAft>
              <a:buSzPts val="1440"/>
              <a:buChar char="●"/>
            </a:pPr>
            <a:r>
              <a:rPr lang="en-US"/>
              <a:t>Call volume declines after peak morning hours, but customer abandonment remains steady.</a:t>
            </a:r>
            <a:endParaRPr/>
          </a:p>
        </p:txBody>
      </p:sp>
      <p:sp>
        <p:nvSpPr>
          <p:cNvPr id="154" name="Google Shape;154;p20"/>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2</a:t>
            </a:r>
            <a:endParaRPr/>
          </a:p>
        </p:txBody>
      </p:sp>
      <p:sp>
        <p:nvSpPr>
          <p:cNvPr id="155" name="Google Shape;155;p20"/>
          <p:cNvSpPr txBox="1">
            <a:spLocks noGrp="1"/>
          </p:cNvSpPr>
          <p:nvPr>
            <p:ph type="body" idx="1"/>
          </p:nvPr>
        </p:nvSpPr>
        <p:spPr>
          <a:xfrm>
            <a:off x="1328375" y="3443875"/>
            <a:ext cx="8595300" cy="98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endParaRPr/>
          </a:p>
          <a:p>
            <a:pPr marL="457200" lvl="0" indent="-320040" algn="l" rtl="0">
              <a:lnSpc>
                <a:spcPct val="95000"/>
              </a:lnSpc>
              <a:spcBef>
                <a:spcPts val="0"/>
              </a:spcBef>
              <a:spcAft>
                <a:spcPts val="0"/>
              </a:spcAft>
              <a:buSzPts val="1440"/>
              <a:buChar char="●"/>
            </a:pPr>
            <a:r>
              <a:rPr lang="en-US"/>
              <a:t>With the same number of agents handling fewer calls, we would expect fewer customers to leave.</a:t>
            </a:r>
            <a:endParaRPr/>
          </a:p>
        </p:txBody>
      </p:sp>
      <p:sp>
        <p:nvSpPr>
          <p:cNvPr id="156" name="Google Shape;156;p20"/>
          <p:cNvSpPr txBox="1"/>
          <p:nvPr/>
        </p:nvSpPr>
        <p:spPr>
          <a:xfrm>
            <a:off x="1576350" y="2761975"/>
            <a:ext cx="9039300" cy="681900"/>
          </a:xfrm>
          <a:prstGeom prst="rect">
            <a:avLst/>
          </a:prstGeom>
          <a:noFill/>
          <a:ln>
            <a:noFill/>
          </a:ln>
        </p:spPr>
        <p:txBody>
          <a:bodyPr spcFirstLastPara="1" wrap="square" lIns="91425" tIns="91425" rIns="91425" bIns="91425" anchor="t" anchorCtr="0">
            <a:spAutoFit/>
          </a:bodyPr>
          <a:lstStyle/>
          <a:p>
            <a:pPr marL="914400" lvl="1" indent="-342900" algn="l" rtl="0">
              <a:lnSpc>
                <a:spcPct val="95000"/>
              </a:lnSpc>
              <a:spcBef>
                <a:spcPts val="0"/>
              </a:spcBef>
              <a:spcAft>
                <a:spcPts val="0"/>
              </a:spcAft>
              <a:buClr>
                <a:schemeClr val="accent1"/>
              </a:buClr>
              <a:buSzPts val="1800"/>
              <a:buFont typeface="Noto Sans Symbols"/>
              <a:buChar char="○"/>
            </a:pPr>
            <a:r>
              <a:rPr lang="en-US" sz="1600">
                <a:solidFill>
                  <a:srgbClr val="262626"/>
                </a:solidFill>
                <a:latin typeface="Century Schoolbook"/>
                <a:ea typeface="Century Schoolbook"/>
                <a:cs typeface="Century Schoolbook"/>
                <a:sym typeface="Century Schoolbook"/>
              </a:rPr>
              <a:t>This suggests that agent availability is not translating into improved customer retention.</a:t>
            </a:r>
            <a:endParaRPr sz="1800">
              <a:solidFill>
                <a:schemeClr val="dk1"/>
              </a:solidFill>
              <a:latin typeface="Century Schoolbook"/>
              <a:ea typeface="Century Schoolbook"/>
              <a:cs typeface="Century Schoolbook"/>
              <a:sym typeface="Century Schoolbook"/>
            </a:endParaRPr>
          </a:p>
        </p:txBody>
      </p:sp>
      <p:sp>
        <p:nvSpPr>
          <p:cNvPr id="157" name="Google Shape;157;p20"/>
          <p:cNvSpPr txBox="1"/>
          <p:nvPr/>
        </p:nvSpPr>
        <p:spPr>
          <a:xfrm>
            <a:off x="1586950" y="4376950"/>
            <a:ext cx="9039300" cy="681900"/>
          </a:xfrm>
          <a:prstGeom prst="rect">
            <a:avLst/>
          </a:prstGeom>
          <a:noFill/>
          <a:ln>
            <a:noFill/>
          </a:ln>
        </p:spPr>
        <p:txBody>
          <a:bodyPr spcFirstLastPara="1" wrap="square" lIns="91425" tIns="91425" rIns="91425" bIns="91425" anchor="t" anchorCtr="0">
            <a:spAutoFit/>
          </a:bodyPr>
          <a:lstStyle/>
          <a:p>
            <a:pPr marL="914400" lvl="1" indent="-342900" algn="l" rtl="0">
              <a:lnSpc>
                <a:spcPct val="95000"/>
              </a:lnSpc>
              <a:spcBef>
                <a:spcPts val="0"/>
              </a:spcBef>
              <a:spcAft>
                <a:spcPts val="0"/>
              </a:spcAft>
              <a:buClr>
                <a:schemeClr val="accent1"/>
              </a:buClr>
              <a:buSzPts val="1800"/>
              <a:buFont typeface="Noto Sans Symbols"/>
              <a:buChar char="○"/>
            </a:pPr>
            <a:r>
              <a:rPr lang="en-US" sz="1600">
                <a:solidFill>
                  <a:srgbClr val="262626"/>
                </a:solidFill>
                <a:latin typeface="Century Schoolbook"/>
                <a:ea typeface="Century Schoolbook"/>
                <a:cs typeface="Century Schoolbook"/>
                <a:sym typeface="Century Schoolbook"/>
              </a:rPr>
              <a:t>The lack of decrease may indicate inefficiencies in how agents are being utilized during low-demand periods.</a:t>
            </a:r>
            <a:endParaRPr sz="1800">
              <a:solidFill>
                <a:schemeClr val="dk1"/>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The agent-to-customer leave ratio remains consistent.</a:t>
            </a:r>
            <a:endParaRPr/>
          </a:p>
        </p:txBody>
      </p:sp>
      <p:sp>
        <p:nvSpPr>
          <p:cNvPr id="163" name="Google Shape;163;p21"/>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2</a:t>
            </a:r>
            <a:endParaRPr/>
          </a:p>
        </p:txBody>
      </p:sp>
      <p:pic>
        <p:nvPicPr>
          <p:cNvPr id="164" name="Google Shape;164;p21" title="Screenshot 2025-10-13 175639.png"/>
          <p:cNvPicPr preferRelativeResize="0"/>
          <p:nvPr/>
        </p:nvPicPr>
        <p:blipFill rotWithShape="1">
          <a:blip r:embed="rId3">
            <a:alphaModFix/>
          </a:blip>
          <a:srcRect t="2610"/>
          <a:stretch/>
        </p:blipFill>
        <p:spPr>
          <a:xfrm>
            <a:off x="2725575" y="1691325"/>
            <a:ext cx="6765219" cy="4927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2"/>
          <p:cNvSpPr txBox="1">
            <a:spLocks noGrp="1"/>
          </p:cNvSpPr>
          <p:nvPr>
            <p:ph type="title"/>
          </p:nvPr>
        </p:nvSpPr>
        <p:spPr>
          <a:xfrm>
            <a:off x="1261872" y="365760"/>
            <a:ext cx="9692700" cy="1325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While the number of agents per hour remains consistent.</a:t>
            </a:r>
            <a:endParaRPr/>
          </a:p>
        </p:txBody>
      </p:sp>
      <p:sp>
        <p:nvSpPr>
          <p:cNvPr id="170" name="Google Shape;170;p22"/>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2</a:t>
            </a:r>
            <a:endParaRPr/>
          </a:p>
        </p:txBody>
      </p:sp>
      <p:pic>
        <p:nvPicPr>
          <p:cNvPr id="171" name="Google Shape;171;p22" title="Screenshot 2025-10-13 184127.png"/>
          <p:cNvPicPr preferRelativeResize="0"/>
          <p:nvPr/>
        </p:nvPicPr>
        <p:blipFill rotWithShape="1">
          <a:blip r:embed="rId3">
            <a:alphaModFix/>
          </a:blip>
          <a:srcRect b="20299"/>
          <a:stretch/>
        </p:blipFill>
        <p:spPr>
          <a:xfrm>
            <a:off x="2071275" y="1826975"/>
            <a:ext cx="8073901" cy="4294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3960"/>
              <a:buFont typeface="Century Schoolbook"/>
              <a:buNone/>
            </a:pPr>
            <a:r>
              <a:rPr lang="en-US" sz="3259"/>
              <a:t>Improve agent responsiveness to prevent customer drop-offs during low call volume.</a:t>
            </a:r>
            <a:endParaRPr sz="3259"/>
          </a:p>
        </p:txBody>
      </p:sp>
      <p:sp>
        <p:nvSpPr>
          <p:cNvPr id="177" name="Google Shape;177;p23"/>
          <p:cNvSpPr txBox="1">
            <a:spLocks noGrp="1"/>
          </p:cNvSpPr>
          <p:nvPr>
            <p:ph type="body" idx="1"/>
          </p:nvPr>
        </p:nvSpPr>
        <p:spPr>
          <a:xfrm>
            <a:off x="1261875" y="1920250"/>
            <a:ext cx="8595300" cy="1172700"/>
          </a:xfrm>
          <a:prstGeom prst="rect">
            <a:avLst/>
          </a:prstGeom>
          <a:noFill/>
          <a:ln>
            <a:noFill/>
          </a:ln>
        </p:spPr>
        <p:txBody>
          <a:bodyPr spcFirstLastPara="1" wrap="square" lIns="91425" tIns="45700" rIns="91425" bIns="45700" anchor="t" anchorCtr="0">
            <a:normAutofit/>
          </a:bodyPr>
          <a:lstStyle/>
          <a:p>
            <a:pPr marL="457200" lvl="0" indent="-342900" algn="l" rtl="0">
              <a:lnSpc>
                <a:spcPct val="95000"/>
              </a:lnSpc>
              <a:spcBef>
                <a:spcPts val="0"/>
              </a:spcBef>
              <a:spcAft>
                <a:spcPts val="0"/>
              </a:spcAft>
              <a:buSzPts val="1800"/>
              <a:buFont typeface="Century Schoolbook"/>
              <a:buChar char="●"/>
            </a:pPr>
            <a:r>
              <a:rPr lang="en-US"/>
              <a:t>Reinforce performance expectations and engagement strategies to maintain responsiveness.</a:t>
            </a:r>
            <a:endParaRPr/>
          </a:p>
        </p:txBody>
      </p:sp>
      <p:sp>
        <p:nvSpPr>
          <p:cNvPr id="178" name="Google Shape;178;p23"/>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2</a:t>
            </a:r>
            <a:endParaRPr/>
          </a:p>
        </p:txBody>
      </p:sp>
      <p:sp>
        <p:nvSpPr>
          <p:cNvPr id="179" name="Google Shape;179;p23"/>
          <p:cNvSpPr txBox="1">
            <a:spLocks noGrp="1"/>
          </p:cNvSpPr>
          <p:nvPr>
            <p:ph type="body" idx="1"/>
          </p:nvPr>
        </p:nvSpPr>
        <p:spPr>
          <a:xfrm>
            <a:off x="1261875" y="2703350"/>
            <a:ext cx="8595300" cy="11727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endParaRPr/>
          </a:p>
          <a:p>
            <a:pPr marL="457200" lvl="0" indent="-342900" algn="l" rtl="0">
              <a:lnSpc>
                <a:spcPct val="95000"/>
              </a:lnSpc>
              <a:spcBef>
                <a:spcPts val="0"/>
              </a:spcBef>
              <a:spcAft>
                <a:spcPts val="0"/>
              </a:spcAft>
              <a:buSzPts val="1800"/>
              <a:buFont typeface="Century Schoolbook"/>
              <a:buChar char="●"/>
            </a:pPr>
            <a:r>
              <a:rPr lang="en-US"/>
              <a:t>Reinforce accountability by setting clear performance expectations for engagement during low-volume periods.</a:t>
            </a:r>
            <a:endParaRPr/>
          </a:p>
        </p:txBody>
      </p:sp>
      <p:sp>
        <p:nvSpPr>
          <p:cNvPr id="180" name="Google Shape;180;p23"/>
          <p:cNvSpPr txBox="1"/>
          <p:nvPr/>
        </p:nvSpPr>
        <p:spPr>
          <a:xfrm>
            <a:off x="1039875" y="3695088"/>
            <a:ext cx="9039300" cy="447900"/>
          </a:xfrm>
          <a:prstGeom prst="rect">
            <a:avLst/>
          </a:prstGeom>
          <a:noFill/>
          <a:ln>
            <a:noFill/>
          </a:ln>
        </p:spPr>
        <p:txBody>
          <a:bodyPr spcFirstLastPara="1" wrap="square" lIns="91425" tIns="91425" rIns="91425" bIns="91425" anchor="t" anchorCtr="0">
            <a:spAutoFit/>
          </a:bodyPr>
          <a:lstStyle/>
          <a:p>
            <a:pPr marL="914400" lvl="1" indent="-342900" algn="l" rtl="0">
              <a:lnSpc>
                <a:spcPct val="95000"/>
              </a:lnSpc>
              <a:spcBef>
                <a:spcPts val="0"/>
              </a:spcBef>
              <a:spcAft>
                <a:spcPts val="0"/>
              </a:spcAft>
              <a:buClr>
                <a:schemeClr val="accent1"/>
              </a:buClr>
              <a:buSzPts val="1800"/>
              <a:buFont typeface="Noto Sans Symbols"/>
              <a:buChar char="○"/>
            </a:pPr>
            <a:r>
              <a:rPr lang="en-US" sz="1600">
                <a:solidFill>
                  <a:srgbClr val="262626"/>
                </a:solidFill>
                <a:latin typeface="Century Schoolbook"/>
                <a:ea typeface="Century Schoolbook"/>
                <a:cs typeface="Century Schoolbook"/>
                <a:sym typeface="Century Schoolbook"/>
              </a:rPr>
              <a:t>Could take form as minimum response times or target answer rates. </a:t>
            </a:r>
            <a:endParaRPr sz="1800">
              <a:solidFill>
                <a:schemeClr val="dk1"/>
              </a:solidFill>
              <a:latin typeface="Century Schoolbook"/>
              <a:ea typeface="Century Schoolbook"/>
              <a:cs typeface="Century Schoolbook"/>
              <a:sym typeface="Century Schoolbook"/>
            </a:endParaRPr>
          </a:p>
        </p:txBody>
      </p:sp>
      <p:sp>
        <p:nvSpPr>
          <p:cNvPr id="181" name="Google Shape;181;p23"/>
          <p:cNvSpPr txBox="1"/>
          <p:nvPr/>
        </p:nvSpPr>
        <p:spPr>
          <a:xfrm>
            <a:off x="1039875" y="4142988"/>
            <a:ext cx="9039300" cy="681900"/>
          </a:xfrm>
          <a:prstGeom prst="rect">
            <a:avLst/>
          </a:prstGeom>
          <a:noFill/>
          <a:ln>
            <a:noFill/>
          </a:ln>
        </p:spPr>
        <p:txBody>
          <a:bodyPr spcFirstLastPara="1" wrap="square" lIns="91425" tIns="91425" rIns="91425" bIns="91425" anchor="t" anchorCtr="0">
            <a:spAutoFit/>
          </a:bodyPr>
          <a:lstStyle/>
          <a:p>
            <a:pPr marL="914400" lvl="1" indent="-342900" algn="l" rtl="0">
              <a:lnSpc>
                <a:spcPct val="95000"/>
              </a:lnSpc>
              <a:spcBef>
                <a:spcPts val="0"/>
              </a:spcBef>
              <a:spcAft>
                <a:spcPts val="0"/>
              </a:spcAft>
              <a:buClr>
                <a:schemeClr val="accent1"/>
              </a:buClr>
              <a:buSzPts val="1800"/>
              <a:buFont typeface="Noto Sans Symbols"/>
              <a:buChar char="○"/>
            </a:pPr>
            <a:r>
              <a:rPr lang="en-US" sz="1600">
                <a:solidFill>
                  <a:srgbClr val="262626"/>
                </a:solidFill>
                <a:latin typeface="Century Schoolbook"/>
                <a:ea typeface="Century Schoolbook"/>
                <a:cs typeface="Century Schoolbook"/>
                <a:sym typeface="Century Schoolbook"/>
              </a:rPr>
              <a:t>Offer performance feedback or quick refreshers to agents who show slower response patterns during off-peak hours.</a:t>
            </a:r>
            <a:endParaRPr sz="1800">
              <a:solidFill>
                <a:schemeClr val="dk1"/>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4"/>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sz="3500"/>
              <a:t>Understanding Call Spikes Is Key to Doing More with Less</a:t>
            </a:r>
            <a:endParaRPr sz="3500"/>
          </a:p>
        </p:txBody>
      </p:sp>
      <p:sp>
        <p:nvSpPr>
          <p:cNvPr id="187" name="Google Shape;187;p24"/>
          <p:cNvSpPr txBox="1">
            <a:spLocks noGrp="1"/>
          </p:cNvSpPr>
          <p:nvPr>
            <p:ph type="body" idx="1"/>
          </p:nvPr>
        </p:nvSpPr>
        <p:spPr>
          <a:xfrm>
            <a:off x="1261875" y="1828800"/>
            <a:ext cx="8595300" cy="677100"/>
          </a:xfrm>
          <a:prstGeom prst="rect">
            <a:avLst/>
          </a:prstGeom>
          <a:noFill/>
          <a:ln>
            <a:noFill/>
          </a:ln>
        </p:spPr>
        <p:txBody>
          <a:bodyPr spcFirstLastPara="1" wrap="square" lIns="91425" tIns="45700" rIns="91425" bIns="45700" anchor="t" anchorCtr="0">
            <a:normAutofit/>
          </a:bodyPr>
          <a:lstStyle/>
          <a:p>
            <a:pPr marL="457200" lvl="0" indent="-342900" algn="l" rtl="0">
              <a:spcBef>
                <a:spcPts val="0"/>
              </a:spcBef>
              <a:spcAft>
                <a:spcPts val="0"/>
              </a:spcAft>
              <a:buSzPts val="1800"/>
              <a:buFont typeface="Century Schoolbook"/>
              <a:buChar char="•"/>
            </a:pPr>
            <a:r>
              <a:rPr lang="en-US"/>
              <a:t>Legal aid already operates on thin budgets, and shifting policies and a volatile economy make grants and donations unpredictable</a:t>
            </a:r>
            <a:endParaRPr/>
          </a:p>
        </p:txBody>
      </p:sp>
      <p:sp>
        <p:nvSpPr>
          <p:cNvPr id="188" name="Google Shape;188;p24"/>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3</a:t>
            </a:r>
            <a:endParaRPr/>
          </a:p>
        </p:txBody>
      </p:sp>
      <p:sp>
        <p:nvSpPr>
          <p:cNvPr id="189" name="Google Shape;189;p24"/>
          <p:cNvSpPr txBox="1">
            <a:spLocks noGrp="1"/>
          </p:cNvSpPr>
          <p:nvPr>
            <p:ph type="body" idx="1"/>
          </p:nvPr>
        </p:nvSpPr>
        <p:spPr>
          <a:xfrm>
            <a:off x="1261875" y="2816844"/>
            <a:ext cx="8595300" cy="677100"/>
          </a:xfrm>
          <a:prstGeom prst="rect">
            <a:avLst/>
          </a:prstGeom>
          <a:noFill/>
          <a:ln>
            <a:noFill/>
          </a:ln>
        </p:spPr>
        <p:txBody>
          <a:bodyPr spcFirstLastPara="1" wrap="square" lIns="91425" tIns="45700" rIns="91425" bIns="45700" anchor="t" anchorCtr="0">
            <a:normAutofit/>
          </a:bodyPr>
          <a:lstStyle/>
          <a:p>
            <a:pPr marL="457200" lvl="0" indent="-342900" algn="l" rtl="0">
              <a:spcBef>
                <a:spcPts val="0"/>
              </a:spcBef>
              <a:spcAft>
                <a:spcPts val="0"/>
              </a:spcAft>
              <a:buSzPts val="1800"/>
              <a:buFont typeface="Century Schoolbook"/>
              <a:buChar char="•"/>
            </a:pPr>
            <a:r>
              <a:rPr lang="en-US"/>
              <a:t>Call volumes often exceed capacity—many people seeking help can’t get through or face long wait times</a:t>
            </a:r>
            <a:endParaRPr/>
          </a:p>
        </p:txBody>
      </p:sp>
      <p:sp>
        <p:nvSpPr>
          <p:cNvPr id="190" name="Google Shape;190;p24"/>
          <p:cNvSpPr txBox="1">
            <a:spLocks noGrp="1"/>
          </p:cNvSpPr>
          <p:nvPr>
            <p:ph type="body" idx="1"/>
          </p:nvPr>
        </p:nvSpPr>
        <p:spPr>
          <a:xfrm>
            <a:off x="1261875" y="3921744"/>
            <a:ext cx="8595300" cy="6771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Font typeface="Century Schoolbook"/>
              <a:buChar char="•"/>
            </a:pPr>
            <a:r>
              <a:rPr lang="en-US"/>
              <a:t>Demand likely does not rise evenly; it likely spikes at specific times—certain days, weeks, or policy moments see surges while others stay quiet</a:t>
            </a:r>
            <a:endParaRPr/>
          </a:p>
        </p:txBody>
      </p:sp>
      <p:sp>
        <p:nvSpPr>
          <p:cNvPr id="191" name="Google Shape;191;p24"/>
          <p:cNvSpPr txBox="1">
            <a:spLocks noGrp="1"/>
          </p:cNvSpPr>
          <p:nvPr>
            <p:ph type="body" idx="1"/>
          </p:nvPr>
        </p:nvSpPr>
        <p:spPr>
          <a:xfrm>
            <a:off x="1261875" y="5004706"/>
            <a:ext cx="8595300" cy="6771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Font typeface="Century Schoolbook"/>
              <a:buChar char="•"/>
            </a:pPr>
            <a:r>
              <a:rPr lang="en-US"/>
              <a:t>By understanding and anticipating these spikes, resources can be allocated when they’re needed most—helping the organization serve more clients without increasing costs</a:t>
            </a:r>
            <a:endParaRPr/>
          </a:p>
          <a:p>
            <a:pPr marL="45720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1261872" y="336515"/>
            <a:ext cx="9692700" cy="1325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sz="3500"/>
              <a:t>Call volumes spike in January, drop off in summer and December</a:t>
            </a:r>
            <a:endParaRPr sz="3500"/>
          </a:p>
        </p:txBody>
      </p:sp>
      <p:sp>
        <p:nvSpPr>
          <p:cNvPr id="197" name="Google Shape;197;p25"/>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3</a:t>
            </a:r>
            <a:endParaRPr/>
          </a:p>
        </p:txBody>
      </p:sp>
      <p:pic>
        <p:nvPicPr>
          <p:cNvPr id="198" name="Google Shape;198;p25" title="Screen Shot 2025-10-13 at 3.35.52 PM.png"/>
          <p:cNvPicPr preferRelativeResize="0"/>
          <p:nvPr/>
        </p:nvPicPr>
        <p:blipFill>
          <a:blip r:embed="rId3">
            <a:alphaModFix/>
          </a:blip>
          <a:stretch>
            <a:fillRect/>
          </a:stretch>
        </p:blipFill>
        <p:spPr>
          <a:xfrm>
            <a:off x="2617325" y="1902373"/>
            <a:ext cx="6981801" cy="4056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6"/>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400"/>
              <a:buFont typeface="Century Schoolbook"/>
              <a:buNone/>
            </a:pPr>
            <a:r>
              <a:rPr lang="en-US" sz="3400"/>
              <a:t>Smarter, seasonally aligned staffing can help legal aid meet demand without increasing costs</a:t>
            </a:r>
            <a:endParaRPr sz="3400"/>
          </a:p>
        </p:txBody>
      </p:sp>
      <p:sp>
        <p:nvSpPr>
          <p:cNvPr id="204" name="Google Shape;204;p26"/>
          <p:cNvSpPr txBox="1">
            <a:spLocks noGrp="1"/>
          </p:cNvSpPr>
          <p:nvPr>
            <p:ph type="body" idx="1"/>
          </p:nvPr>
        </p:nvSpPr>
        <p:spPr>
          <a:xfrm>
            <a:off x="1261875" y="1828800"/>
            <a:ext cx="8595300" cy="1248600"/>
          </a:xfrm>
          <a:prstGeom prst="rect">
            <a:avLst/>
          </a:prstGeom>
          <a:noFill/>
          <a:ln>
            <a:noFill/>
          </a:ln>
        </p:spPr>
        <p:txBody>
          <a:bodyPr spcFirstLastPara="1" wrap="square" lIns="91425" tIns="45700" rIns="91425" bIns="45700" anchor="t" anchorCtr="0">
            <a:noAutofit/>
          </a:bodyPr>
          <a:lstStyle/>
          <a:p>
            <a:pPr marL="457200" lvl="0" indent="-320040" algn="l" rtl="0">
              <a:lnSpc>
                <a:spcPct val="95000"/>
              </a:lnSpc>
              <a:spcBef>
                <a:spcPts val="0"/>
              </a:spcBef>
              <a:spcAft>
                <a:spcPts val="0"/>
              </a:spcAft>
              <a:buSzPts val="1440"/>
              <a:buChar char="•"/>
            </a:pPr>
            <a:r>
              <a:rPr lang="en-US" b="1"/>
              <a:t>Adjust staffing to match seasonal demand:</a:t>
            </a:r>
            <a:endParaRPr b="1"/>
          </a:p>
          <a:p>
            <a:pPr marL="457200" lvl="0" indent="0" algn="l" rtl="0">
              <a:lnSpc>
                <a:spcPct val="95000"/>
              </a:lnSpc>
              <a:spcBef>
                <a:spcPts val="0"/>
              </a:spcBef>
              <a:spcAft>
                <a:spcPts val="0"/>
              </a:spcAft>
              <a:buNone/>
            </a:pPr>
            <a:r>
              <a:rPr lang="en-US"/>
              <a:t>Increase staff during new-year spikes using temporary hires or flexible schedules, and scale back during quieter summer and holiday periods.</a:t>
            </a:r>
            <a:endParaRPr/>
          </a:p>
          <a:p>
            <a:pPr marL="457200" lvl="0" indent="0" algn="l" rtl="0">
              <a:lnSpc>
                <a:spcPct val="95000"/>
              </a:lnSpc>
              <a:spcBef>
                <a:spcPts val="0"/>
              </a:spcBef>
              <a:spcAft>
                <a:spcPts val="0"/>
              </a:spcAft>
              <a:buNone/>
            </a:pPr>
            <a:endParaRPr sz="1600"/>
          </a:p>
        </p:txBody>
      </p:sp>
      <p:sp>
        <p:nvSpPr>
          <p:cNvPr id="205" name="Google Shape;205;p26"/>
          <p:cNvSpPr txBox="1">
            <a:spLocks noGrp="1"/>
          </p:cNvSpPr>
          <p:nvPr>
            <p:ph type="body" idx="1"/>
          </p:nvPr>
        </p:nvSpPr>
        <p:spPr>
          <a:xfrm>
            <a:off x="62650" y="6380750"/>
            <a:ext cx="2468700" cy="414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Recommendation 3</a:t>
            </a:r>
            <a:endParaRPr/>
          </a:p>
        </p:txBody>
      </p:sp>
      <p:sp>
        <p:nvSpPr>
          <p:cNvPr id="206" name="Google Shape;206;p26"/>
          <p:cNvSpPr txBox="1">
            <a:spLocks noGrp="1"/>
          </p:cNvSpPr>
          <p:nvPr>
            <p:ph type="body" idx="1"/>
          </p:nvPr>
        </p:nvSpPr>
        <p:spPr>
          <a:xfrm>
            <a:off x="1261875" y="3139712"/>
            <a:ext cx="8595300" cy="1248600"/>
          </a:xfrm>
          <a:prstGeom prst="rect">
            <a:avLst/>
          </a:prstGeom>
          <a:noFill/>
          <a:ln>
            <a:noFill/>
          </a:ln>
        </p:spPr>
        <p:txBody>
          <a:bodyPr spcFirstLastPara="1" wrap="square" lIns="91425" tIns="45700" rIns="91425" bIns="45700" anchor="t" anchorCtr="0">
            <a:noAutofit/>
          </a:bodyPr>
          <a:lstStyle/>
          <a:p>
            <a:pPr marL="457200" lvl="0" indent="-320040" algn="l" rtl="0">
              <a:lnSpc>
                <a:spcPct val="95000"/>
              </a:lnSpc>
              <a:spcBef>
                <a:spcPts val="0"/>
              </a:spcBef>
              <a:spcAft>
                <a:spcPts val="0"/>
              </a:spcAft>
              <a:buSzPts val="1440"/>
              <a:buChar char="•"/>
            </a:pPr>
            <a:r>
              <a:rPr lang="en-US" b="1"/>
              <a:t>Use AI and chatbots for routine calls:</a:t>
            </a:r>
            <a:endParaRPr b="1"/>
          </a:p>
          <a:p>
            <a:pPr marL="457200" lvl="0" indent="0" algn="l" rtl="0">
              <a:lnSpc>
                <a:spcPct val="95000"/>
              </a:lnSpc>
              <a:spcBef>
                <a:spcPts val="0"/>
              </a:spcBef>
              <a:spcAft>
                <a:spcPts val="0"/>
              </a:spcAft>
              <a:buNone/>
            </a:pPr>
            <a:r>
              <a:rPr lang="en-US"/>
              <a:t>Automate FAQs and triage during peak times so human staff can focus on complex cases.</a:t>
            </a:r>
            <a:endParaRPr/>
          </a:p>
        </p:txBody>
      </p:sp>
      <p:sp>
        <p:nvSpPr>
          <p:cNvPr id="207" name="Google Shape;207;p26"/>
          <p:cNvSpPr txBox="1">
            <a:spLocks noGrp="1"/>
          </p:cNvSpPr>
          <p:nvPr>
            <p:ph type="body" idx="1"/>
          </p:nvPr>
        </p:nvSpPr>
        <p:spPr>
          <a:xfrm>
            <a:off x="1261875" y="4526264"/>
            <a:ext cx="8595300" cy="1248600"/>
          </a:xfrm>
          <a:prstGeom prst="rect">
            <a:avLst/>
          </a:prstGeom>
          <a:noFill/>
          <a:ln>
            <a:noFill/>
          </a:ln>
        </p:spPr>
        <p:txBody>
          <a:bodyPr spcFirstLastPara="1" wrap="square" lIns="91425" tIns="45700" rIns="91425" bIns="45700" anchor="t" anchorCtr="0">
            <a:noAutofit/>
          </a:bodyPr>
          <a:lstStyle/>
          <a:p>
            <a:pPr marL="457200" lvl="0" indent="-320040" algn="l" rtl="0">
              <a:lnSpc>
                <a:spcPct val="95000"/>
              </a:lnSpc>
              <a:spcBef>
                <a:spcPts val="0"/>
              </a:spcBef>
              <a:spcAft>
                <a:spcPts val="0"/>
              </a:spcAft>
              <a:buSzPts val="1440"/>
              <a:buChar char="•"/>
            </a:pPr>
            <a:r>
              <a:rPr lang="en-US" b="1"/>
              <a:t>Anticipate common issues before peak season:</a:t>
            </a:r>
            <a:endParaRPr b="1"/>
          </a:p>
          <a:p>
            <a:pPr marL="457200" lvl="0" indent="0" algn="l" rtl="0">
              <a:lnSpc>
                <a:spcPct val="95000"/>
              </a:lnSpc>
              <a:spcBef>
                <a:spcPts val="0"/>
              </a:spcBef>
              <a:spcAft>
                <a:spcPts val="0"/>
              </a:spcAft>
              <a:buNone/>
            </a:pPr>
            <a:r>
              <a:rPr lang="en-US"/>
              <a:t>Analyze frequent summer call topics to create self-help guides, FAQs, or short workshops that reduce call volume.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Next Steps</a:t>
            </a:r>
            <a:endParaRPr/>
          </a:p>
        </p:txBody>
      </p:sp>
      <p:sp>
        <p:nvSpPr>
          <p:cNvPr id="213" name="Google Shape;213;p27"/>
          <p:cNvSpPr txBox="1">
            <a:spLocks noGrp="1"/>
          </p:cNvSpPr>
          <p:nvPr>
            <p:ph type="body" idx="1"/>
          </p:nvPr>
        </p:nvSpPr>
        <p:spPr>
          <a:xfrm>
            <a:off x="1188075" y="1999563"/>
            <a:ext cx="8595300" cy="737400"/>
          </a:xfrm>
          <a:prstGeom prst="rect">
            <a:avLst/>
          </a:prstGeom>
          <a:noFill/>
          <a:ln>
            <a:noFill/>
          </a:ln>
        </p:spPr>
        <p:txBody>
          <a:bodyPr spcFirstLastPara="1" wrap="square" lIns="91425" tIns="45700" rIns="91425" bIns="45700" anchor="t" anchorCtr="0">
            <a:normAutofit/>
          </a:bodyPr>
          <a:lstStyle/>
          <a:p>
            <a:pPr marL="457200" lvl="0" indent="-320040" algn="l" rtl="0">
              <a:spcBef>
                <a:spcPts val="0"/>
              </a:spcBef>
              <a:spcAft>
                <a:spcPts val="0"/>
              </a:spcAft>
              <a:buSzPts val="1440"/>
              <a:buChar char="●"/>
            </a:pPr>
            <a:r>
              <a:rPr lang="en-US"/>
              <a:t>Explore some of the variability seen in peak call times and days by filtering (see appendix) and translate into recommendations.</a:t>
            </a:r>
            <a:endParaRPr/>
          </a:p>
        </p:txBody>
      </p:sp>
      <p:sp>
        <p:nvSpPr>
          <p:cNvPr id="214" name="Google Shape;214;p27"/>
          <p:cNvSpPr txBox="1">
            <a:spLocks noGrp="1"/>
          </p:cNvSpPr>
          <p:nvPr>
            <p:ph type="body" idx="1"/>
          </p:nvPr>
        </p:nvSpPr>
        <p:spPr>
          <a:xfrm>
            <a:off x="1188075" y="2909583"/>
            <a:ext cx="8595300" cy="447900"/>
          </a:xfrm>
          <a:prstGeom prst="rect">
            <a:avLst/>
          </a:prstGeom>
          <a:noFill/>
          <a:ln>
            <a:noFill/>
          </a:ln>
        </p:spPr>
        <p:txBody>
          <a:bodyPr spcFirstLastPara="1" wrap="square" lIns="91425" tIns="45700" rIns="91425" bIns="45700" anchor="t" anchorCtr="0">
            <a:normAutofit/>
          </a:bodyPr>
          <a:lstStyle/>
          <a:p>
            <a:pPr marL="457200" lvl="0" indent="-320040" algn="l" rtl="0">
              <a:spcBef>
                <a:spcPts val="1600"/>
              </a:spcBef>
              <a:spcAft>
                <a:spcPts val="0"/>
              </a:spcAft>
              <a:buSzPts val="1440"/>
              <a:buChar char="●"/>
            </a:pPr>
            <a:r>
              <a:rPr lang="en-US" dirty="0"/>
              <a:t>Determine the best way to go about redistributing call times. </a:t>
            </a:r>
            <a:endParaRPr dirty="0"/>
          </a:p>
        </p:txBody>
      </p:sp>
      <p:sp>
        <p:nvSpPr>
          <p:cNvPr id="215" name="Google Shape;215;p27"/>
          <p:cNvSpPr txBox="1">
            <a:spLocks noGrp="1"/>
          </p:cNvSpPr>
          <p:nvPr>
            <p:ph type="body" idx="1"/>
          </p:nvPr>
        </p:nvSpPr>
        <p:spPr>
          <a:xfrm>
            <a:off x="1188075" y="4743757"/>
            <a:ext cx="8595300" cy="1063200"/>
          </a:xfrm>
          <a:prstGeom prst="rect">
            <a:avLst/>
          </a:prstGeom>
          <a:noFill/>
          <a:ln>
            <a:noFill/>
          </a:ln>
        </p:spPr>
        <p:txBody>
          <a:bodyPr spcFirstLastPara="1" wrap="square" lIns="91425" tIns="45700" rIns="91425" bIns="45700" anchor="t" anchorCtr="0">
            <a:normAutofit/>
          </a:bodyPr>
          <a:lstStyle/>
          <a:p>
            <a:pPr marL="457200" lvl="0" indent="-320040" algn="l" rtl="0">
              <a:spcBef>
                <a:spcPts val="1600"/>
              </a:spcBef>
              <a:spcAft>
                <a:spcPts val="0"/>
              </a:spcAft>
              <a:buSzPts val="1440"/>
              <a:buChar char="●"/>
            </a:pPr>
            <a:r>
              <a:rPr lang="en-US"/>
              <a:t>Consider political trends.</a:t>
            </a:r>
            <a:endParaRPr/>
          </a:p>
          <a:p>
            <a:pPr marL="914400" lvl="1" indent="-342900" algn="l" rtl="0">
              <a:spcBef>
                <a:spcPts val="1600"/>
              </a:spcBef>
              <a:spcAft>
                <a:spcPts val="0"/>
              </a:spcAft>
              <a:buSzPts val="1800"/>
              <a:buChar char="○"/>
            </a:pPr>
            <a:r>
              <a:rPr lang="en-US"/>
              <a:t>Mapping trends onto past years to see if we can attribute increased volume to recent policy landscape.</a:t>
            </a:r>
            <a:endParaRPr/>
          </a:p>
        </p:txBody>
      </p:sp>
      <p:sp>
        <p:nvSpPr>
          <p:cNvPr id="216" name="Google Shape;216;p27"/>
          <p:cNvSpPr txBox="1">
            <a:spLocks noGrp="1"/>
          </p:cNvSpPr>
          <p:nvPr>
            <p:ph type="body" idx="1"/>
          </p:nvPr>
        </p:nvSpPr>
        <p:spPr>
          <a:xfrm>
            <a:off x="1218007" y="3658508"/>
            <a:ext cx="8595300" cy="4479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Font typeface="Century Schoolbook"/>
              <a:buChar char="●"/>
            </a:pPr>
            <a:r>
              <a:rPr lang="en-US" dirty="0"/>
              <a:t>Drill down further to see if the call volume trend observed above is uniform across all menu types or if specific menu options follow unique trends and thus require different solutions/recommendations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New Metric Ideas</a:t>
            </a:r>
            <a:endParaRPr/>
          </a:p>
        </p:txBody>
      </p:sp>
      <p:graphicFrame>
        <p:nvGraphicFramePr>
          <p:cNvPr id="222" name="Google Shape;222;p28"/>
          <p:cNvGraphicFramePr/>
          <p:nvPr/>
        </p:nvGraphicFramePr>
        <p:xfrm>
          <a:off x="885650" y="1691313"/>
          <a:ext cx="9314025" cy="4936570"/>
        </p:xfrm>
        <a:graphic>
          <a:graphicData uri="http://schemas.openxmlformats.org/drawingml/2006/table">
            <a:tbl>
              <a:tblPr>
                <a:noFill/>
                <a:tableStyleId>{6C9D9FBE-4DD0-4057-A236-DEB60894E719}</a:tableStyleId>
              </a:tblPr>
              <a:tblGrid>
                <a:gridCol w="3104675">
                  <a:extLst>
                    <a:ext uri="{9D8B030D-6E8A-4147-A177-3AD203B41FA5}">
                      <a16:colId xmlns:a16="http://schemas.microsoft.com/office/drawing/2014/main" val="20000"/>
                    </a:ext>
                  </a:extLst>
                </a:gridCol>
                <a:gridCol w="3104675">
                  <a:extLst>
                    <a:ext uri="{9D8B030D-6E8A-4147-A177-3AD203B41FA5}">
                      <a16:colId xmlns:a16="http://schemas.microsoft.com/office/drawing/2014/main" val="20001"/>
                    </a:ext>
                  </a:extLst>
                </a:gridCol>
                <a:gridCol w="3104675">
                  <a:extLst>
                    <a:ext uri="{9D8B030D-6E8A-4147-A177-3AD203B41FA5}">
                      <a16:colId xmlns:a16="http://schemas.microsoft.com/office/drawing/2014/main" val="20002"/>
                    </a:ext>
                  </a:extLst>
                </a:gridCol>
              </a:tblGrid>
              <a:tr h="481600">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Potential Metric</a:t>
                      </a:r>
                      <a:endParaRPr>
                        <a:solidFill>
                          <a:schemeClr val="dk1"/>
                        </a:solidFill>
                        <a:latin typeface="Century Schoolbook"/>
                        <a:ea typeface="Century Schoolbook"/>
                        <a:cs typeface="Century Schoolbook"/>
                        <a:sym typeface="Century Schoolbook"/>
                      </a:endParaRPr>
                    </a:p>
                  </a:txBody>
                  <a:tcPr marL="91425" marR="91425" marT="91425" marB="91425">
                    <a:lnL w="9525" cap="flat" cmpd="sng">
                      <a:solidFill>
                        <a:schemeClr val="accent6"/>
                      </a:solidFill>
                      <a:prstDash val="solid"/>
                      <a:round/>
                      <a:headEnd type="none" w="sm" len="sm"/>
                      <a:tailEnd type="none" w="sm" len="sm"/>
                    </a:lnL>
                    <a:lnR w="9525" cap="flat" cmpd="sng">
                      <a:solidFill>
                        <a:schemeClr val="accent6"/>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What it Measures</a:t>
                      </a:r>
                      <a:endParaRPr>
                        <a:solidFill>
                          <a:schemeClr val="dk1"/>
                        </a:solidFill>
                        <a:latin typeface="Century Schoolbook"/>
                        <a:ea typeface="Century Schoolbook"/>
                        <a:cs typeface="Century Schoolbook"/>
                        <a:sym typeface="Century Schoolbook"/>
                      </a:endParaRPr>
                    </a:p>
                  </a:txBody>
                  <a:tcPr marL="91425" marR="91425" marT="91425" marB="91425">
                    <a:lnL w="9525" cap="flat" cmpd="sng">
                      <a:solidFill>
                        <a:schemeClr val="accent6"/>
                      </a:solidFill>
                      <a:prstDash val="solid"/>
                      <a:round/>
                      <a:headEnd type="none" w="sm" len="sm"/>
                      <a:tailEnd type="none" w="sm" len="sm"/>
                    </a:lnL>
                    <a:lnR w="9525" cap="flat" cmpd="sng">
                      <a:solidFill>
                        <a:schemeClr val="accent6"/>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Why it Matters</a:t>
                      </a:r>
                      <a:endParaRPr>
                        <a:solidFill>
                          <a:schemeClr val="dk1"/>
                        </a:solidFill>
                        <a:latin typeface="Century Schoolbook"/>
                        <a:ea typeface="Century Schoolbook"/>
                        <a:cs typeface="Century Schoolbook"/>
                        <a:sym typeface="Century Schoolbook"/>
                      </a:endParaRPr>
                    </a:p>
                  </a:txBody>
                  <a:tcPr marL="91425" marR="91425" marT="91425" marB="91425">
                    <a:lnL w="9525" cap="flat" cmpd="sng">
                      <a:solidFill>
                        <a:schemeClr val="accent6"/>
                      </a:solidFill>
                      <a:prstDash val="solid"/>
                      <a:round/>
                      <a:headEnd type="none" w="sm" len="sm"/>
                      <a:tailEnd type="none" w="sm" len="sm"/>
                    </a:lnL>
                    <a:lnR w="9525" cap="flat" cmpd="sng">
                      <a:solidFill>
                        <a:schemeClr val="accent6"/>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1518975">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Time spent talking to agent</a:t>
                      </a:r>
                      <a:endParaRPr>
                        <a:solidFill>
                          <a:schemeClr val="dk1"/>
                        </a:solidFill>
                        <a:latin typeface="Century Schoolbook"/>
                        <a:ea typeface="Century Schoolbook"/>
                        <a:cs typeface="Century Schoolbook"/>
                        <a:sym typeface="Century Schoolbook"/>
                      </a:endParaRPr>
                    </a:p>
                  </a:txBody>
                  <a:tcPr marL="91425" marR="91425" marT="91425" marB="91425">
                    <a:lnT w="9525" cap="flat" cmpd="sng">
                      <a:solidFill>
                        <a:schemeClr val="accent6"/>
                      </a:solidFill>
                      <a:prstDash val="solid"/>
                      <a:round/>
                      <a:headEnd type="none" w="sm" len="sm"/>
                      <a:tailEnd type="none" w="sm" len="sm"/>
                    </a:lnT>
                  </a:tcPr>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Within each call, how much time is spent actually talking to a person (agent) instead of going through menus or voicemails.</a:t>
                      </a:r>
                      <a:endParaRPr>
                        <a:solidFill>
                          <a:schemeClr val="dk1"/>
                        </a:solidFill>
                        <a:latin typeface="Century Schoolbook"/>
                        <a:ea typeface="Century Schoolbook"/>
                        <a:cs typeface="Century Schoolbook"/>
                        <a:sym typeface="Century Schoolbook"/>
                      </a:endParaRPr>
                    </a:p>
                  </a:txBody>
                  <a:tcPr marL="91425" marR="91425" marT="91425" marB="91425">
                    <a:lnT w="9525" cap="flat" cmpd="sng">
                      <a:solidFill>
                        <a:schemeClr val="accent6"/>
                      </a:solidFill>
                      <a:prstDash val="solid"/>
                      <a:round/>
                      <a:headEnd type="none" w="sm" len="sm"/>
                      <a:tailEnd type="none" w="sm" len="sm"/>
                    </a:lnT>
                  </a:tcPr>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Can use this to determine the percent of a call that is spent talking to an agent vs. going through menus/voicemails (as a measure of call success) to plot against time or different user journeys.</a:t>
                      </a:r>
                      <a:endParaRPr>
                        <a:solidFill>
                          <a:schemeClr val="dk1"/>
                        </a:solidFill>
                        <a:latin typeface="Century Schoolbook"/>
                        <a:ea typeface="Century Schoolbook"/>
                        <a:cs typeface="Century Schoolbook"/>
                        <a:sym typeface="Century Schoolbook"/>
                      </a:endParaRPr>
                    </a:p>
                  </a:txBody>
                  <a:tcPr marL="91425" marR="91425" marT="91425" marB="91425">
                    <a:lnT w="9525" cap="flat" cmpd="sng">
                      <a:solidFill>
                        <a:schemeClr val="accent6"/>
                      </a:solidFill>
                      <a:prstDash val="solid"/>
                      <a:round/>
                      <a:headEnd type="none" w="sm" len="sm"/>
                      <a:tailEnd type="none" w="sm" len="sm"/>
                    </a:lnT>
                  </a:tcPr>
                </a:tc>
                <a:extLst>
                  <a:ext uri="{0D108BD9-81ED-4DB2-BD59-A6C34878D82A}">
                    <a16:rowId xmlns:a16="http://schemas.microsoft.com/office/drawing/2014/main" val="10001"/>
                  </a:ext>
                </a:extLst>
              </a:tr>
              <a:tr h="1518975">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Agent Performance</a:t>
                      </a:r>
                      <a:endParaRPr>
                        <a:solidFill>
                          <a:schemeClr val="dk1"/>
                        </a:solidFill>
                        <a:latin typeface="Century Schoolbook"/>
                        <a:ea typeface="Century Schoolbook"/>
                        <a:cs typeface="Century Schoolbook"/>
                        <a:sym typeface="Century Schoolbook"/>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Measures how effectively customer service agents handle their responsibilities, including number of successful customer interactions.</a:t>
                      </a:r>
                      <a:endParaRPr>
                        <a:solidFill>
                          <a:schemeClr val="dk1"/>
                        </a:solidFill>
                        <a:latin typeface="Century Schoolbook"/>
                        <a:ea typeface="Century Schoolbook"/>
                        <a:cs typeface="Century Schoolbook"/>
                        <a:sym typeface="Century Schoolbook"/>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High agent performance directly impacts operational efficiency. Monitoring this metric helps identify training needs and improve overall service quality and quantity.</a:t>
                      </a:r>
                      <a:endParaRPr>
                        <a:solidFill>
                          <a:schemeClr val="dk1"/>
                        </a:solidFill>
                        <a:latin typeface="Century Schoolbook"/>
                        <a:ea typeface="Century Schoolbook"/>
                        <a:cs typeface="Century Schoolbook"/>
                        <a:sym typeface="Century Schoolbook"/>
                      </a:endParaRPr>
                    </a:p>
                  </a:txBody>
                  <a:tcPr marL="91425" marR="91425" marT="91425" marB="91425"/>
                </a:tc>
                <a:extLst>
                  <a:ext uri="{0D108BD9-81ED-4DB2-BD59-A6C34878D82A}">
                    <a16:rowId xmlns:a16="http://schemas.microsoft.com/office/drawing/2014/main" val="10002"/>
                  </a:ext>
                </a:extLst>
              </a:tr>
              <a:tr h="1259625">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Queue Wait Time</a:t>
                      </a:r>
                      <a:endParaRPr>
                        <a:solidFill>
                          <a:schemeClr val="dk1"/>
                        </a:solidFill>
                        <a:latin typeface="Century Schoolbook"/>
                        <a:ea typeface="Century Schoolbook"/>
                        <a:cs typeface="Century Schoolbook"/>
                        <a:sym typeface="Century Schoolbook"/>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Measures the average amount of time a caller spends waiting in a queue before being connected to an agent.</a:t>
                      </a:r>
                      <a:endParaRPr>
                        <a:solidFill>
                          <a:schemeClr val="dk1"/>
                        </a:solidFill>
                        <a:latin typeface="Century Schoolbook"/>
                        <a:ea typeface="Century Schoolbook"/>
                        <a:cs typeface="Century Schoolbook"/>
                        <a:sym typeface="Century Schoolbook"/>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Century Schoolbook"/>
                          <a:ea typeface="Century Schoolbook"/>
                          <a:cs typeface="Century Schoolbook"/>
                          <a:sym typeface="Century Schoolbook"/>
                        </a:rPr>
                        <a:t>Longer wait times indicate bottlenecks or staffing inefficiencies that directly impact customer satisfaction and overall system performance.</a:t>
                      </a:r>
                      <a:endParaRPr>
                        <a:solidFill>
                          <a:schemeClr val="dk1"/>
                        </a:solidFill>
                        <a:latin typeface="Century Schoolbook"/>
                        <a:ea typeface="Century Schoolbook"/>
                        <a:cs typeface="Century Schoolbook"/>
                        <a:sym typeface="Century Schoolbook"/>
                      </a:endParaRPr>
                    </a:p>
                  </a:txBody>
                  <a:tcPr marL="91425" marR="91425" marT="91425" marB="91425"/>
                </a:tc>
                <a:extLst>
                  <a:ext uri="{0D108BD9-81ED-4DB2-BD59-A6C34878D82A}">
                    <a16:rowId xmlns:a16="http://schemas.microsoft.com/office/drawing/2014/main" val="10003"/>
                  </a:ext>
                </a:extLst>
              </a:tr>
            </a:tbl>
          </a:graphicData>
        </a:graphic>
      </p:graphicFrame>
      <p:pic>
        <p:nvPicPr>
          <p:cNvPr id="223" name="Google Shape;223;p28" title="Screenshot 2025-10-08 at 6.47.39 PM.png"/>
          <p:cNvPicPr preferRelativeResize="0"/>
          <p:nvPr/>
        </p:nvPicPr>
        <p:blipFill>
          <a:blip r:embed="rId3">
            <a:alphaModFix/>
          </a:blip>
          <a:stretch>
            <a:fillRect/>
          </a:stretch>
        </p:blipFill>
        <p:spPr>
          <a:xfrm>
            <a:off x="2657675" y="5275275"/>
            <a:ext cx="1104100" cy="1076250"/>
          </a:xfrm>
          <a:prstGeom prst="rect">
            <a:avLst/>
          </a:prstGeom>
          <a:noFill/>
          <a:ln>
            <a:noFill/>
          </a:ln>
        </p:spPr>
      </p:pic>
      <p:pic>
        <p:nvPicPr>
          <p:cNvPr id="224" name="Google Shape;224;p28" title="istockphoto-1031786258-612x612.jpg"/>
          <p:cNvPicPr preferRelativeResize="0"/>
          <p:nvPr/>
        </p:nvPicPr>
        <p:blipFill>
          <a:blip r:embed="rId4">
            <a:alphaModFix/>
          </a:blip>
          <a:stretch>
            <a:fillRect/>
          </a:stretch>
        </p:blipFill>
        <p:spPr>
          <a:xfrm>
            <a:off x="2657675" y="2509350"/>
            <a:ext cx="1104100" cy="1104100"/>
          </a:xfrm>
          <a:prstGeom prst="rect">
            <a:avLst/>
          </a:prstGeom>
          <a:noFill/>
          <a:ln>
            <a:noFill/>
          </a:ln>
        </p:spPr>
      </p:pic>
      <p:pic>
        <p:nvPicPr>
          <p:cNvPr id="225" name="Google Shape;225;p28" title="Screenshot 2025-10-08 at 6.49.39 PM.png"/>
          <p:cNvPicPr preferRelativeResize="0"/>
          <p:nvPr/>
        </p:nvPicPr>
        <p:blipFill>
          <a:blip r:embed="rId5">
            <a:alphaModFix/>
          </a:blip>
          <a:stretch>
            <a:fillRect/>
          </a:stretch>
        </p:blipFill>
        <p:spPr>
          <a:xfrm>
            <a:off x="2657675" y="3933513"/>
            <a:ext cx="1104100" cy="10762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9"/>
          <p:cNvSpPr txBox="1">
            <a:spLocks noGrp="1"/>
          </p:cNvSpPr>
          <p:nvPr>
            <p:ph type="title"/>
          </p:nvPr>
        </p:nvSpPr>
        <p:spPr>
          <a:xfrm>
            <a:off x="1261872" y="365760"/>
            <a:ext cx="9692640" cy="13255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Schoolbook"/>
              <a:buNone/>
            </a:pPr>
            <a:r>
              <a:rPr lang="en-US"/>
              <a:t>Appendix</a:t>
            </a:r>
            <a:endParaRPr/>
          </a:p>
        </p:txBody>
      </p:sp>
      <p:sp>
        <p:nvSpPr>
          <p:cNvPr id="231" name="Google Shape;231;p29"/>
          <p:cNvSpPr txBox="1">
            <a:spLocks noGrp="1"/>
          </p:cNvSpPr>
          <p:nvPr>
            <p:ph type="body" idx="1"/>
          </p:nvPr>
        </p:nvSpPr>
        <p:spPr>
          <a:xfrm>
            <a:off x="1261872" y="1828800"/>
            <a:ext cx="8595360" cy="4351337"/>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None/>
            </a:pPr>
            <a:r>
              <a:rPr lang="en-US"/>
              <a:t>Some interesting trends which we haven’t (yet) developed into findings/recommendations can be seen on the appendix page of the Power BI.</a:t>
            </a:r>
            <a:endParaRPr/>
          </a:p>
        </p:txBody>
      </p:sp>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1549</Words>
  <Application>Microsoft Office PowerPoint</Application>
  <PresentationFormat>Widescreen</PresentationFormat>
  <Paragraphs>111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Noto Sans Symbols</vt:lpstr>
      <vt:lpstr>Century Schoolbook</vt:lpstr>
      <vt:lpstr>View</vt:lpstr>
      <vt:lpstr>Time Trends Findings</vt:lpstr>
      <vt:lpstr>Recommendations</vt:lpstr>
      <vt:lpstr>Call volumes peak in the morning, as well as towards the beginning of the week</vt:lpstr>
      <vt:lpstr>Call volumes, activities per call, and durations tend to be higher in the morning and lower in the afternoon</vt:lpstr>
      <vt:lpstr>Instructing users to call at 8 a.m. may overwhelm system and diminish service quality </vt:lpstr>
      <vt:lpstr>Note about Callbacks</vt:lpstr>
      <vt:lpstr>Customer leave rates remain steady despite lower call volume and consistent staffing.</vt:lpstr>
      <vt:lpstr>The agent-to-customer leave ratio remains consistent.</vt:lpstr>
      <vt:lpstr>While the number of agents per hour remains consistent.</vt:lpstr>
      <vt:lpstr>Improve agent responsiveness to prevent customer drop-offs during low call volume.</vt:lpstr>
      <vt:lpstr>Understanding Call Spikes Is Key to Doing More with Less</vt:lpstr>
      <vt:lpstr>Call volumes spike in January, drop off in summer and December</vt:lpstr>
      <vt:lpstr>Smarter, seasonally aligned staffing can help legal aid meet demand without increasing costs</vt:lpstr>
      <vt:lpstr>Next Steps</vt:lpstr>
      <vt:lpstr>New Metric Ideas</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 Maria Schaffner</cp:lastModifiedBy>
  <cp:revision>2</cp:revision>
  <dcterms:modified xsi:type="dcterms:W3CDTF">2025-10-14T00:48:06Z</dcterms:modified>
</cp:coreProperties>
</file>