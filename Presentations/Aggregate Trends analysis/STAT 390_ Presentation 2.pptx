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2"/>
  </p:notesMasterIdLst>
  <p:sldIdLst>
    <p:sldId id="256" r:id="rId2"/>
    <p:sldId id="257" r:id="rId3"/>
    <p:sldId id="279" r:id="rId4"/>
    <p:sldId id="268" r:id="rId5"/>
    <p:sldId id="280" r:id="rId6"/>
    <p:sldId id="260" r:id="rId7"/>
    <p:sldId id="278" r:id="rId8"/>
    <p:sldId id="261" r:id="rId9"/>
    <p:sldId id="264" r:id="rId10"/>
    <p:sldId id="274" r:id="rId11"/>
    <p:sldId id="270" r:id="rId12"/>
    <p:sldId id="275" r:id="rId13"/>
    <p:sldId id="277" r:id="rId14"/>
    <p:sldId id="273" r:id="rId15"/>
    <p:sldId id="272" r:id="rId16"/>
    <p:sldId id="271" r:id="rId17"/>
    <p:sldId id="265" r:id="rId18"/>
    <p:sldId id="269" r:id="rId19"/>
    <p:sldId id="266" r:id="rId20"/>
    <p:sldId id="267" r:id="rId21"/>
  </p:sldIdLst>
  <p:sldSz cx="9144000" cy="5143500" type="screen16x9"/>
  <p:notesSz cx="6858000" cy="9144000"/>
  <p:embeddedFontLst>
    <p:embeddedFont>
      <p:font typeface="Calibri" panose="020F0502020204030204" pitchFamily="34" charset="0"/>
      <p:regular r:id="rId23"/>
      <p:bold r:id="rId24"/>
      <p:italic r:id="rId25"/>
      <p:boldItalic r:id="rId26"/>
    </p:embeddedFont>
    <p:embeddedFont>
      <p:font typeface="Inter ExtraLight" panose="02000503000000020004" pitchFamily="2" charset="0"/>
      <p:regular r:id="rId27"/>
      <p:bold r:id="rId28"/>
      <p:italic r:id="rId29"/>
      <p:boldItalic r:id="rId30"/>
    </p:embeddedFont>
    <p:embeddedFont>
      <p:font typeface="Inter Light" panose="02000503000000020004" pitchFamily="2" charset="0"/>
      <p:regular r:id="rId31"/>
      <p:bold r:id="rId32"/>
      <p:italic r:id="rId33"/>
      <p:boldItalic r:id="rId34"/>
    </p:embeddedFont>
    <p:embeddedFont>
      <p:font typeface="Work Sans" pitchFamily="2" charset="77"/>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8DCD217-A333-4A4C-BDEC-B61EDD4A7F11}">
          <p14:sldIdLst>
            <p14:sldId id="256"/>
            <p14:sldId id="257"/>
          </p14:sldIdLst>
        </p14:section>
        <p14:section name="Redirection" id="{3D5DFBAB-F6A6-2E46-B563-3E203EC6C843}">
          <p14:sldIdLst>
            <p14:sldId id="279"/>
            <p14:sldId id="268"/>
            <p14:sldId id="280"/>
            <p14:sldId id="260"/>
            <p14:sldId id="278"/>
            <p14:sldId id="261"/>
            <p14:sldId id="264"/>
          </p14:sldIdLst>
        </p14:section>
        <p14:section name="Submenus" id="{0D5C58A9-ECEF-F649-9A68-56668114531B}">
          <p14:sldIdLst>
            <p14:sldId id="274"/>
            <p14:sldId id="270"/>
            <p14:sldId id="275"/>
            <p14:sldId id="277"/>
            <p14:sldId id="273"/>
            <p14:sldId id="272"/>
            <p14:sldId id="271"/>
          </p14:sldIdLst>
        </p14:section>
        <p14:section name="Appendix" id="{A10444E2-34EF-7041-BAF4-55E90CA90B97}">
          <p14:sldIdLst>
            <p14:sldId id="265"/>
            <p14:sldId id="269"/>
            <p14:sldId id="266"/>
            <p14:sldId id="267"/>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331D"/>
    <a:srgbClr val="FF0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A755A6-B47B-4042-9023-60BE72BBBC95}" v="5274" dt="2025-10-22T18:50:46.037"/>
    <p1510:client id="{872464D5-12B8-2445-AD1C-2D44592A1F44}" v="650" dt="2025-10-22T21:44:16.850"/>
    <p1510:client id="{F19D17B7-6359-1744-BA92-55B244BD5D4A}" v="118" dt="2025-10-22T21:55:31.972"/>
  </p1510:revLst>
</p1510:revInfo>
</file>

<file path=ppt/tableStyles.xml><?xml version="1.0" encoding="utf-8"?>
<a:tblStyleLst xmlns:a="http://schemas.openxmlformats.org/drawingml/2006/main" def="{6AF84130-64B9-4C7C-AFEA-9C0B167ED9B3}">
  <a:tblStyle styleId="{6AF84130-64B9-4C7C-AFEA-9C0B167ED9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6AEEE9-706B-C947-B4C5-EE0513293247}" type="doc">
      <dgm:prSet loTypeId="urn:microsoft.com/office/officeart/2005/8/layout/process1" loCatId="" qsTypeId="urn:microsoft.com/office/officeart/2005/8/quickstyle/simple1" qsCatId="simple" csTypeId="urn:microsoft.com/office/officeart/2005/8/colors/accent3_1" csCatId="accent3" phldr="1"/>
      <dgm:spPr/>
    </dgm:pt>
    <dgm:pt modelId="{22B5B600-57BB-A542-AD30-8AB182339D5F}">
      <dgm:prSet phldrT="[Text]" custT="1"/>
      <dgm:spPr>
        <a:solidFill>
          <a:srgbClr val="11331D"/>
        </a:solidFill>
        <a:ln>
          <a:solidFill>
            <a:srgbClr val="11331D"/>
          </a:solidFill>
        </a:ln>
      </dgm:spPr>
      <dgm:t>
        <a:bodyPr/>
        <a:lstStyle/>
        <a:p>
          <a:r>
            <a:rPr lang="en-US" sz="1000" b="1">
              <a:solidFill>
                <a:schemeClr val="bg1"/>
              </a:solidFill>
              <a:latin typeface="Calibri" panose="020F0502020204030204" pitchFamily="34" charset="0"/>
              <a:cs typeface="Calibri" panose="020F0502020204030204" pitchFamily="34" charset="0"/>
            </a:rPr>
            <a:t>Called number </a:t>
          </a:r>
          <a:r>
            <a:rPr lang="en-US" sz="1000">
              <a:solidFill>
                <a:schemeClr val="bg1"/>
              </a:solidFill>
              <a:latin typeface="Calibri" panose="020F0502020204030204" pitchFamily="34" charset="0"/>
              <a:cs typeface="Calibri" panose="020F0502020204030204" pitchFamily="34" charset="0"/>
            </a:rPr>
            <a:t>=  1312296300,  Front Desk </a:t>
          </a:r>
        </a:p>
      </dgm:t>
    </dgm:pt>
    <dgm:pt modelId="{293633D4-1C14-B141-8C6E-6B240AC381DE}" type="parTrans" cxnId="{9136856B-5CC0-9544-9FDD-1CAAF86C0B0D}">
      <dgm:prSet/>
      <dgm:spPr/>
      <dgm:t>
        <a:bodyPr/>
        <a:lstStyle/>
        <a:p>
          <a:endParaRPr lang="en-US"/>
        </a:p>
      </dgm:t>
    </dgm:pt>
    <dgm:pt modelId="{D5FAAC8E-0E4D-844C-8E86-9FC9AF8B89EE}" type="sibTrans" cxnId="{9136856B-5CC0-9544-9FDD-1CAAF86C0B0D}">
      <dgm:prSet/>
      <dgm:spPr>
        <a:solidFill>
          <a:srgbClr val="11331D"/>
        </a:solidFill>
        <a:ln>
          <a:solidFill>
            <a:srgbClr val="11331D"/>
          </a:solidFill>
        </a:ln>
      </dgm:spPr>
      <dgm:t>
        <a:bodyPr/>
        <a:lstStyle/>
        <a:p>
          <a:endParaRPr lang="en-US"/>
        </a:p>
      </dgm:t>
    </dgm:pt>
    <dgm:pt modelId="{5BC803C0-AE17-FB47-97B2-B7DC6B6712BF}">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Direction</a:t>
          </a:r>
          <a:r>
            <a:rPr lang="en-US" sz="1000">
              <a:latin typeface="Calibri" panose="020F0502020204030204" pitchFamily="34" charset="0"/>
              <a:cs typeface="Calibri" panose="020F0502020204030204" pitchFamily="34" charset="0"/>
            </a:rPr>
            <a:t> = Terminating</a:t>
          </a:r>
        </a:p>
      </dgm:t>
    </dgm:pt>
    <dgm:pt modelId="{8D198BEC-AEB7-7E47-B507-99C53A9D2FBD}" type="parTrans" cxnId="{8A5C20D7-E2FC-B149-991A-695F7AF5C251}">
      <dgm:prSet/>
      <dgm:spPr/>
      <dgm:t>
        <a:bodyPr/>
        <a:lstStyle/>
        <a:p>
          <a:endParaRPr lang="en-US"/>
        </a:p>
      </dgm:t>
    </dgm:pt>
    <dgm:pt modelId="{ACAC48DB-127C-874C-8B71-94D276415524}" type="sibTrans" cxnId="{8A5C20D7-E2FC-B149-991A-695F7AF5C251}">
      <dgm:prSet/>
      <dgm:spPr>
        <a:solidFill>
          <a:srgbClr val="11331D"/>
        </a:solidFill>
      </dgm:spPr>
      <dgm:t>
        <a:bodyPr/>
        <a:lstStyle/>
        <a:p>
          <a:endParaRPr lang="en-US"/>
        </a:p>
      </dgm:t>
    </dgm:pt>
    <dgm:pt modelId="{E4667852-E776-7043-981D-6B3742A2B843}">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Original reason </a:t>
          </a:r>
          <a:r>
            <a:rPr lang="en-US" sz="1000">
              <a:latin typeface="Calibri" panose="020F0502020204030204" pitchFamily="34" charset="0"/>
              <a:cs typeface="Calibri" panose="020F0502020204030204" pitchFamily="34" charset="0"/>
            </a:rPr>
            <a:t>= No Answer  </a:t>
          </a:r>
        </a:p>
      </dgm:t>
    </dgm:pt>
    <dgm:pt modelId="{4401BCD7-5E3B-CD4B-AF99-3BCE08D4F5DE}" type="parTrans" cxnId="{E2BA864E-0BAB-CF4C-9BC8-95B08B39E0E2}">
      <dgm:prSet/>
      <dgm:spPr/>
      <dgm:t>
        <a:bodyPr/>
        <a:lstStyle/>
        <a:p>
          <a:endParaRPr lang="en-US"/>
        </a:p>
      </dgm:t>
    </dgm:pt>
    <dgm:pt modelId="{D9097CC8-9A97-7541-9CF4-AB7480697625}" type="sibTrans" cxnId="{E2BA864E-0BAB-CF4C-9BC8-95B08B39E0E2}">
      <dgm:prSet/>
      <dgm:spPr/>
      <dgm:t>
        <a:bodyPr/>
        <a:lstStyle/>
        <a:p>
          <a:endParaRPr lang="en-US"/>
        </a:p>
      </dgm:t>
    </dgm:pt>
    <dgm:pt modelId="{D586519B-A6B9-8D48-A0EA-0229274D8A99}" type="pres">
      <dgm:prSet presAssocID="{BA6AEEE9-706B-C947-B4C5-EE0513293247}" presName="Name0" presStyleCnt="0">
        <dgm:presLayoutVars>
          <dgm:dir/>
          <dgm:resizeHandles val="exact"/>
        </dgm:presLayoutVars>
      </dgm:prSet>
      <dgm:spPr/>
    </dgm:pt>
    <dgm:pt modelId="{D6196E6F-52D8-4245-B8FB-FDCAB8A9AA87}" type="pres">
      <dgm:prSet presAssocID="{22B5B600-57BB-A542-AD30-8AB182339D5F}" presName="node" presStyleLbl="node1" presStyleIdx="0" presStyleCnt="3" custScaleX="71137" custScaleY="30291">
        <dgm:presLayoutVars>
          <dgm:bulletEnabled val="1"/>
        </dgm:presLayoutVars>
      </dgm:prSet>
      <dgm:spPr/>
    </dgm:pt>
    <dgm:pt modelId="{40CA2B50-D514-F84C-AE4F-3B069CFF4790}" type="pres">
      <dgm:prSet presAssocID="{D5FAAC8E-0E4D-844C-8E86-9FC9AF8B89EE}" presName="sibTrans" presStyleLbl="sibTrans2D1" presStyleIdx="0" presStyleCnt="2"/>
      <dgm:spPr/>
    </dgm:pt>
    <dgm:pt modelId="{9D031B97-8BED-A843-AAC6-AD572757581E}" type="pres">
      <dgm:prSet presAssocID="{D5FAAC8E-0E4D-844C-8E86-9FC9AF8B89EE}" presName="connectorText" presStyleLbl="sibTrans2D1" presStyleIdx="0" presStyleCnt="2"/>
      <dgm:spPr/>
    </dgm:pt>
    <dgm:pt modelId="{8DC596CE-3EE6-344F-9F14-3679B738BD27}" type="pres">
      <dgm:prSet presAssocID="{5BC803C0-AE17-FB47-97B2-B7DC6B6712BF}" presName="node" presStyleLbl="node1" presStyleIdx="1" presStyleCnt="3" custScaleX="50652" custScaleY="30010" custLinFactNeighborX="-1048" custLinFactNeighborY="-489">
        <dgm:presLayoutVars>
          <dgm:bulletEnabled val="1"/>
        </dgm:presLayoutVars>
      </dgm:prSet>
      <dgm:spPr/>
    </dgm:pt>
    <dgm:pt modelId="{761A19FE-8242-F24F-B0C4-5E9487EEECBD}" type="pres">
      <dgm:prSet presAssocID="{ACAC48DB-127C-874C-8B71-94D276415524}" presName="sibTrans" presStyleLbl="sibTrans2D1" presStyleIdx="1" presStyleCnt="2"/>
      <dgm:spPr/>
    </dgm:pt>
    <dgm:pt modelId="{4B8C07CF-B0DA-864C-8AF5-1D395A30E3FE}" type="pres">
      <dgm:prSet presAssocID="{ACAC48DB-127C-874C-8B71-94D276415524}" presName="connectorText" presStyleLbl="sibTrans2D1" presStyleIdx="1" presStyleCnt="2"/>
      <dgm:spPr/>
    </dgm:pt>
    <dgm:pt modelId="{CC526732-2AED-7C48-AF38-C86186EADD21}" type="pres">
      <dgm:prSet presAssocID="{E4667852-E776-7043-981D-6B3742A2B843}" presName="node" presStyleLbl="node1" presStyleIdx="2" presStyleCnt="3" custScaleX="74550" custScaleY="31963" custLinFactNeighborX="8383" custLinFactNeighborY="0">
        <dgm:presLayoutVars>
          <dgm:bulletEnabled val="1"/>
        </dgm:presLayoutVars>
      </dgm:prSet>
      <dgm:spPr/>
    </dgm:pt>
  </dgm:ptLst>
  <dgm:cxnLst>
    <dgm:cxn modelId="{5020771D-A68C-8A45-BFD1-4A3746376CC3}" type="presOf" srcId="{D5FAAC8E-0E4D-844C-8E86-9FC9AF8B89EE}" destId="{9D031B97-8BED-A843-AAC6-AD572757581E}" srcOrd="1" destOrd="0" presId="urn:microsoft.com/office/officeart/2005/8/layout/process1"/>
    <dgm:cxn modelId="{20B55130-8D7C-B549-9B1C-A6FF767A4444}" type="presOf" srcId="{D5FAAC8E-0E4D-844C-8E86-9FC9AF8B89EE}" destId="{40CA2B50-D514-F84C-AE4F-3B069CFF4790}" srcOrd="0" destOrd="0" presId="urn:microsoft.com/office/officeart/2005/8/layout/process1"/>
    <dgm:cxn modelId="{CED73247-DB2E-8C4A-B704-E24F9D443D4A}" type="presOf" srcId="{ACAC48DB-127C-874C-8B71-94D276415524}" destId="{4B8C07CF-B0DA-864C-8AF5-1D395A30E3FE}" srcOrd="1" destOrd="0" presId="urn:microsoft.com/office/officeart/2005/8/layout/process1"/>
    <dgm:cxn modelId="{E2BA864E-0BAB-CF4C-9BC8-95B08B39E0E2}" srcId="{BA6AEEE9-706B-C947-B4C5-EE0513293247}" destId="{E4667852-E776-7043-981D-6B3742A2B843}" srcOrd="2" destOrd="0" parTransId="{4401BCD7-5E3B-CD4B-AF99-3BCE08D4F5DE}" sibTransId="{D9097CC8-9A97-7541-9CF4-AB7480697625}"/>
    <dgm:cxn modelId="{78DD6560-D820-6C4A-A8D4-DE91DB9E998B}" type="presOf" srcId="{ACAC48DB-127C-874C-8B71-94D276415524}" destId="{761A19FE-8242-F24F-B0C4-5E9487EEECBD}" srcOrd="0" destOrd="0" presId="urn:microsoft.com/office/officeart/2005/8/layout/process1"/>
    <dgm:cxn modelId="{9136856B-5CC0-9544-9FDD-1CAAF86C0B0D}" srcId="{BA6AEEE9-706B-C947-B4C5-EE0513293247}" destId="{22B5B600-57BB-A542-AD30-8AB182339D5F}" srcOrd="0" destOrd="0" parTransId="{293633D4-1C14-B141-8C6E-6B240AC381DE}" sibTransId="{D5FAAC8E-0E4D-844C-8E86-9FC9AF8B89EE}"/>
    <dgm:cxn modelId="{332AF1B2-B5D3-B342-A159-EA7720F46C97}" type="presOf" srcId="{BA6AEEE9-706B-C947-B4C5-EE0513293247}" destId="{D586519B-A6B9-8D48-A0EA-0229274D8A99}" srcOrd="0" destOrd="0" presId="urn:microsoft.com/office/officeart/2005/8/layout/process1"/>
    <dgm:cxn modelId="{25BFCBC1-312D-5B40-91EC-814F8DA88191}" type="presOf" srcId="{5BC803C0-AE17-FB47-97B2-B7DC6B6712BF}" destId="{8DC596CE-3EE6-344F-9F14-3679B738BD27}" srcOrd="0" destOrd="0" presId="urn:microsoft.com/office/officeart/2005/8/layout/process1"/>
    <dgm:cxn modelId="{3D02D2C5-4E97-E646-9727-346EDA18C666}" type="presOf" srcId="{E4667852-E776-7043-981D-6B3742A2B843}" destId="{CC526732-2AED-7C48-AF38-C86186EADD21}" srcOrd="0" destOrd="0" presId="urn:microsoft.com/office/officeart/2005/8/layout/process1"/>
    <dgm:cxn modelId="{218BA2D4-F141-9540-A78D-5747BFAFEFC1}" type="presOf" srcId="{22B5B600-57BB-A542-AD30-8AB182339D5F}" destId="{D6196E6F-52D8-4245-B8FB-FDCAB8A9AA87}" srcOrd="0" destOrd="0" presId="urn:microsoft.com/office/officeart/2005/8/layout/process1"/>
    <dgm:cxn modelId="{8A5C20D7-E2FC-B149-991A-695F7AF5C251}" srcId="{BA6AEEE9-706B-C947-B4C5-EE0513293247}" destId="{5BC803C0-AE17-FB47-97B2-B7DC6B6712BF}" srcOrd="1" destOrd="0" parTransId="{8D198BEC-AEB7-7E47-B507-99C53A9D2FBD}" sibTransId="{ACAC48DB-127C-874C-8B71-94D276415524}"/>
    <dgm:cxn modelId="{76BC93B0-1D9B-2F46-921B-106E5B50911F}" type="presParOf" srcId="{D586519B-A6B9-8D48-A0EA-0229274D8A99}" destId="{D6196E6F-52D8-4245-B8FB-FDCAB8A9AA87}" srcOrd="0" destOrd="0" presId="urn:microsoft.com/office/officeart/2005/8/layout/process1"/>
    <dgm:cxn modelId="{00D67194-032A-234F-A5D3-168DA28687F8}" type="presParOf" srcId="{D586519B-A6B9-8D48-A0EA-0229274D8A99}" destId="{40CA2B50-D514-F84C-AE4F-3B069CFF4790}" srcOrd="1" destOrd="0" presId="urn:microsoft.com/office/officeart/2005/8/layout/process1"/>
    <dgm:cxn modelId="{A2C29D09-0DD9-794B-A818-8D3CB6578ACC}" type="presParOf" srcId="{40CA2B50-D514-F84C-AE4F-3B069CFF4790}" destId="{9D031B97-8BED-A843-AAC6-AD572757581E}" srcOrd="0" destOrd="0" presId="urn:microsoft.com/office/officeart/2005/8/layout/process1"/>
    <dgm:cxn modelId="{70B71609-27BF-E548-A654-BB1083B07040}" type="presParOf" srcId="{D586519B-A6B9-8D48-A0EA-0229274D8A99}" destId="{8DC596CE-3EE6-344F-9F14-3679B738BD27}" srcOrd="2" destOrd="0" presId="urn:microsoft.com/office/officeart/2005/8/layout/process1"/>
    <dgm:cxn modelId="{4970A459-1C95-0A47-AD9A-E5E696B2FA9B}" type="presParOf" srcId="{D586519B-A6B9-8D48-A0EA-0229274D8A99}" destId="{761A19FE-8242-F24F-B0C4-5E9487EEECBD}" srcOrd="3" destOrd="0" presId="urn:microsoft.com/office/officeart/2005/8/layout/process1"/>
    <dgm:cxn modelId="{FBE8A13C-9BB4-1642-99DE-46C8B9BF7ABA}" type="presParOf" srcId="{761A19FE-8242-F24F-B0C4-5E9487EEECBD}" destId="{4B8C07CF-B0DA-864C-8AF5-1D395A30E3FE}" srcOrd="0" destOrd="0" presId="urn:microsoft.com/office/officeart/2005/8/layout/process1"/>
    <dgm:cxn modelId="{B109AD46-8F50-8047-B007-D29E4D3CF425}" type="presParOf" srcId="{D586519B-A6B9-8D48-A0EA-0229274D8A99}" destId="{CC526732-2AED-7C48-AF38-C86186EADD21}" srcOrd="4"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BA6AEEE9-706B-C947-B4C5-EE0513293247}" type="doc">
      <dgm:prSet loTypeId="urn:microsoft.com/office/officeart/2005/8/layout/process1" loCatId="" qsTypeId="urn:microsoft.com/office/officeart/2005/8/quickstyle/simple1" qsCatId="simple" csTypeId="urn:microsoft.com/office/officeart/2005/8/colors/accent3_1" csCatId="accent3" phldr="1"/>
      <dgm:spPr/>
    </dgm:pt>
    <dgm:pt modelId="{22B5B600-57BB-A542-AD30-8AB182339D5F}">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Redirecting number </a:t>
          </a:r>
          <a:r>
            <a:rPr lang="en-US" sz="1000">
              <a:latin typeface="Calibri" panose="020F0502020204030204" pitchFamily="34" charset="0"/>
              <a:cs typeface="Calibri" panose="020F0502020204030204" pitchFamily="34" charset="0"/>
            </a:rPr>
            <a:t>=  13123411070, Main Line</a:t>
          </a:r>
        </a:p>
      </dgm:t>
    </dgm:pt>
    <dgm:pt modelId="{293633D4-1C14-B141-8C6E-6B240AC381DE}" type="parTrans" cxnId="{9136856B-5CC0-9544-9FDD-1CAAF86C0B0D}">
      <dgm:prSet/>
      <dgm:spPr/>
      <dgm:t>
        <a:bodyPr/>
        <a:lstStyle/>
        <a:p>
          <a:endParaRPr lang="en-US"/>
        </a:p>
      </dgm:t>
    </dgm:pt>
    <dgm:pt modelId="{D5FAAC8E-0E4D-844C-8E86-9FC9AF8B89EE}" type="sibTrans" cxnId="{9136856B-5CC0-9544-9FDD-1CAAF86C0B0D}">
      <dgm:prSet/>
      <dgm:spPr>
        <a:solidFill>
          <a:srgbClr val="11331D"/>
        </a:solidFill>
        <a:ln>
          <a:solidFill>
            <a:srgbClr val="11331D"/>
          </a:solidFill>
        </a:ln>
      </dgm:spPr>
      <dgm:t>
        <a:bodyPr/>
        <a:lstStyle/>
        <a:p>
          <a:endParaRPr lang="en-US"/>
        </a:p>
      </dgm:t>
    </dgm:pt>
    <dgm:pt modelId="{5BC803C0-AE17-FB47-97B2-B7DC6B6712BF}">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Redirect reason </a:t>
          </a:r>
          <a:r>
            <a:rPr lang="en-US" sz="1000">
              <a:latin typeface="Calibri" panose="020F0502020204030204" pitchFamily="34" charset="0"/>
              <a:cs typeface="Calibri" panose="020F0502020204030204" pitchFamily="34" charset="0"/>
            </a:rPr>
            <a:t>= Follow Me</a:t>
          </a:r>
        </a:p>
      </dgm:t>
    </dgm:pt>
    <dgm:pt modelId="{8D198BEC-AEB7-7E47-B507-99C53A9D2FBD}" type="parTrans" cxnId="{8A5C20D7-E2FC-B149-991A-695F7AF5C251}">
      <dgm:prSet/>
      <dgm:spPr/>
      <dgm:t>
        <a:bodyPr/>
        <a:lstStyle/>
        <a:p>
          <a:endParaRPr lang="en-US"/>
        </a:p>
      </dgm:t>
    </dgm:pt>
    <dgm:pt modelId="{ACAC48DB-127C-874C-8B71-94D276415524}" type="sibTrans" cxnId="{8A5C20D7-E2FC-B149-991A-695F7AF5C251}">
      <dgm:prSet/>
      <dgm:spPr>
        <a:solidFill>
          <a:srgbClr val="11331D"/>
        </a:solidFill>
        <a:ln>
          <a:solidFill>
            <a:srgbClr val="11331D"/>
          </a:solidFill>
        </a:ln>
      </dgm:spPr>
      <dgm:t>
        <a:bodyPr/>
        <a:lstStyle/>
        <a:p>
          <a:endParaRPr lang="en-US"/>
        </a:p>
      </dgm:t>
    </dgm:pt>
    <dgm:pt modelId="{E4667852-E776-7043-981D-6B3742A2B843}">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User type </a:t>
          </a:r>
          <a:r>
            <a:rPr lang="en-US" sz="1000">
              <a:latin typeface="Calibri" panose="020F0502020204030204" pitchFamily="34" charset="0"/>
              <a:cs typeface="Calibri" panose="020F0502020204030204" pitchFamily="34" charset="0"/>
            </a:rPr>
            <a:t>= Virtual line</a:t>
          </a:r>
        </a:p>
      </dgm:t>
    </dgm:pt>
    <dgm:pt modelId="{4401BCD7-5E3B-CD4B-AF99-3BCE08D4F5DE}" type="parTrans" cxnId="{E2BA864E-0BAB-CF4C-9BC8-95B08B39E0E2}">
      <dgm:prSet/>
      <dgm:spPr/>
      <dgm:t>
        <a:bodyPr/>
        <a:lstStyle/>
        <a:p>
          <a:endParaRPr lang="en-US"/>
        </a:p>
      </dgm:t>
    </dgm:pt>
    <dgm:pt modelId="{D9097CC8-9A97-7541-9CF4-AB7480697625}" type="sibTrans" cxnId="{E2BA864E-0BAB-CF4C-9BC8-95B08B39E0E2}">
      <dgm:prSet/>
      <dgm:spPr>
        <a:solidFill>
          <a:srgbClr val="11331D"/>
        </a:solidFill>
        <a:ln>
          <a:solidFill>
            <a:srgbClr val="11331D"/>
          </a:solidFill>
        </a:ln>
      </dgm:spPr>
      <dgm:t>
        <a:bodyPr/>
        <a:lstStyle/>
        <a:p>
          <a:endParaRPr lang="en-US"/>
        </a:p>
      </dgm:t>
    </dgm:pt>
    <dgm:pt modelId="{79290A7A-7D2D-444E-AE0F-CC3342051AF4}">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Related reason </a:t>
          </a:r>
          <a:r>
            <a:rPr lang="en-US" sz="1000">
              <a:latin typeface="Calibri" panose="020F0502020204030204" pitchFamily="34" charset="0"/>
              <a:cs typeface="Calibri" panose="020F0502020204030204" pitchFamily="34" charset="0"/>
            </a:rPr>
            <a:t>= Call Forward No Answer</a:t>
          </a:r>
        </a:p>
      </dgm:t>
    </dgm:pt>
    <dgm:pt modelId="{BBF95989-3978-2748-819F-461C95212874}" type="parTrans" cxnId="{AF6FBECA-68D1-8A47-AAE0-9DD1DF442F35}">
      <dgm:prSet/>
      <dgm:spPr/>
      <dgm:t>
        <a:bodyPr/>
        <a:lstStyle/>
        <a:p>
          <a:endParaRPr lang="en-US"/>
        </a:p>
      </dgm:t>
    </dgm:pt>
    <dgm:pt modelId="{D3FF59D5-F126-8348-93BE-7C917F3B0307}" type="sibTrans" cxnId="{AF6FBECA-68D1-8A47-AAE0-9DD1DF442F35}">
      <dgm:prSet/>
      <dgm:spPr/>
      <dgm:t>
        <a:bodyPr/>
        <a:lstStyle/>
        <a:p>
          <a:endParaRPr lang="en-US"/>
        </a:p>
      </dgm:t>
    </dgm:pt>
    <dgm:pt modelId="{D586519B-A6B9-8D48-A0EA-0229274D8A99}" type="pres">
      <dgm:prSet presAssocID="{BA6AEEE9-706B-C947-B4C5-EE0513293247}" presName="Name0" presStyleCnt="0">
        <dgm:presLayoutVars>
          <dgm:dir/>
          <dgm:resizeHandles val="exact"/>
        </dgm:presLayoutVars>
      </dgm:prSet>
      <dgm:spPr/>
    </dgm:pt>
    <dgm:pt modelId="{D6196E6F-52D8-4245-B8FB-FDCAB8A9AA87}" type="pres">
      <dgm:prSet presAssocID="{22B5B600-57BB-A542-AD30-8AB182339D5F}" presName="node" presStyleLbl="node1" presStyleIdx="0" presStyleCnt="4" custScaleY="50938">
        <dgm:presLayoutVars>
          <dgm:bulletEnabled val="1"/>
        </dgm:presLayoutVars>
      </dgm:prSet>
      <dgm:spPr/>
    </dgm:pt>
    <dgm:pt modelId="{40CA2B50-D514-F84C-AE4F-3B069CFF4790}" type="pres">
      <dgm:prSet presAssocID="{D5FAAC8E-0E4D-844C-8E86-9FC9AF8B89EE}" presName="sibTrans" presStyleLbl="sibTrans2D1" presStyleIdx="0" presStyleCnt="3"/>
      <dgm:spPr/>
    </dgm:pt>
    <dgm:pt modelId="{9D031B97-8BED-A843-AAC6-AD572757581E}" type="pres">
      <dgm:prSet presAssocID="{D5FAAC8E-0E4D-844C-8E86-9FC9AF8B89EE}" presName="connectorText" presStyleLbl="sibTrans2D1" presStyleIdx="0" presStyleCnt="3"/>
      <dgm:spPr/>
    </dgm:pt>
    <dgm:pt modelId="{8DC596CE-3EE6-344F-9F14-3679B738BD27}" type="pres">
      <dgm:prSet presAssocID="{5BC803C0-AE17-FB47-97B2-B7DC6B6712BF}" presName="node" presStyleLbl="node1" presStyleIdx="1" presStyleCnt="4" custScaleY="58891" custLinFactNeighborX="-1809" custLinFactNeighborY="45">
        <dgm:presLayoutVars>
          <dgm:bulletEnabled val="1"/>
        </dgm:presLayoutVars>
      </dgm:prSet>
      <dgm:spPr/>
    </dgm:pt>
    <dgm:pt modelId="{761A19FE-8242-F24F-B0C4-5E9487EEECBD}" type="pres">
      <dgm:prSet presAssocID="{ACAC48DB-127C-874C-8B71-94D276415524}" presName="sibTrans" presStyleLbl="sibTrans2D1" presStyleIdx="1" presStyleCnt="3"/>
      <dgm:spPr/>
    </dgm:pt>
    <dgm:pt modelId="{4B8C07CF-B0DA-864C-8AF5-1D395A30E3FE}" type="pres">
      <dgm:prSet presAssocID="{ACAC48DB-127C-874C-8B71-94D276415524}" presName="connectorText" presStyleLbl="sibTrans2D1" presStyleIdx="1" presStyleCnt="3"/>
      <dgm:spPr/>
    </dgm:pt>
    <dgm:pt modelId="{CC526732-2AED-7C48-AF38-C86186EADD21}" type="pres">
      <dgm:prSet presAssocID="{E4667852-E776-7043-981D-6B3742A2B843}" presName="node" presStyleLbl="node1" presStyleIdx="2" presStyleCnt="4" custScaleY="58981">
        <dgm:presLayoutVars>
          <dgm:bulletEnabled val="1"/>
        </dgm:presLayoutVars>
      </dgm:prSet>
      <dgm:spPr/>
    </dgm:pt>
    <dgm:pt modelId="{ABE05D99-F02B-B148-94BD-89923AF953B5}" type="pres">
      <dgm:prSet presAssocID="{D9097CC8-9A97-7541-9CF4-AB7480697625}" presName="sibTrans" presStyleLbl="sibTrans2D1" presStyleIdx="2" presStyleCnt="3"/>
      <dgm:spPr/>
    </dgm:pt>
    <dgm:pt modelId="{173C06E8-34F8-474C-A3D8-BC392DE50B0C}" type="pres">
      <dgm:prSet presAssocID="{D9097CC8-9A97-7541-9CF4-AB7480697625}" presName="connectorText" presStyleLbl="sibTrans2D1" presStyleIdx="2" presStyleCnt="3"/>
      <dgm:spPr/>
    </dgm:pt>
    <dgm:pt modelId="{8C261876-C757-9E46-8714-1130F80B54C6}" type="pres">
      <dgm:prSet presAssocID="{79290A7A-7D2D-444E-AE0F-CC3342051AF4}" presName="node" presStyleLbl="node1" presStyleIdx="3" presStyleCnt="4" custScaleY="54239">
        <dgm:presLayoutVars>
          <dgm:bulletEnabled val="1"/>
        </dgm:presLayoutVars>
      </dgm:prSet>
      <dgm:spPr/>
    </dgm:pt>
  </dgm:ptLst>
  <dgm:cxnLst>
    <dgm:cxn modelId="{5020771D-A68C-8A45-BFD1-4A3746376CC3}" type="presOf" srcId="{D5FAAC8E-0E4D-844C-8E86-9FC9AF8B89EE}" destId="{9D031B97-8BED-A843-AAC6-AD572757581E}" srcOrd="1" destOrd="0" presId="urn:microsoft.com/office/officeart/2005/8/layout/process1"/>
    <dgm:cxn modelId="{20B55130-8D7C-B549-9B1C-A6FF767A4444}" type="presOf" srcId="{D5FAAC8E-0E4D-844C-8E86-9FC9AF8B89EE}" destId="{40CA2B50-D514-F84C-AE4F-3B069CFF4790}" srcOrd="0" destOrd="0" presId="urn:microsoft.com/office/officeart/2005/8/layout/process1"/>
    <dgm:cxn modelId="{BDAAE135-D45C-8546-9627-7F1DBC80F597}" type="presOf" srcId="{79290A7A-7D2D-444E-AE0F-CC3342051AF4}" destId="{8C261876-C757-9E46-8714-1130F80B54C6}" srcOrd="0" destOrd="0" presId="urn:microsoft.com/office/officeart/2005/8/layout/process1"/>
    <dgm:cxn modelId="{CED73247-DB2E-8C4A-B704-E24F9D443D4A}" type="presOf" srcId="{ACAC48DB-127C-874C-8B71-94D276415524}" destId="{4B8C07CF-B0DA-864C-8AF5-1D395A30E3FE}" srcOrd="1" destOrd="0" presId="urn:microsoft.com/office/officeart/2005/8/layout/process1"/>
    <dgm:cxn modelId="{E2BA864E-0BAB-CF4C-9BC8-95B08B39E0E2}" srcId="{BA6AEEE9-706B-C947-B4C5-EE0513293247}" destId="{E4667852-E776-7043-981D-6B3742A2B843}" srcOrd="2" destOrd="0" parTransId="{4401BCD7-5E3B-CD4B-AF99-3BCE08D4F5DE}" sibTransId="{D9097CC8-9A97-7541-9CF4-AB7480697625}"/>
    <dgm:cxn modelId="{78DD6560-D820-6C4A-A8D4-DE91DB9E998B}" type="presOf" srcId="{ACAC48DB-127C-874C-8B71-94D276415524}" destId="{761A19FE-8242-F24F-B0C4-5E9487EEECBD}" srcOrd="0" destOrd="0" presId="urn:microsoft.com/office/officeart/2005/8/layout/process1"/>
    <dgm:cxn modelId="{A974AA61-E01B-704A-B49F-45DF24E45353}" type="presOf" srcId="{D9097CC8-9A97-7541-9CF4-AB7480697625}" destId="{173C06E8-34F8-474C-A3D8-BC392DE50B0C}" srcOrd="1" destOrd="0" presId="urn:microsoft.com/office/officeart/2005/8/layout/process1"/>
    <dgm:cxn modelId="{9136856B-5CC0-9544-9FDD-1CAAF86C0B0D}" srcId="{BA6AEEE9-706B-C947-B4C5-EE0513293247}" destId="{22B5B600-57BB-A542-AD30-8AB182339D5F}" srcOrd="0" destOrd="0" parTransId="{293633D4-1C14-B141-8C6E-6B240AC381DE}" sibTransId="{D5FAAC8E-0E4D-844C-8E86-9FC9AF8B89EE}"/>
    <dgm:cxn modelId="{3042CC6B-9A5E-7542-AD30-C392E0F7C247}" type="presOf" srcId="{D9097CC8-9A97-7541-9CF4-AB7480697625}" destId="{ABE05D99-F02B-B148-94BD-89923AF953B5}" srcOrd="0" destOrd="0" presId="urn:microsoft.com/office/officeart/2005/8/layout/process1"/>
    <dgm:cxn modelId="{332AF1B2-B5D3-B342-A159-EA7720F46C97}" type="presOf" srcId="{BA6AEEE9-706B-C947-B4C5-EE0513293247}" destId="{D586519B-A6B9-8D48-A0EA-0229274D8A99}" srcOrd="0" destOrd="0" presId="urn:microsoft.com/office/officeart/2005/8/layout/process1"/>
    <dgm:cxn modelId="{25BFCBC1-312D-5B40-91EC-814F8DA88191}" type="presOf" srcId="{5BC803C0-AE17-FB47-97B2-B7DC6B6712BF}" destId="{8DC596CE-3EE6-344F-9F14-3679B738BD27}" srcOrd="0" destOrd="0" presId="urn:microsoft.com/office/officeart/2005/8/layout/process1"/>
    <dgm:cxn modelId="{3D02D2C5-4E97-E646-9727-346EDA18C666}" type="presOf" srcId="{E4667852-E776-7043-981D-6B3742A2B843}" destId="{CC526732-2AED-7C48-AF38-C86186EADD21}" srcOrd="0" destOrd="0" presId="urn:microsoft.com/office/officeart/2005/8/layout/process1"/>
    <dgm:cxn modelId="{AF6FBECA-68D1-8A47-AAE0-9DD1DF442F35}" srcId="{BA6AEEE9-706B-C947-B4C5-EE0513293247}" destId="{79290A7A-7D2D-444E-AE0F-CC3342051AF4}" srcOrd="3" destOrd="0" parTransId="{BBF95989-3978-2748-819F-461C95212874}" sibTransId="{D3FF59D5-F126-8348-93BE-7C917F3B0307}"/>
    <dgm:cxn modelId="{218BA2D4-F141-9540-A78D-5747BFAFEFC1}" type="presOf" srcId="{22B5B600-57BB-A542-AD30-8AB182339D5F}" destId="{D6196E6F-52D8-4245-B8FB-FDCAB8A9AA87}" srcOrd="0" destOrd="0" presId="urn:microsoft.com/office/officeart/2005/8/layout/process1"/>
    <dgm:cxn modelId="{8A5C20D7-E2FC-B149-991A-695F7AF5C251}" srcId="{BA6AEEE9-706B-C947-B4C5-EE0513293247}" destId="{5BC803C0-AE17-FB47-97B2-B7DC6B6712BF}" srcOrd="1" destOrd="0" parTransId="{8D198BEC-AEB7-7E47-B507-99C53A9D2FBD}" sibTransId="{ACAC48DB-127C-874C-8B71-94D276415524}"/>
    <dgm:cxn modelId="{76BC93B0-1D9B-2F46-921B-106E5B50911F}" type="presParOf" srcId="{D586519B-A6B9-8D48-A0EA-0229274D8A99}" destId="{D6196E6F-52D8-4245-B8FB-FDCAB8A9AA87}" srcOrd="0" destOrd="0" presId="urn:microsoft.com/office/officeart/2005/8/layout/process1"/>
    <dgm:cxn modelId="{00D67194-032A-234F-A5D3-168DA28687F8}" type="presParOf" srcId="{D586519B-A6B9-8D48-A0EA-0229274D8A99}" destId="{40CA2B50-D514-F84C-AE4F-3B069CFF4790}" srcOrd="1" destOrd="0" presId="urn:microsoft.com/office/officeart/2005/8/layout/process1"/>
    <dgm:cxn modelId="{A2C29D09-0DD9-794B-A818-8D3CB6578ACC}" type="presParOf" srcId="{40CA2B50-D514-F84C-AE4F-3B069CFF4790}" destId="{9D031B97-8BED-A843-AAC6-AD572757581E}" srcOrd="0" destOrd="0" presId="urn:microsoft.com/office/officeart/2005/8/layout/process1"/>
    <dgm:cxn modelId="{70B71609-27BF-E548-A654-BB1083B07040}" type="presParOf" srcId="{D586519B-A6B9-8D48-A0EA-0229274D8A99}" destId="{8DC596CE-3EE6-344F-9F14-3679B738BD27}" srcOrd="2" destOrd="0" presId="urn:microsoft.com/office/officeart/2005/8/layout/process1"/>
    <dgm:cxn modelId="{4970A459-1C95-0A47-AD9A-E5E696B2FA9B}" type="presParOf" srcId="{D586519B-A6B9-8D48-A0EA-0229274D8A99}" destId="{761A19FE-8242-F24F-B0C4-5E9487EEECBD}" srcOrd="3" destOrd="0" presId="urn:microsoft.com/office/officeart/2005/8/layout/process1"/>
    <dgm:cxn modelId="{FBE8A13C-9BB4-1642-99DE-46C8B9BF7ABA}" type="presParOf" srcId="{761A19FE-8242-F24F-B0C4-5E9487EEECBD}" destId="{4B8C07CF-B0DA-864C-8AF5-1D395A30E3FE}" srcOrd="0" destOrd="0" presId="urn:microsoft.com/office/officeart/2005/8/layout/process1"/>
    <dgm:cxn modelId="{B109AD46-8F50-8047-B007-D29E4D3CF425}" type="presParOf" srcId="{D586519B-A6B9-8D48-A0EA-0229274D8A99}" destId="{CC526732-2AED-7C48-AF38-C86186EADD21}" srcOrd="4" destOrd="0" presId="urn:microsoft.com/office/officeart/2005/8/layout/process1"/>
    <dgm:cxn modelId="{FB1BF1C5-1B26-6C4C-B221-02312A63B6FE}" type="presParOf" srcId="{D586519B-A6B9-8D48-A0EA-0229274D8A99}" destId="{ABE05D99-F02B-B148-94BD-89923AF953B5}" srcOrd="5" destOrd="0" presId="urn:microsoft.com/office/officeart/2005/8/layout/process1"/>
    <dgm:cxn modelId="{82C55A73-0F07-054B-9744-825CC455523B}" type="presParOf" srcId="{ABE05D99-F02B-B148-94BD-89923AF953B5}" destId="{173C06E8-34F8-474C-A3D8-BC392DE50B0C}" srcOrd="0" destOrd="0" presId="urn:microsoft.com/office/officeart/2005/8/layout/process1"/>
    <dgm:cxn modelId="{61FC2390-6F96-2646-A1B1-76D01394D4BF}" type="presParOf" srcId="{D586519B-A6B9-8D48-A0EA-0229274D8A99}" destId="{8C261876-C757-9E46-8714-1130F80B54C6}" srcOrd="6"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BA6AEEE9-706B-C947-B4C5-EE0513293247}" type="doc">
      <dgm:prSet loTypeId="urn:microsoft.com/office/officeart/2005/8/layout/process1" loCatId="" qsTypeId="urn:microsoft.com/office/officeart/2005/8/quickstyle/simple1" qsCatId="simple" csTypeId="urn:microsoft.com/office/officeart/2005/8/colors/accent3_1" csCatId="accent3" phldr="1"/>
      <dgm:spPr/>
    </dgm:pt>
    <dgm:pt modelId="{22B5B600-57BB-A542-AD30-8AB182339D5F}">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User</a:t>
          </a:r>
          <a:r>
            <a:rPr lang="en-US" sz="1000">
              <a:latin typeface="Calibri" panose="020F0502020204030204" pitchFamily="34" charset="0"/>
              <a:cs typeface="Calibri" panose="020F0502020204030204" pitchFamily="34" charset="0"/>
            </a:rPr>
            <a:t> = Ombudsman Intake</a:t>
          </a:r>
        </a:p>
      </dgm:t>
    </dgm:pt>
    <dgm:pt modelId="{293633D4-1C14-B141-8C6E-6B240AC381DE}" type="parTrans" cxnId="{9136856B-5CC0-9544-9FDD-1CAAF86C0B0D}">
      <dgm:prSet/>
      <dgm:spPr/>
      <dgm:t>
        <a:bodyPr/>
        <a:lstStyle/>
        <a:p>
          <a:endParaRPr lang="en-US"/>
        </a:p>
      </dgm:t>
    </dgm:pt>
    <dgm:pt modelId="{D5FAAC8E-0E4D-844C-8E86-9FC9AF8B89EE}" type="sibTrans" cxnId="{9136856B-5CC0-9544-9FDD-1CAAF86C0B0D}">
      <dgm:prSet/>
      <dgm:spPr>
        <a:solidFill>
          <a:srgbClr val="11331D"/>
        </a:solidFill>
      </dgm:spPr>
      <dgm:t>
        <a:bodyPr/>
        <a:lstStyle/>
        <a:p>
          <a:endParaRPr lang="en-US"/>
        </a:p>
      </dgm:t>
    </dgm:pt>
    <dgm:pt modelId="{5BC803C0-AE17-FB47-97B2-B7DC6B6712BF}">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Model </a:t>
          </a:r>
          <a:r>
            <a:rPr lang="en-US" sz="1000">
              <a:latin typeface="Calibri" panose="020F0502020204030204" pitchFamily="34" charset="0"/>
              <a:cs typeface="Calibri" panose="020F0502020204030204" pitchFamily="34" charset="0"/>
            </a:rPr>
            <a:t>= Cisco 8841</a:t>
          </a:r>
        </a:p>
      </dgm:t>
    </dgm:pt>
    <dgm:pt modelId="{8D198BEC-AEB7-7E47-B507-99C53A9D2FBD}" type="parTrans" cxnId="{8A5C20D7-E2FC-B149-991A-695F7AF5C251}">
      <dgm:prSet/>
      <dgm:spPr/>
      <dgm:t>
        <a:bodyPr/>
        <a:lstStyle/>
        <a:p>
          <a:endParaRPr lang="en-US"/>
        </a:p>
      </dgm:t>
    </dgm:pt>
    <dgm:pt modelId="{ACAC48DB-127C-874C-8B71-94D276415524}" type="sibTrans" cxnId="{8A5C20D7-E2FC-B149-991A-695F7AF5C251}">
      <dgm:prSet/>
      <dgm:spPr>
        <a:solidFill>
          <a:srgbClr val="11331D"/>
        </a:solidFill>
        <a:ln>
          <a:solidFill>
            <a:srgbClr val="11331D"/>
          </a:solidFill>
        </a:ln>
      </dgm:spPr>
      <dgm:t>
        <a:bodyPr/>
        <a:lstStyle/>
        <a:p>
          <a:endParaRPr lang="en-US"/>
        </a:p>
      </dgm:t>
    </dgm:pt>
    <dgm:pt modelId="{E4667852-E776-7043-981D-6B3742A2B843}">
      <dgm:prSet phldrT="[Text]" custT="1"/>
      <dgm:spPr>
        <a:solidFill>
          <a:schemeClr val="tx2"/>
        </a:solidFill>
        <a:ln>
          <a:solidFill>
            <a:schemeClr val="tx2"/>
          </a:solidFill>
        </a:ln>
      </dgm:spPr>
      <dgm:t>
        <a:bodyPr/>
        <a:lstStyle/>
        <a:p>
          <a:r>
            <a:rPr lang="en-US" sz="1000" b="1">
              <a:latin typeface="Calibri" panose="020F0502020204030204" pitchFamily="34" charset="0"/>
              <a:cs typeface="Calibri" panose="020F0502020204030204" pitchFamily="34" charset="0"/>
            </a:rPr>
            <a:t>Answered</a:t>
          </a:r>
          <a:r>
            <a:rPr lang="en-US" sz="1000">
              <a:latin typeface="Calibri" panose="020F0502020204030204" pitchFamily="34" charset="0"/>
              <a:cs typeface="Calibri" panose="020F0502020204030204" pitchFamily="34" charset="0"/>
            </a:rPr>
            <a:t> = TRUE</a:t>
          </a:r>
        </a:p>
      </dgm:t>
    </dgm:pt>
    <dgm:pt modelId="{4401BCD7-5E3B-CD4B-AF99-3BCE08D4F5DE}" type="parTrans" cxnId="{E2BA864E-0BAB-CF4C-9BC8-95B08B39E0E2}">
      <dgm:prSet/>
      <dgm:spPr/>
      <dgm:t>
        <a:bodyPr/>
        <a:lstStyle/>
        <a:p>
          <a:endParaRPr lang="en-US"/>
        </a:p>
      </dgm:t>
    </dgm:pt>
    <dgm:pt modelId="{D9097CC8-9A97-7541-9CF4-AB7480697625}" type="sibTrans" cxnId="{E2BA864E-0BAB-CF4C-9BC8-95B08B39E0E2}">
      <dgm:prSet/>
      <dgm:spPr>
        <a:solidFill>
          <a:srgbClr val="11331D"/>
        </a:solidFill>
        <a:ln>
          <a:solidFill>
            <a:srgbClr val="11331D"/>
          </a:solidFill>
        </a:ln>
      </dgm:spPr>
      <dgm:t>
        <a:bodyPr/>
        <a:lstStyle/>
        <a:p>
          <a:endParaRPr lang="en-US"/>
        </a:p>
      </dgm:t>
    </dgm:pt>
    <dgm:pt modelId="{BEEA0565-D662-474B-AD3B-4D368356A856}">
      <dgm:prSet phldrT="[Text]" custT="1"/>
      <dgm:spPr>
        <a:solidFill>
          <a:srgbClr val="11331D"/>
        </a:solidFill>
        <a:ln>
          <a:solidFill>
            <a:srgbClr val="11331D"/>
          </a:solidFill>
        </a:ln>
      </dgm:spPr>
      <dgm:t>
        <a:bodyPr/>
        <a:lstStyle/>
        <a:p>
          <a:r>
            <a:rPr lang="en-US" sz="1000" b="1">
              <a:solidFill>
                <a:schemeClr val="bg1"/>
              </a:solidFill>
              <a:latin typeface="Calibri" panose="020F0502020204030204" pitchFamily="34" charset="0"/>
              <a:cs typeface="Calibri" panose="020F0502020204030204" pitchFamily="34" charset="0"/>
            </a:rPr>
            <a:t>Call outcome </a:t>
          </a:r>
          <a:r>
            <a:rPr lang="en-US" sz="1000">
              <a:solidFill>
                <a:schemeClr val="bg1"/>
              </a:solidFill>
              <a:latin typeface="Calibri" panose="020F0502020204030204" pitchFamily="34" charset="0"/>
              <a:cs typeface="Calibri" panose="020F0502020204030204" pitchFamily="34" charset="0"/>
            </a:rPr>
            <a:t>= Success</a:t>
          </a:r>
        </a:p>
      </dgm:t>
    </dgm:pt>
    <dgm:pt modelId="{B7C262FE-05AE-DD48-B4B0-D39EB359CCA1}" type="parTrans" cxnId="{159DF691-A5E2-904F-B9AA-B976ACE844E4}">
      <dgm:prSet/>
      <dgm:spPr/>
      <dgm:t>
        <a:bodyPr/>
        <a:lstStyle/>
        <a:p>
          <a:endParaRPr lang="en-US"/>
        </a:p>
      </dgm:t>
    </dgm:pt>
    <dgm:pt modelId="{7DEB08E1-A7BD-374E-B950-9F1E33B5EE88}" type="sibTrans" cxnId="{159DF691-A5E2-904F-B9AA-B976ACE844E4}">
      <dgm:prSet/>
      <dgm:spPr/>
      <dgm:t>
        <a:bodyPr/>
        <a:lstStyle/>
        <a:p>
          <a:endParaRPr lang="en-US"/>
        </a:p>
      </dgm:t>
    </dgm:pt>
    <dgm:pt modelId="{D586519B-A6B9-8D48-A0EA-0229274D8A99}" type="pres">
      <dgm:prSet presAssocID="{BA6AEEE9-706B-C947-B4C5-EE0513293247}" presName="Name0" presStyleCnt="0">
        <dgm:presLayoutVars>
          <dgm:dir/>
          <dgm:resizeHandles val="exact"/>
        </dgm:presLayoutVars>
      </dgm:prSet>
      <dgm:spPr/>
    </dgm:pt>
    <dgm:pt modelId="{D6196E6F-52D8-4245-B8FB-FDCAB8A9AA87}" type="pres">
      <dgm:prSet presAssocID="{22B5B600-57BB-A542-AD30-8AB182339D5F}" presName="node" presStyleLbl="node1" presStyleIdx="0" presStyleCnt="4" custScaleY="50938">
        <dgm:presLayoutVars>
          <dgm:bulletEnabled val="1"/>
        </dgm:presLayoutVars>
      </dgm:prSet>
      <dgm:spPr/>
    </dgm:pt>
    <dgm:pt modelId="{40CA2B50-D514-F84C-AE4F-3B069CFF4790}" type="pres">
      <dgm:prSet presAssocID="{D5FAAC8E-0E4D-844C-8E86-9FC9AF8B89EE}" presName="sibTrans" presStyleLbl="sibTrans2D1" presStyleIdx="0" presStyleCnt="3"/>
      <dgm:spPr/>
    </dgm:pt>
    <dgm:pt modelId="{9D031B97-8BED-A843-AAC6-AD572757581E}" type="pres">
      <dgm:prSet presAssocID="{D5FAAC8E-0E4D-844C-8E86-9FC9AF8B89EE}" presName="connectorText" presStyleLbl="sibTrans2D1" presStyleIdx="0" presStyleCnt="3"/>
      <dgm:spPr/>
    </dgm:pt>
    <dgm:pt modelId="{8DC596CE-3EE6-344F-9F14-3679B738BD27}" type="pres">
      <dgm:prSet presAssocID="{5BC803C0-AE17-FB47-97B2-B7DC6B6712BF}" presName="node" presStyleLbl="node1" presStyleIdx="1" presStyleCnt="4" custScaleY="58891" custLinFactNeighborX="-1809" custLinFactNeighborY="45">
        <dgm:presLayoutVars>
          <dgm:bulletEnabled val="1"/>
        </dgm:presLayoutVars>
      </dgm:prSet>
      <dgm:spPr/>
    </dgm:pt>
    <dgm:pt modelId="{761A19FE-8242-F24F-B0C4-5E9487EEECBD}" type="pres">
      <dgm:prSet presAssocID="{ACAC48DB-127C-874C-8B71-94D276415524}" presName="sibTrans" presStyleLbl="sibTrans2D1" presStyleIdx="1" presStyleCnt="3"/>
      <dgm:spPr/>
    </dgm:pt>
    <dgm:pt modelId="{4B8C07CF-B0DA-864C-8AF5-1D395A30E3FE}" type="pres">
      <dgm:prSet presAssocID="{ACAC48DB-127C-874C-8B71-94D276415524}" presName="connectorText" presStyleLbl="sibTrans2D1" presStyleIdx="1" presStyleCnt="3"/>
      <dgm:spPr/>
    </dgm:pt>
    <dgm:pt modelId="{CC526732-2AED-7C48-AF38-C86186EADD21}" type="pres">
      <dgm:prSet presAssocID="{E4667852-E776-7043-981D-6B3742A2B843}" presName="node" presStyleLbl="node1" presStyleIdx="2" presStyleCnt="4" custScaleY="58981">
        <dgm:presLayoutVars>
          <dgm:bulletEnabled val="1"/>
        </dgm:presLayoutVars>
      </dgm:prSet>
      <dgm:spPr/>
    </dgm:pt>
    <dgm:pt modelId="{031723EB-8615-C141-93F0-10E819B0C094}" type="pres">
      <dgm:prSet presAssocID="{D9097CC8-9A97-7541-9CF4-AB7480697625}" presName="sibTrans" presStyleLbl="sibTrans2D1" presStyleIdx="2" presStyleCnt="3"/>
      <dgm:spPr/>
    </dgm:pt>
    <dgm:pt modelId="{674EFFFE-E3E9-E64C-A897-D980C39334FE}" type="pres">
      <dgm:prSet presAssocID="{D9097CC8-9A97-7541-9CF4-AB7480697625}" presName="connectorText" presStyleLbl="sibTrans2D1" presStyleIdx="2" presStyleCnt="3"/>
      <dgm:spPr/>
    </dgm:pt>
    <dgm:pt modelId="{36ADF8B0-7871-0447-9996-9DCE0F83048D}" type="pres">
      <dgm:prSet presAssocID="{BEEA0565-D662-474B-AD3B-4D368356A856}" presName="node" presStyleLbl="node1" presStyleIdx="3" presStyleCnt="4" custScaleY="58594" custLinFactNeighborX="-9342">
        <dgm:presLayoutVars>
          <dgm:bulletEnabled val="1"/>
        </dgm:presLayoutVars>
      </dgm:prSet>
      <dgm:spPr/>
    </dgm:pt>
  </dgm:ptLst>
  <dgm:cxnLst>
    <dgm:cxn modelId="{C9BCCB06-FD0A-7A48-A181-3416738E994C}" type="presOf" srcId="{BEEA0565-D662-474B-AD3B-4D368356A856}" destId="{36ADF8B0-7871-0447-9996-9DCE0F83048D}" srcOrd="0" destOrd="0" presId="urn:microsoft.com/office/officeart/2005/8/layout/process1"/>
    <dgm:cxn modelId="{5020771D-A68C-8A45-BFD1-4A3746376CC3}" type="presOf" srcId="{D5FAAC8E-0E4D-844C-8E86-9FC9AF8B89EE}" destId="{9D031B97-8BED-A843-AAC6-AD572757581E}" srcOrd="1" destOrd="0" presId="urn:microsoft.com/office/officeart/2005/8/layout/process1"/>
    <dgm:cxn modelId="{20B55130-8D7C-B549-9B1C-A6FF767A4444}" type="presOf" srcId="{D5FAAC8E-0E4D-844C-8E86-9FC9AF8B89EE}" destId="{40CA2B50-D514-F84C-AE4F-3B069CFF4790}" srcOrd="0" destOrd="0" presId="urn:microsoft.com/office/officeart/2005/8/layout/process1"/>
    <dgm:cxn modelId="{CED73247-DB2E-8C4A-B704-E24F9D443D4A}" type="presOf" srcId="{ACAC48DB-127C-874C-8B71-94D276415524}" destId="{4B8C07CF-B0DA-864C-8AF5-1D395A30E3FE}" srcOrd="1" destOrd="0" presId="urn:microsoft.com/office/officeart/2005/8/layout/process1"/>
    <dgm:cxn modelId="{E2BA864E-0BAB-CF4C-9BC8-95B08B39E0E2}" srcId="{BA6AEEE9-706B-C947-B4C5-EE0513293247}" destId="{E4667852-E776-7043-981D-6B3742A2B843}" srcOrd="2" destOrd="0" parTransId="{4401BCD7-5E3B-CD4B-AF99-3BCE08D4F5DE}" sibTransId="{D9097CC8-9A97-7541-9CF4-AB7480697625}"/>
    <dgm:cxn modelId="{78DD6560-D820-6C4A-A8D4-DE91DB9E998B}" type="presOf" srcId="{ACAC48DB-127C-874C-8B71-94D276415524}" destId="{761A19FE-8242-F24F-B0C4-5E9487EEECBD}" srcOrd="0" destOrd="0" presId="urn:microsoft.com/office/officeart/2005/8/layout/process1"/>
    <dgm:cxn modelId="{9136856B-5CC0-9544-9FDD-1CAAF86C0B0D}" srcId="{BA6AEEE9-706B-C947-B4C5-EE0513293247}" destId="{22B5B600-57BB-A542-AD30-8AB182339D5F}" srcOrd="0" destOrd="0" parTransId="{293633D4-1C14-B141-8C6E-6B240AC381DE}" sibTransId="{D5FAAC8E-0E4D-844C-8E86-9FC9AF8B89EE}"/>
    <dgm:cxn modelId="{159DF691-A5E2-904F-B9AA-B976ACE844E4}" srcId="{BA6AEEE9-706B-C947-B4C5-EE0513293247}" destId="{BEEA0565-D662-474B-AD3B-4D368356A856}" srcOrd="3" destOrd="0" parTransId="{B7C262FE-05AE-DD48-B4B0-D39EB359CCA1}" sibTransId="{7DEB08E1-A7BD-374E-B950-9F1E33B5EE88}"/>
    <dgm:cxn modelId="{666855A1-CE71-584D-89EF-9872481C71AE}" type="presOf" srcId="{D9097CC8-9A97-7541-9CF4-AB7480697625}" destId="{674EFFFE-E3E9-E64C-A897-D980C39334FE}" srcOrd="1" destOrd="0" presId="urn:microsoft.com/office/officeart/2005/8/layout/process1"/>
    <dgm:cxn modelId="{9888C8AB-DD98-B949-8D5C-E2128555461D}" type="presOf" srcId="{D9097CC8-9A97-7541-9CF4-AB7480697625}" destId="{031723EB-8615-C141-93F0-10E819B0C094}" srcOrd="0" destOrd="0" presId="urn:microsoft.com/office/officeart/2005/8/layout/process1"/>
    <dgm:cxn modelId="{332AF1B2-B5D3-B342-A159-EA7720F46C97}" type="presOf" srcId="{BA6AEEE9-706B-C947-B4C5-EE0513293247}" destId="{D586519B-A6B9-8D48-A0EA-0229274D8A99}" srcOrd="0" destOrd="0" presId="urn:microsoft.com/office/officeart/2005/8/layout/process1"/>
    <dgm:cxn modelId="{25BFCBC1-312D-5B40-91EC-814F8DA88191}" type="presOf" srcId="{5BC803C0-AE17-FB47-97B2-B7DC6B6712BF}" destId="{8DC596CE-3EE6-344F-9F14-3679B738BD27}" srcOrd="0" destOrd="0" presId="urn:microsoft.com/office/officeart/2005/8/layout/process1"/>
    <dgm:cxn modelId="{3D02D2C5-4E97-E646-9727-346EDA18C666}" type="presOf" srcId="{E4667852-E776-7043-981D-6B3742A2B843}" destId="{CC526732-2AED-7C48-AF38-C86186EADD21}" srcOrd="0" destOrd="0" presId="urn:microsoft.com/office/officeart/2005/8/layout/process1"/>
    <dgm:cxn modelId="{218BA2D4-F141-9540-A78D-5747BFAFEFC1}" type="presOf" srcId="{22B5B600-57BB-A542-AD30-8AB182339D5F}" destId="{D6196E6F-52D8-4245-B8FB-FDCAB8A9AA87}" srcOrd="0" destOrd="0" presId="urn:microsoft.com/office/officeart/2005/8/layout/process1"/>
    <dgm:cxn modelId="{8A5C20D7-E2FC-B149-991A-695F7AF5C251}" srcId="{BA6AEEE9-706B-C947-B4C5-EE0513293247}" destId="{5BC803C0-AE17-FB47-97B2-B7DC6B6712BF}" srcOrd="1" destOrd="0" parTransId="{8D198BEC-AEB7-7E47-B507-99C53A9D2FBD}" sibTransId="{ACAC48DB-127C-874C-8B71-94D276415524}"/>
    <dgm:cxn modelId="{76BC93B0-1D9B-2F46-921B-106E5B50911F}" type="presParOf" srcId="{D586519B-A6B9-8D48-A0EA-0229274D8A99}" destId="{D6196E6F-52D8-4245-B8FB-FDCAB8A9AA87}" srcOrd="0" destOrd="0" presId="urn:microsoft.com/office/officeart/2005/8/layout/process1"/>
    <dgm:cxn modelId="{00D67194-032A-234F-A5D3-168DA28687F8}" type="presParOf" srcId="{D586519B-A6B9-8D48-A0EA-0229274D8A99}" destId="{40CA2B50-D514-F84C-AE4F-3B069CFF4790}" srcOrd="1" destOrd="0" presId="urn:microsoft.com/office/officeart/2005/8/layout/process1"/>
    <dgm:cxn modelId="{A2C29D09-0DD9-794B-A818-8D3CB6578ACC}" type="presParOf" srcId="{40CA2B50-D514-F84C-AE4F-3B069CFF4790}" destId="{9D031B97-8BED-A843-AAC6-AD572757581E}" srcOrd="0" destOrd="0" presId="urn:microsoft.com/office/officeart/2005/8/layout/process1"/>
    <dgm:cxn modelId="{70B71609-27BF-E548-A654-BB1083B07040}" type="presParOf" srcId="{D586519B-A6B9-8D48-A0EA-0229274D8A99}" destId="{8DC596CE-3EE6-344F-9F14-3679B738BD27}" srcOrd="2" destOrd="0" presId="urn:microsoft.com/office/officeart/2005/8/layout/process1"/>
    <dgm:cxn modelId="{4970A459-1C95-0A47-AD9A-E5E696B2FA9B}" type="presParOf" srcId="{D586519B-A6B9-8D48-A0EA-0229274D8A99}" destId="{761A19FE-8242-F24F-B0C4-5E9487EEECBD}" srcOrd="3" destOrd="0" presId="urn:microsoft.com/office/officeart/2005/8/layout/process1"/>
    <dgm:cxn modelId="{FBE8A13C-9BB4-1642-99DE-46C8B9BF7ABA}" type="presParOf" srcId="{761A19FE-8242-F24F-B0C4-5E9487EEECBD}" destId="{4B8C07CF-B0DA-864C-8AF5-1D395A30E3FE}" srcOrd="0" destOrd="0" presId="urn:microsoft.com/office/officeart/2005/8/layout/process1"/>
    <dgm:cxn modelId="{B109AD46-8F50-8047-B007-D29E4D3CF425}" type="presParOf" srcId="{D586519B-A6B9-8D48-A0EA-0229274D8A99}" destId="{CC526732-2AED-7C48-AF38-C86186EADD21}" srcOrd="4" destOrd="0" presId="urn:microsoft.com/office/officeart/2005/8/layout/process1"/>
    <dgm:cxn modelId="{77566535-8F49-914F-8A5E-F82DDD202840}" type="presParOf" srcId="{D586519B-A6B9-8D48-A0EA-0229274D8A99}" destId="{031723EB-8615-C141-93F0-10E819B0C094}" srcOrd="5" destOrd="0" presId="urn:microsoft.com/office/officeart/2005/8/layout/process1"/>
    <dgm:cxn modelId="{B53627C6-F7C1-454B-BF11-52CAB4CFADB1}" type="presParOf" srcId="{031723EB-8615-C141-93F0-10E819B0C094}" destId="{674EFFFE-E3E9-E64C-A897-D980C39334FE}" srcOrd="0" destOrd="0" presId="urn:microsoft.com/office/officeart/2005/8/layout/process1"/>
    <dgm:cxn modelId="{E63F82C2-3CC2-A743-ACDB-C84E92688311}" type="presParOf" srcId="{D586519B-A6B9-8D48-A0EA-0229274D8A99}" destId="{36ADF8B0-7871-0447-9996-9DCE0F83048D}" srcOrd="6" destOrd="0" presId="urn:microsoft.com/office/officeart/2005/8/layout/process1"/>
  </dgm:cxnLst>
  <dgm:bg/>
  <dgm:whole/>
  <dgm:extLst>
    <a:ext uri="http://schemas.microsoft.com/office/drawing/2008/diagram">
      <dsp:dataModelExt xmlns:dsp="http://schemas.microsoft.com/office/drawing/2008/diagram" relId="rId1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96E6F-52D8-4245-B8FB-FDCAB8A9AA87}">
      <dsp:nvSpPr>
        <dsp:cNvPr id="0" name=""/>
        <dsp:cNvSpPr/>
      </dsp:nvSpPr>
      <dsp:spPr>
        <a:xfrm>
          <a:off x="448" y="298129"/>
          <a:ext cx="1440325" cy="385234"/>
        </a:xfrm>
        <a:prstGeom prst="roundRect">
          <a:avLst>
            <a:gd name="adj" fmla="val 10000"/>
          </a:avLst>
        </a:prstGeom>
        <a:solidFill>
          <a:srgbClr val="11331D"/>
        </a:solidFill>
        <a:ln w="25400" cap="flat" cmpd="sng" algn="ctr">
          <a:solidFill>
            <a:srgbClr val="11331D"/>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solidFill>
                <a:schemeClr val="bg1"/>
              </a:solidFill>
              <a:latin typeface="Calibri" panose="020F0502020204030204" pitchFamily="34" charset="0"/>
              <a:cs typeface="Calibri" panose="020F0502020204030204" pitchFamily="34" charset="0"/>
            </a:rPr>
            <a:t>Called number </a:t>
          </a:r>
          <a:r>
            <a:rPr lang="en-US" sz="1000" kern="1200">
              <a:solidFill>
                <a:schemeClr val="bg1"/>
              </a:solidFill>
              <a:latin typeface="Calibri" panose="020F0502020204030204" pitchFamily="34" charset="0"/>
              <a:cs typeface="Calibri" panose="020F0502020204030204" pitchFamily="34" charset="0"/>
            </a:rPr>
            <a:t>=  1312296300,  Front Desk </a:t>
          </a:r>
        </a:p>
      </dsp:txBody>
      <dsp:txXfrm>
        <a:off x="11731" y="309412"/>
        <a:ext cx="1417759" cy="362668"/>
      </dsp:txXfrm>
    </dsp:sp>
    <dsp:sp modelId="{40CA2B50-D514-F84C-AE4F-3B069CFF4790}">
      <dsp:nvSpPr>
        <dsp:cNvPr id="0" name=""/>
        <dsp:cNvSpPr/>
      </dsp:nvSpPr>
      <dsp:spPr>
        <a:xfrm rot="21589491">
          <a:off x="1641122" y="236217"/>
          <a:ext cx="424744" cy="502130"/>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641122" y="336838"/>
        <a:ext cx="297321" cy="301278"/>
      </dsp:txXfrm>
    </dsp:sp>
    <dsp:sp modelId="{8DC596CE-3EE6-344F-9F14-3679B738BD27}">
      <dsp:nvSpPr>
        <dsp:cNvPr id="0" name=""/>
        <dsp:cNvSpPr/>
      </dsp:nvSpPr>
      <dsp:spPr>
        <a:xfrm>
          <a:off x="2242173" y="293697"/>
          <a:ext cx="1025561" cy="381660"/>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Direction</a:t>
          </a:r>
          <a:r>
            <a:rPr lang="en-US" sz="1000" kern="1200">
              <a:latin typeface="Calibri" panose="020F0502020204030204" pitchFamily="34" charset="0"/>
              <a:cs typeface="Calibri" panose="020F0502020204030204" pitchFamily="34" charset="0"/>
            </a:rPr>
            <a:t> = Terminating</a:t>
          </a:r>
        </a:p>
      </dsp:txBody>
      <dsp:txXfrm>
        <a:off x="2253351" y="304875"/>
        <a:ext cx="1003205" cy="359304"/>
      </dsp:txXfrm>
    </dsp:sp>
    <dsp:sp modelId="{761A19FE-8242-F24F-B0C4-5E9487EEECBD}">
      <dsp:nvSpPr>
        <dsp:cNvPr id="0" name=""/>
        <dsp:cNvSpPr/>
      </dsp:nvSpPr>
      <dsp:spPr>
        <a:xfrm rot="10247">
          <a:off x="3472440" y="236247"/>
          <a:ext cx="433978" cy="502130"/>
        </a:xfrm>
        <a:prstGeom prst="rightArrow">
          <a:avLst>
            <a:gd name="adj1" fmla="val 60000"/>
            <a:gd name="adj2" fmla="val 50000"/>
          </a:avLst>
        </a:prstGeom>
        <a:solidFill>
          <a:srgbClr val="11331D"/>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472440" y="336479"/>
        <a:ext cx="303785" cy="301278"/>
      </dsp:txXfrm>
    </dsp:sp>
    <dsp:sp modelId="{CC526732-2AED-7C48-AF38-C86186EADD21}">
      <dsp:nvSpPr>
        <dsp:cNvPr id="0" name=""/>
        <dsp:cNvSpPr/>
      </dsp:nvSpPr>
      <dsp:spPr>
        <a:xfrm>
          <a:off x="4086559" y="287497"/>
          <a:ext cx="1509428" cy="406498"/>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Original reason </a:t>
          </a:r>
          <a:r>
            <a:rPr lang="en-US" sz="1000" kern="1200">
              <a:latin typeface="Calibri" panose="020F0502020204030204" pitchFamily="34" charset="0"/>
              <a:cs typeface="Calibri" panose="020F0502020204030204" pitchFamily="34" charset="0"/>
            </a:rPr>
            <a:t>= No Answer  </a:t>
          </a:r>
        </a:p>
      </dsp:txBody>
      <dsp:txXfrm>
        <a:off x="4098465" y="299403"/>
        <a:ext cx="1485616" cy="3826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96E6F-52D8-4245-B8FB-FDCAB8A9AA87}">
      <dsp:nvSpPr>
        <dsp:cNvPr id="0" name=""/>
        <dsp:cNvSpPr/>
      </dsp:nvSpPr>
      <dsp:spPr>
        <a:xfrm>
          <a:off x="3593" y="701587"/>
          <a:ext cx="1571225" cy="480210"/>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Redirecting number </a:t>
          </a:r>
          <a:r>
            <a:rPr lang="en-US" sz="1000" kern="1200">
              <a:latin typeface="Calibri" panose="020F0502020204030204" pitchFamily="34" charset="0"/>
              <a:cs typeface="Calibri" panose="020F0502020204030204" pitchFamily="34" charset="0"/>
            </a:rPr>
            <a:t>=  13123411070, Main Line</a:t>
          </a:r>
        </a:p>
      </dsp:txBody>
      <dsp:txXfrm>
        <a:off x="17658" y="715652"/>
        <a:ext cx="1543095" cy="452080"/>
      </dsp:txXfrm>
    </dsp:sp>
    <dsp:sp modelId="{40CA2B50-D514-F84C-AE4F-3B069CFF4790}">
      <dsp:nvSpPr>
        <dsp:cNvPr id="0" name=""/>
        <dsp:cNvSpPr/>
      </dsp:nvSpPr>
      <dsp:spPr>
        <a:xfrm rot="666">
          <a:off x="1729099" y="747074"/>
          <a:ext cx="327074" cy="389663"/>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729099" y="824997"/>
        <a:ext cx="228952" cy="233797"/>
      </dsp:txXfrm>
    </dsp:sp>
    <dsp:sp modelId="{8DC596CE-3EE6-344F-9F14-3679B738BD27}">
      <dsp:nvSpPr>
        <dsp:cNvPr id="0" name=""/>
        <dsp:cNvSpPr/>
      </dsp:nvSpPr>
      <dsp:spPr>
        <a:xfrm>
          <a:off x="2191939" y="664524"/>
          <a:ext cx="1571225" cy="555186"/>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Redirect reason </a:t>
          </a:r>
          <a:r>
            <a:rPr lang="en-US" sz="1000" kern="1200">
              <a:latin typeface="Calibri" panose="020F0502020204030204" pitchFamily="34" charset="0"/>
              <a:cs typeface="Calibri" panose="020F0502020204030204" pitchFamily="34" charset="0"/>
            </a:rPr>
            <a:t>= Follow Me</a:t>
          </a:r>
        </a:p>
      </dsp:txBody>
      <dsp:txXfrm>
        <a:off x="2208200" y="680785"/>
        <a:ext cx="1538703" cy="522664"/>
      </dsp:txXfrm>
    </dsp:sp>
    <dsp:sp modelId="{761A19FE-8242-F24F-B0C4-5E9487EEECBD}">
      <dsp:nvSpPr>
        <dsp:cNvPr id="0" name=""/>
        <dsp:cNvSpPr/>
      </dsp:nvSpPr>
      <dsp:spPr>
        <a:xfrm rot="21599340">
          <a:off x="3923130" y="747071"/>
          <a:ext cx="339125" cy="389663"/>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923130" y="825014"/>
        <a:ext cx="237388" cy="233797"/>
      </dsp:txXfrm>
    </dsp:sp>
    <dsp:sp modelId="{CC526732-2AED-7C48-AF38-C86186EADD21}">
      <dsp:nvSpPr>
        <dsp:cNvPr id="0" name=""/>
        <dsp:cNvSpPr/>
      </dsp:nvSpPr>
      <dsp:spPr>
        <a:xfrm>
          <a:off x="4403025" y="663675"/>
          <a:ext cx="1571225" cy="556034"/>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User type </a:t>
          </a:r>
          <a:r>
            <a:rPr lang="en-US" sz="1000" kern="1200">
              <a:latin typeface="Calibri" panose="020F0502020204030204" pitchFamily="34" charset="0"/>
              <a:cs typeface="Calibri" panose="020F0502020204030204" pitchFamily="34" charset="0"/>
            </a:rPr>
            <a:t>= Virtual line</a:t>
          </a:r>
        </a:p>
      </dsp:txBody>
      <dsp:txXfrm>
        <a:off x="4419311" y="679961"/>
        <a:ext cx="1538653" cy="523462"/>
      </dsp:txXfrm>
    </dsp:sp>
    <dsp:sp modelId="{ABE05D99-F02B-B148-94BD-89923AF953B5}">
      <dsp:nvSpPr>
        <dsp:cNvPr id="0" name=""/>
        <dsp:cNvSpPr/>
      </dsp:nvSpPr>
      <dsp:spPr>
        <a:xfrm>
          <a:off x="6131373" y="746861"/>
          <a:ext cx="333099" cy="389663"/>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131373" y="824794"/>
        <a:ext cx="233169" cy="233797"/>
      </dsp:txXfrm>
    </dsp:sp>
    <dsp:sp modelId="{8C261876-C757-9E46-8714-1130F80B54C6}">
      <dsp:nvSpPr>
        <dsp:cNvPr id="0" name=""/>
        <dsp:cNvSpPr/>
      </dsp:nvSpPr>
      <dsp:spPr>
        <a:xfrm>
          <a:off x="6602740" y="686027"/>
          <a:ext cx="1571225" cy="511330"/>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Related reason </a:t>
          </a:r>
          <a:r>
            <a:rPr lang="en-US" sz="1000" kern="1200">
              <a:latin typeface="Calibri" panose="020F0502020204030204" pitchFamily="34" charset="0"/>
              <a:cs typeface="Calibri" panose="020F0502020204030204" pitchFamily="34" charset="0"/>
            </a:rPr>
            <a:t>= Call Forward No Answer</a:t>
          </a:r>
        </a:p>
      </dsp:txBody>
      <dsp:txXfrm>
        <a:off x="6617716" y="701003"/>
        <a:ext cx="1541273" cy="4813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96E6F-52D8-4245-B8FB-FDCAB8A9AA87}">
      <dsp:nvSpPr>
        <dsp:cNvPr id="0" name=""/>
        <dsp:cNvSpPr/>
      </dsp:nvSpPr>
      <dsp:spPr>
        <a:xfrm>
          <a:off x="3615" y="719840"/>
          <a:ext cx="1580935" cy="483178"/>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User</a:t>
          </a:r>
          <a:r>
            <a:rPr lang="en-US" sz="1000" kern="1200">
              <a:latin typeface="Calibri" panose="020F0502020204030204" pitchFamily="34" charset="0"/>
              <a:cs typeface="Calibri" panose="020F0502020204030204" pitchFamily="34" charset="0"/>
            </a:rPr>
            <a:t> = Ombudsman Intake</a:t>
          </a:r>
        </a:p>
      </dsp:txBody>
      <dsp:txXfrm>
        <a:off x="17767" y="733992"/>
        <a:ext cx="1552631" cy="454874"/>
      </dsp:txXfrm>
    </dsp:sp>
    <dsp:sp modelId="{40CA2B50-D514-F84C-AE4F-3B069CFF4790}">
      <dsp:nvSpPr>
        <dsp:cNvPr id="0" name=""/>
        <dsp:cNvSpPr/>
      </dsp:nvSpPr>
      <dsp:spPr>
        <a:xfrm rot="666">
          <a:off x="1739784" y="765608"/>
          <a:ext cx="329095" cy="392071"/>
        </a:xfrm>
        <a:prstGeom prst="rightArrow">
          <a:avLst>
            <a:gd name="adj1" fmla="val 60000"/>
            <a:gd name="adj2" fmla="val 50000"/>
          </a:avLst>
        </a:prstGeom>
        <a:solidFill>
          <a:srgbClr val="11331D"/>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739784" y="844012"/>
        <a:ext cx="230367" cy="235243"/>
      </dsp:txXfrm>
    </dsp:sp>
    <dsp:sp modelId="{8DC596CE-3EE6-344F-9F14-3679B738BD27}">
      <dsp:nvSpPr>
        <dsp:cNvPr id="0" name=""/>
        <dsp:cNvSpPr/>
      </dsp:nvSpPr>
      <dsp:spPr>
        <a:xfrm>
          <a:off x="2205485" y="682547"/>
          <a:ext cx="1580935" cy="558617"/>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Model </a:t>
          </a:r>
          <a:r>
            <a:rPr lang="en-US" sz="1000" kern="1200">
              <a:latin typeface="Calibri" panose="020F0502020204030204" pitchFamily="34" charset="0"/>
              <a:cs typeface="Calibri" panose="020F0502020204030204" pitchFamily="34" charset="0"/>
            </a:rPr>
            <a:t>= Cisco 8841</a:t>
          </a:r>
        </a:p>
      </dsp:txBody>
      <dsp:txXfrm>
        <a:off x="2221846" y="698908"/>
        <a:ext cx="1548213" cy="525895"/>
      </dsp:txXfrm>
    </dsp:sp>
    <dsp:sp modelId="{761A19FE-8242-F24F-B0C4-5E9487EEECBD}">
      <dsp:nvSpPr>
        <dsp:cNvPr id="0" name=""/>
        <dsp:cNvSpPr/>
      </dsp:nvSpPr>
      <dsp:spPr>
        <a:xfrm rot="21599340">
          <a:off x="3947373" y="765605"/>
          <a:ext cx="341221" cy="392071"/>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947373" y="844029"/>
        <a:ext cx="238855" cy="235243"/>
      </dsp:txXfrm>
    </dsp:sp>
    <dsp:sp modelId="{CC526732-2AED-7C48-AF38-C86186EADD21}">
      <dsp:nvSpPr>
        <dsp:cNvPr id="0" name=""/>
        <dsp:cNvSpPr/>
      </dsp:nvSpPr>
      <dsp:spPr>
        <a:xfrm>
          <a:off x="4430234" y="681694"/>
          <a:ext cx="1580935" cy="559470"/>
        </a:xfrm>
        <a:prstGeom prst="roundRect">
          <a:avLst>
            <a:gd name="adj" fmla="val 10000"/>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Calibri" panose="020F0502020204030204" pitchFamily="34" charset="0"/>
              <a:cs typeface="Calibri" panose="020F0502020204030204" pitchFamily="34" charset="0"/>
            </a:rPr>
            <a:t>Answered</a:t>
          </a:r>
          <a:r>
            <a:rPr lang="en-US" sz="1000" kern="1200">
              <a:latin typeface="Calibri" panose="020F0502020204030204" pitchFamily="34" charset="0"/>
              <a:cs typeface="Calibri" panose="020F0502020204030204" pitchFamily="34" charset="0"/>
            </a:rPr>
            <a:t> = TRUE</a:t>
          </a:r>
        </a:p>
      </dsp:txBody>
      <dsp:txXfrm>
        <a:off x="4446620" y="698080"/>
        <a:ext cx="1548163" cy="526698"/>
      </dsp:txXfrm>
    </dsp:sp>
    <dsp:sp modelId="{031723EB-8615-C141-93F0-10E819B0C094}">
      <dsp:nvSpPr>
        <dsp:cNvPr id="0" name=""/>
        <dsp:cNvSpPr/>
      </dsp:nvSpPr>
      <dsp:spPr>
        <a:xfrm>
          <a:off x="6154493" y="765393"/>
          <a:ext cx="303847" cy="392071"/>
        </a:xfrm>
        <a:prstGeom prst="rightArrow">
          <a:avLst>
            <a:gd name="adj1" fmla="val 60000"/>
            <a:gd name="adj2" fmla="val 50000"/>
          </a:avLst>
        </a:prstGeom>
        <a:solidFill>
          <a:srgbClr val="11331D"/>
        </a:solidFill>
        <a:ln>
          <a:solidFill>
            <a:srgbClr val="11331D"/>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154493" y="843807"/>
        <a:ext cx="212693" cy="235243"/>
      </dsp:txXfrm>
    </dsp:sp>
    <dsp:sp modelId="{36ADF8B0-7871-0447-9996-9DCE0F83048D}">
      <dsp:nvSpPr>
        <dsp:cNvPr id="0" name=""/>
        <dsp:cNvSpPr/>
      </dsp:nvSpPr>
      <dsp:spPr>
        <a:xfrm>
          <a:off x="6584466" y="683529"/>
          <a:ext cx="1580935" cy="555799"/>
        </a:xfrm>
        <a:prstGeom prst="roundRect">
          <a:avLst>
            <a:gd name="adj" fmla="val 10000"/>
          </a:avLst>
        </a:prstGeom>
        <a:solidFill>
          <a:srgbClr val="11331D"/>
        </a:solidFill>
        <a:ln w="25400" cap="flat" cmpd="sng" algn="ctr">
          <a:solidFill>
            <a:srgbClr val="11331D"/>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solidFill>
                <a:schemeClr val="bg1"/>
              </a:solidFill>
              <a:latin typeface="Calibri" panose="020F0502020204030204" pitchFamily="34" charset="0"/>
              <a:cs typeface="Calibri" panose="020F0502020204030204" pitchFamily="34" charset="0"/>
            </a:rPr>
            <a:t>Call outcome </a:t>
          </a:r>
          <a:r>
            <a:rPr lang="en-US" sz="1000" kern="1200">
              <a:solidFill>
                <a:schemeClr val="bg1"/>
              </a:solidFill>
              <a:latin typeface="Calibri" panose="020F0502020204030204" pitchFamily="34" charset="0"/>
              <a:cs typeface="Calibri" panose="020F0502020204030204" pitchFamily="34" charset="0"/>
            </a:rPr>
            <a:t>= Success</a:t>
          </a:r>
        </a:p>
      </dsp:txBody>
      <dsp:txXfrm>
        <a:off x="6600745" y="699808"/>
        <a:ext cx="1548377" cy="5232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ee7bdb053_3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8ee7bdb053_3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6900de4ac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6900de4ac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A709B534-B85F-C360-48F7-3239DA38AFD1}"/>
            </a:ext>
          </a:extLst>
        </p:cNvPr>
        <p:cNvGrpSpPr/>
        <p:nvPr/>
      </p:nvGrpSpPr>
      <p:grpSpPr>
        <a:xfrm>
          <a:off x="0" y="0"/>
          <a:ext cx="0" cy="0"/>
          <a:chOff x="0" y="0"/>
          <a:chExt cx="0" cy="0"/>
        </a:xfrm>
      </p:grpSpPr>
      <p:sp>
        <p:nvSpPr>
          <p:cNvPr id="338" name="Google Shape;338;g38ee7bdb053_6_3:notes">
            <a:extLst>
              <a:ext uri="{FF2B5EF4-FFF2-40B4-BE49-F238E27FC236}">
                <a16:creationId xmlns:a16="http://schemas.microsoft.com/office/drawing/2014/main" id="{AAFF7A64-9A68-CFFA-505C-348F00E2A5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8ee7bdb053_6_3:notes">
            <a:extLst>
              <a:ext uri="{FF2B5EF4-FFF2-40B4-BE49-F238E27FC236}">
                <a16:creationId xmlns:a16="http://schemas.microsoft.com/office/drawing/2014/main" id="{18FD6D66-4E3B-1AC9-04EB-CBC521CF1F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117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7CB1BFB3-DFB2-C3A9-5FCA-388F4FD734CC}"/>
            </a:ext>
          </a:extLst>
        </p:cNvPr>
        <p:cNvGrpSpPr/>
        <p:nvPr/>
      </p:nvGrpSpPr>
      <p:grpSpPr>
        <a:xfrm>
          <a:off x="0" y="0"/>
          <a:ext cx="0" cy="0"/>
          <a:chOff x="0" y="0"/>
          <a:chExt cx="0" cy="0"/>
        </a:xfrm>
      </p:grpSpPr>
      <p:sp>
        <p:nvSpPr>
          <p:cNvPr id="329" name="Google Shape;329;g38ee7bdb053_6_34:notes">
            <a:extLst>
              <a:ext uri="{FF2B5EF4-FFF2-40B4-BE49-F238E27FC236}">
                <a16:creationId xmlns:a16="http://schemas.microsoft.com/office/drawing/2014/main" id="{57F8FBCE-451E-A2E1-3ED5-0BB9C984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i="0" u="none" strike="noStrike">
                <a:solidFill>
                  <a:srgbClr val="000000"/>
                </a:solidFill>
                <a:effectLst/>
              </a:rPr>
              <a:t>Each call record in Webex represents one leg of a larger journey — these columns connect them together.</a:t>
            </a:r>
            <a:br>
              <a:rPr lang="en-US"/>
            </a:br>
            <a:endParaRPr lang="en-US"/>
          </a:p>
          <a:p>
            <a:pPr marL="158750" indent="0">
              <a:buNone/>
            </a:pPr>
            <a:r>
              <a:rPr lang="en-US" b="1" i="0" u="none" strike="noStrike">
                <a:solidFill>
                  <a:srgbClr val="000000"/>
                </a:solidFill>
                <a:effectLst/>
              </a:rPr>
              <a:t>Call Starts (Who Initiates the Interaction)</a:t>
            </a:r>
          </a:p>
          <a:p>
            <a:pPr marL="158750" indent="0">
              <a:buNone/>
            </a:pPr>
            <a:endParaRPr lang="en-US" b="1" i="0" u="none" strike="noStrike">
              <a:solidFill>
                <a:srgbClr val="000000"/>
              </a:solidFill>
              <a:effectLst/>
            </a:endParaRPr>
          </a:p>
          <a:p>
            <a:pPr marL="158750" indent="0">
              <a:buNone/>
            </a:pPr>
            <a:r>
              <a:rPr lang="en-US" b="1" i="0" u="none" strike="noStrike">
                <a:solidFill>
                  <a:srgbClr val="000000"/>
                </a:solidFill>
                <a:effectLst/>
              </a:rPr>
              <a:t>Calling Number</a:t>
            </a:r>
            <a:r>
              <a:rPr lang="en-US" b="0" i="0" u="none" strike="noStrike">
                <a:solidFill>
                  <a:srgbClr val="000000"/>
                </a:solidFill>
                <a:effectLst/>
              </a:rPr>
              <a:t> → number that initiated the call</a:t>
            </a:r>
          </a:p>
          <a:p>
            <a:pPr marL="158750" indent="0">
              <a:buNone/>
            </a:pPr>
            <a:r>
              <a:rPr lang="en-US" b="1" i="0" u="none" strike="noStrike">
                <a:solidFill>
                  <a:srgbClr val="000000"/>
                </a:solidFill>
                <a:effectLst/>
              </a:rPr>
              <a:t>Direction = TERMINATING</a:t>
            </a:r>
            <a:r>
              <a:rPr lang="en-US" b="0" i="0" u="none" strike="noStrike">
                <a:solidFill>
                  <a:srgbClr val="000000"/>
                </a:solidFill>
                <a:effectLst/>
              </a:rPr>
              <a:t> → indicates this leg was inbound</a:t>
            </a:r>
          </a:p>
          <a:p>
            <a:pPr marL="158750" indent="0">
              <a:buNone/>
            </a:pPr>
            <a:r>
              <a:rPr lang="en-US" b="1" i="0" u="none" strike="noStrike">
                <a:solidFill>
                  <a:srgbClr val="000000"/>
                </a:solidFill>
                <a:effectLst/>
              </a:rPr>
              <a:t>Correlation ID</a:t>
            </a:r>
            <a:r>
              <a:rPr lang="en-US" b="0" i="0" u="none" strike="noStrike">
                <a:solidFill>
                  <a:srgbClr val="000000"/>
                </a:solidFill>
                <a:effectLst/>
              </a:rPr>
              <a:t> → groups all call legs of the same session</a:t>
            </a:r>
          </a:p>
          <a:p>
            <a:pPr marL="158750" indent="0">
              <a:buNone/>
            </a:pPr>
            <a:r>
              <a:rPr lang="en-US" b="0" i="1" u="none" strike="noStrike">
                <a:solidFill>
                  <a:srgbClr val="000000"/>
                </a:solidFill>
                <a:effectLst/>
              </a:rPr>
              <a:t>These fields establish which call we’re looking at and ensure we can trace all connected records.</a:t>
            </a:r>
            <a:endParaRPr lang="en-US" b="0" i="0" u="none" strike="noStrike">
              <a:solidFill>
                <a:srgbClr val="000000"/>
              </a:solidFill>
              <a:effectLst/>
            </a:endParaRPr>
          </a:p>
          <a:p>
            <a:pPr marL="158750" indent="0">
              <a:buNone/>
            </a:pPr>
            <a:br>
              <a:rPr lang="en-US"/>
            </a:br>
            <a:endParaRPr lang="en-US"/>
          </a:p>
          <a:p>
            <a:pPr marL="158750" indent="0">
              <a:buNone/>
            </a:pPr>
            <a:r>
              <a:rPr lang="en-US" b="1" i="0" u="none" strike="noStrike">
                <a:solidFill>
                  <a:srgbClr val="000000"/>
                </a:solidFill>
                <a:effectLst/>
              </a:rPr>
              <a:t>Call Movement (How It Gets Redirected)</a:t>
            </a:r>
          </a:p>
          <a:p>
            <a:pPr marL="158750" indent="0">
              <a:buNone/>
            </a:pPr>
            <a:r>
              <a:rPr lang="en-US" b="1" i="0" u="none" strike="noStrike">
                <a:solidFill>
                  <a:srgbClr val="000000"/>
                </a:solidFill>
                <a:effectLst/>
              </a:rPr>
              <a:t>Called Number</a:t>
            </a:r>
            <a:r>
              <a:rPr lang="en-US" b="0" i="0" u="none" strike="noStrike">
                <a:solidFill>
                  <a:srgbClr val="000000"/>
                </a:solidFill>
                <a:effectLst/>
              </a:rPr>
              <a:t> → the initial recipient</a:t>
            </a:r>
          </a:p>
          <a:p>
            <a:pPr marL="158750" indent="0">
              <a:buNone/>
            </a:pPr>
            <a:r>
              <a:rPr lang="en-US" b="1" i="0" u="none" strike="noStrike">
                <a:solidFill>
                  <a:srgbClr val="000000"/>
                </a:solidFill>
                <a:effectLst/>
              </a:rPr>
              <a:t>Original Reason</a:t>
            </a:r>
            <a:r>
              <a:rPr lang="en-US" b="0" i="0" u="none" strike="noStrike">
                <a:solidFill>
                  <a:srgbClr val="000000"/>
                </a:solidFill>
                <a:effectLst/>
              </a:rPr>
              <a:t> → first trigger for redirection (e.g., </a:t>
            </a:r>
            <a:r>
              <a:rPr lang="en-US" b="0" i="0" u="none" strike="noStrike" err="1">
                <a:solidFill>
                  <a:srgbClr val="000000"/>
                </a:solidFill>
                <a:effectLst/>
              </a:rPr>
              <a:t>NoAnswer</a:t>
            </a:r>
            <a:r>
              <a:rPr lang="en-US" b="0" i="0" u="none" strike="noStrike">
                <a:solidFill>
                  <a:srgbClr val="000000"/>
                </a:solidFill>
                <a:effectLst/>
              </a:rPr>
              <a:t>, </a:t>
            </a:r>
            <a:r>
              <a:rPr lang="en-US" b="0" i="0" u="none" strike="noStrike" err="1">
                <a:solidFill>
                  <a:srgbClr val="000000"/>
                </a:solidFill>
                <a:effectLst/>
              </a:rPr>
              <a:t>FollowMe</a:t>
            </a:r>
            <a:r>
              <a:rPr lang="en-US" b="0" i="0" u="none" strike="noStrike">
                <a:solidFill>
                  <a:srgbClr val="000000"/>
                </a:solidFill>
                <a:effectLst/>
              </a:rPr>
              <a:t>)</a:t>
            </a:r>
          </a:p>
          <a:p>
            <a:pPr marL="158750" indent="0">
              <a:buNone/>
            </a:pPr>
            <a:r>
              <a:rPr lang="en-US" b="1" i="0" u="none" strike="noStrike">
                <a:solidFill>
                  <a:srgbClr val="000000"/>
                </a:solidFill>
                <a:effectLst/>
              </a:rPr>
              <a:t>Redirect Reason</a:t>
            </a:r>
            <a:r>
              <a:rPr lang="en-US" b="0" i="0" u="none" strike="noStrike">
                <a:solidFill>
                  <a:srgbClr val="000000"/>
                </a:solidFill>
                <a:effectLst/>
              </a:rPr>
              <a:t> → why subsequent redirections occur</a:t>
            </a:r>
          </a:p>
          <a:p>
            <a:pPr marL="158750" indent="0">
              <a:buNone/>
            </a:pPr>
            <a:r>
              <a:rPr lang="en-US" b="1" i="0" u="none" strike="noStrike">
                <a:solidFill>
                  <a:srgbClr val="000000"/>
                </a:solidFill>
                <a:effectLst/>
              </a:rPr>
              <a:t>Related Reason</a:t>
            </a:r>
            <a:r>
              <a:rPr lang="en-US" b="0" i="0" u="none" strike="noStrike">
                <a:solidFill>
                  <a:srgbClr val="000000"/>
                </a:solidFill>
                <a:effectLst/>
              </a:rPr>
              <a:t> → secondary system event causing the redirect (e.g., </a:t>
            </a:r>
            <a:r>
              <a:rPr lang="en-US" b="0" i="0" u="none" strike="noStrike" err="1">
                <a:solidFill>
                  <a:srgbClr val="000000"/>
                </a:solidFill>
                <a:effectLst/>
              </a:rPr>
              <a:t>CallQueue</a:t>
            </a:r>
            <a:r>
              <a:rPr lang="en-US" b="0" i="0" u="none" strike="noStrike">
                <a:solidFill>
                  <a:srgbClr val="000000"/>
                </a:solidFill>
                <a:effectLst/>
              </a:rPr>
              <a:t>, </a:t>
            </a:r>
            <a:r>
              <a:rPr lang="en-US" b="0" i="0" u="none" strike="noStrike" err="1">
                <a:solidFill>
                  <a:srgbClr val="000000"/>
                </a:solidFill>
                <a:effectLst/>
              </a:rPr>
              <a:t>HuntGroup</a:t>
            </a:r>
            <a:r>
              <a:rPr lang="en-US" b="0" i="0" u="none" strike="noStrike">
                <a:solidFill>
                  <a:srgbClr val="000000"/>
                </a:solidFill>
                <a:effectLst/>
              </a:rPr>
              <a:t>)</a:t>
            </a:r>
          </a:p>
          <a:p>
            <a:pPr marL="158750" indent="0">
              <a:buNone/>
            </a:pPr>
            <a:r>
              <a:rPr lang="en-US" b="1" i="0" u="none" strike="noStrike">
                <a:solidFill>
                  <a:srgbClr val="000000"/>
                </a:solidFill>
                <a:effectLst/>
              </a:rPr>
              <a:t>Redirecting Number</a:t>
            </a:r>
            <a:r>
              <a:rPr lang="en-US" b="0" i="0" u="none" strike="noStrike">
                <a:solidFill>
                  <a:srgbClr val="000000"/>
                </a:solidFill>
                <a:effectLst/>
              </a:rPr>
              <a:t> → who last redirected or forwarded the call</a:t>
            </a:r>
          </a:p>
          <a:p>
            <a:pPr marL="158750" indent="0">
              <a:buNone/>
            </a:pPr>
            <a:r>
              <a:rPr lang="en-US" b="0" i="1" u="none" strike="noStrike">
                <a:solidFill>
                  <a:srgbClr val="000000"/>
                </a:solidFill>
                <a:effectLst/>
              </a:rPr>
              <a:t>These explain the “movement” of the call and let us reconstruct how it bounces across users, queues, and systems.</a:t>
            </a:r>
            <a:endParaRPr lang="en-US" b="0" i="0" u="none" strike="noStrike">
              <a:solidFill>
                <a:srgbClr val="000000"/>
              </a:solidFill>
              <a:effectLst/>
            </a:endParaRPr>
          </a:p>
          <a:p>
            <a:pPr marL="158750" indent="0">
              <a:buNone/>
            </a:pPr>
            <a:br>
              <a:rPr lang="en-US"/>
            </a:br>
            <a:endParaRPr lang="en-US"/>
          </a:p>
          <a:p>
            <a:pPr marL="158750" indent="0">
              <a:buNone/>
            </a:pPr>
            <a:r>
              <a:rPr lang="en-US" b="1" i="0" u="none" strike="noStrike">
                <a:solidFill>
                  <a:srgbClr val="000000"/>
                </a:solidFill>
                <a:effectLst/>
              </a:rPr>
              <a:t>Call Ends (Where It Lands)</a:t>
            </a:r>
          </a:p>
          <a:p>
            <a:pPr marL="158750" indent="0">
              <a:buNone/>
            </a:pPr>
            <a:r>
              <a:rPr lang="en-US" b="1" i="0" u="none" strike="noStrike">
                <a:solidFill>
                  <a:srgbClr val="000000"/>
                </a:solidFill>
                <a:effectLst/>
              </a:rPr>
              <a:t>User / User Type</a:t>
            </a:r>
            <a:r>
              <a:rPr lang="en-US" b="0" i="0" u="none" strike="noStrike">
                <a:solidFill>
                  <a:srgbClr val="000000"/>
                </a:solidFill>
                <a:effectLst/>
              </a:rPr>
              <a:t> → identifies endpoint (e.g., User, Queue, Voicemail)</a:t>
            </a:r>
          </a:p>
          <a:p>
            <a:pPr marL="158750" indent="0">
              <a:buNone/>
            </a:pPr>
            <a:r>
              <a:rPr lang="en-US" b="1" i="0" u="none" strike="noStrike">
                <a:solidFill>
                  <a:srgbClr val="000000"/>
                </a:solidFill>
                <a:effectLst/>
              </a:rPr>
              <a:t>Answered / Answer Indicator</a:t>
            </a:r>
            <a:r>
              <a:rPr lang="en-US" b="0" i="0" u="none" strike="noStrike">
                <a:solidFill>
                  <a:srgbClr val="000000"/>
                </a:solidFill>
                <a:effectLst/>
              </a:rPr>
              <a:t> → whether and where it was picked up</a:t>
            </a:r>
          </a:p>
          <a:p>
            <a:pPr marL="158750" indent="0">
              <a:buNone/>
            </a:pPr>
            <a:r>
              <a:rPr lang="en-US" b="1" i="0" u="none" strike="noStrike">
                <a:solidFill>
                  <a:srgbClr val="000000"/>
                </a:solidFill>
                <a:effectLst/>
              </a:rPr>
              <a:t>Call Outcome / Report Time</a:t>
            </a:r>
            <a:r>
              <a:rPr lang="en-US" b="0" i="0" u="none" strike="noStrike">
                <a:solidFill>
                  <a:srgbClr val="000000"/>
                </a:solidFill>
                <a:effectLst/>
              </a:rPr>
              <a:t> → how and when the call ended</a:t>
            </a:r>
          </a:p>
          <a:p>
            <a:pPr marL="158750" indent="0">
              <a:buNone/>
            </a:pPr>
            <a:r>
              <a:rPr lang="en-US" b="0" i="1" u="none" strike="noStrike">
                <a:solidFill>
                  <a:srgbClr val="000000"/>
                </a:solidFill>
                <a:effectLst/>
              </a:rPr>
              <a:t>These fields tell us the end state of the call: who answered, when, and under what conditions.</a:t>
            </a:r>
            <a:endParaRPr lang="en-US" b="0" i="0" u="none" strike="noStrike">
              <a:solidFill>
                <a:srgbClr val="000000"/>
              </a:solidFill>
              <a:effectLst/>
            </a:endParaRPr>
          </a:p>
          <a:p>
            <a:pPr marL="0" lvl="0" indent="0" algn="l" rtl="0">
              <a:spcBef>
                <a:spcPts val="0"/>
              </a:spcBef>
              <a:spcAft>
                <a:spcPts val="0"/>
              </a:spcAft>
              <a:buNone/>
            </a:pPr>
            <a:endParaRPr/>
          </a:p>
        </p:txBody>
      </p:sp>
      <p:sp>
        <p:nvSpPr>
          <p:cNvPr id="330" name="Google Shape;330;g38ee7bdb053_6_34:notes">
            <a:extLst>
              <a:ext uri="{FF2B5EF4-FFF2-40B4-BE49-F238E27FC236}">
                <a16:creationId xmlns:a16="http://schemas.microsoft.com/office/drawing/2014/main" id="{D8720467-65AE-9FB6-37EF-F1A8A591A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897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02DA7619-6E63-77D4-75E4-ABAAC95CD2A8}"/>
            </a:ext>
          </a:extLst>
        </p:cNvPr>
        <p:cNvGrpSpPr/>
        <p:nvPr/>
      </p:nvGrpSpPr>
      <p:grpSpPr>
        <a:xfrm>
          <a:off x="0" y="0"/>
          <a:ext cx="0" cy="0"/>
          <a:chOff x="0" y="0"/>
          <a:chExt cx="0" cy="0"/>
        </a:xfrm>
      </p:grpSpPr>
      <p:sp>
        <p:nvSpPr>
          <p:cNvPr id="329" name="Google Shape;329;g38ee7bdb053_6_34:notes">
            <a:extLst>
              <a:ext uri="{FF2B5EF4-FFF2-40B4-BE49-F238E27FC236}">
                <a16:creationId xmlns:a16="http://schemas.microsoft.com/office/drawing/2014/main" id="{2E047143-4246-8B67-E85E-61C82195B8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en-US" b="0" i="0" u="none" strike="noStrike">
                <a:solidFill>
                  <a:srgbClr val="000000"/>
                </a:solidFill>
                <a:effectLst/>
              </a:rPr>
              <a:t>Let me walk you through one example call to show how the Webex data captures redirection behavior.</a:t>
            </a:r>
          </a:p>
          <a:p>
            <a:pPr marL="158750" indent="0">
              <a:buFontTx/>
              <a:buNone/>
            </a:pPr>
            <a:r>
              <a:rPr lang="en-US" b="0" i="0" u="none" strike="noStrike">
                <a:solidFill>
                  <a:srgbClr val="000000"/>
                </a:solidFill>
                <a:effectLst/>
              </a:rPr>
              <a:t>This call took place on </a:t>
            </a:r>
            <a:r>
              <a:rPr lang="en-US" b="1" i="0" u="none" strike="noStrike">
                <a:solidFill>
                  <a:srgbClr val="000000"/>
                </a:solidFill>
                <a:effectLst/>
              </a:rPr>
              <a:t>March 31st, 2025,. </a:t>
            </a:r>
            <a:r>
              <a:rPr lang="en-US" b="0" i="0" u="none" strike="noStrike">
                <a:solidFill>
                  <a:srgbClr val="000000"/>
                </a:solidFill>
                <a:effectLst/>
              </a:rPr>
              <a:t>It began with the </a:t>
            </a:r>
            <a:r>
              <a:rPr lang="en-US" b="1" i="0" u="none" strike="noStrike">
                <a:solidFill>
                  <a:srgbClr val="000000"/>
                </a:solidFill>
                <a:effectLst/>
              </a:rPr>
              <a:t>front desk number — 13122296079 —</a:t>
            </a:r>
            <a:r>
              <a:rPr lang="en-US" b="0" i="0" u="none" strike="noStrike">
                <a:solidFill>
                  <a:srgbClr val="000000"/>
                </a:solidFill>
                <a:effectLst/>
              </a:rPr>
              <a:t> attempting to reach </a:t>
            </a:r>
            <a:r>
              <a:rPr lang="en-US" b="1" i="0" u="none" strike="noStrike">
                <a:solidFill>
                  <a:srgbClr val="000000"/>
                </a:solidFill>
                <a:effectLst/>
              </a:rPr>
              <a:t>Ombudsman Intake at 13123478300.</a:t>
            </a:r>
            <a:endParaRPr lang="en-US" b="0" i="0" u="none" strike="noStrike">
              <a:solidFill>
                <a:srgbClr val="000000"/>
              </a:solidFill>
              <a:effectLst/>
            </a:endParaRPr>
          </a:p>
          <a:p>
            <a:pPr marL="158750" indent="0">
              <a:buFontTx/>
              <a:buNone/>
            </a:pPr>
            <a:r>
              <a:rPr lang="en-US" b="0" i="0" u="none" strike="noStrike">
                <a:solidFill>
                  <a:srgbClr val="000000"/>
                </a:solidFill>
                <a:effectLst/>
              </a:rPr>
              <a:t>In the dataset, this entire interaction is represented by a single </a:t>
            </a:r>
            <a:r>
              <a:rPr lang="en-US" b="1" i="0" u="none" strike="noStrike">
                <a:solidFill>
                  <a:srgbClr val="000000"/>
                </a:solidFill>
                <a:effectLst/>
              </a:rPr>
              <a:t>Correlation ID</a:t>
            </a:r>
            <a:r>
              <a:rPr lang="en-US" b="0" i="0" u="none" strike="noStrike">
                <a:solidFill>
                  <a:srgbClr val="000000"/>
                </a:solidFill>
                <a:effectLst/>
              </a:rPr>
              <a:t>, which links every leg of the call — even though the call was redirected multiple times.</a:t>
            </a:r>
          </a:p>
          <a:p>
            <a:pPr marL="158750" indent="0">
              <a:buFontTx/>
              <a:buNone/>
            </a:pPr>
            <a:r>
              <a:rPr lang="en-US" b="0" i="0" u="none" strike="noStrike">
                <a:solidFill>
                  <a:srgbClr val="000000"/>
                </a:solidFill>
                <a:effectLst/>
              </a:rPr>
              <a:t>The </a:t>
            </a:r>
            <a:r>
              <a:rPr lang="en-US" b="1" i="0" u="none" strike="noStrike">
                <a:solidFill>
                  <a:srgbClr val="000000"/>
                </a:solidFill>
                <a:effectLst/>
              </a:rPr>
              <a:t>‘Original reason’</a:t>
            </a:r>
            <a:r>
              <a:rPr lang="en-US" b="0" i="0" u="none" strike="noStrike">
                <a:solidFill>
                  <a:srgbClr val="000000"/>
                </a:solidFill>
                <a:effectLst/>
              </a:rPr>
              <a:t> for redirection was logged as </a:t>
            </a:r>
            <a:r>
              <a:rPr lang="en-US" b="0" i="1" u="none" strike="noStrike" err="1">
                <a:solidFill>
                  <a:srgbClr val="000000"/>
                </a:solidFill>
                <a:effectLst/>
              </a:rPr>
              <a:t>NoAnswer</a:t>
            </a:r>
            <a:r>
              <a:rPr lang="en-US" b="0" i="0" u="none" strike="noStrike">
                <a:solidFill>
                  <a:srgbClr val="000000"/>
                </a:solidFill>
                <a:effectLst/>
              </a:rPr>
              <a:t>, meaning the initial call to Ombudsman Intake wasn’t picked up. When that happens, Webex automatically triggers a rule called </a:t>
            </a:r>
            <a:r>
              <a:rPr lang="en-US" b="1" i="0" u="none" strike="noStrike">
                <a:solidFill>
                  <a:srgbClr val="000000"/>
                </a:solidFill>
                <a:effectLst/>
              </a:rPr>
              <a:t>‘Follow Me.’</a:t>
            </a:r>
            <a:endParaRPr lang="en-US" b="0" i="0" u="none" strike="noStrike">
              <a:solidFill>
                <a:srgbClr val="000000"/>
              </a:solidFill>
              <a:effectLst/>
            </a:endParaRPr>
          </a:p>
          <a:p>
            <a:pPr marL="158750" indent="0">
              <a:buFontTx/>
              <a:buNone/>
            </a:pPr>
            <a:r>
              <a:rPr lang="en-US" b="0" i="1" u="none" strike="noStrike">
                <a:solidFill>
                  <a:srgbClr val="000000"/>
                </a:solidFill>
                <a:effectLst/>
              </a:rPr>
              <a:t>Follow Me</a:t>
            </a:r>
            <a:r>
              <a:rPr lang="en-US" b="0" i="0" u="none" strike="noStrike">
                <a:solidFill>
                  <a:srgbClr val="000000"/>
                </a:solidFill>
                <a:effectLst/>
              </a:rPr>
              <a:t> is a configuration that tells the system: if this person doesn’t answer, forward the call to another number or service — in this case, through the </a:t>
            </a:r>
            <a:r>
              <a:rPr lang="en-US" b="1" i="0" u="none" strike="noStrike">
                <a:solidFill>
                  <a:srgbClr val="000000"/>
                </a:solidFill>
                <a:effectLst/>
              </a:rPr>
              <a:t>main number (13123411070)</a:t>
            </a:r>
            <a:r>
              <a:rPr lang="en-US" b="0" i="0" u="none" strike="noStrike">
                <a:solidFill>
                  <a:srgbClr val="000000"/>
                </a:solidFill>
                <a:effectLst/>
              </a:rPr>
              <a:t> that acts as the routing hub.</a:t>
            </a:r>
          </a:p>
          <a:p>
            <a:pPr marL="158750" indent="0">
              <a:buFontTx/>
              <a:buNone/>
            </a:pPr>
            <a:r>
              <a:rPr lang="en-US" b="0" i="0" u="none" strike="noStrike">
                <a:solidFill>
                  <a:srgbClr val="000000"/>
                </a:solidFill>
                <a:effectLst/>
              </a:rPr>
              <a:t>From there, the system redirected the call to </a:t>
            </a:r>
            <a:r>
              <a:rPr lang="en-US" b="1" i="0" u="none" strike="noStrike">
                <a:solidFill>
                  <a:srgbClr val="000000"/>
                </a:solidFill>
                <a:effectLst/>
              </a:rPr>
              <a:t>Ombudsman’s Cisco 8841 device</a:t>
            </a:r>
            <a:r>
              <a:rPr lang="en-US" b="0" i="0" u="none" strike="noStrike">
                <a:solidFill>
                  <a:srgbClr val="000000"/>
                </a:solidFill>
                <a:effectLst/>
              </a:rPr>
              <a:t>, which is a physical office phone tied to the </a:t>
            </a:r>
            <a:r>
              <a:rPr lang="en-US" b="0" i="1" u="none" strike="noStrike" err="1">
                <a:solidFill>
                  <a:srgbClr val="000000"/>
                </a:solidFill>
                <a:effectLst/>
              </a:rPr>
              <a:t>VoiceMailRetrieval</a:t>
            </a:r>
            <a:r>
              <a:rPr lang="en-US" b="0" i="0" u="none" strike="noStrike">
                <a:solidFill>
                  <a:srgbClr val="000000"/>
                </a:solidFill>
                <a:effectLst/>
              </a:rPr>
              <a:t> user type. Since that device also didn’t answer, the call was sent to </a:t>
            </a:r>
            <a:r>
              <a:rPr lang="en-US" b="1" i="0" u="none" strike="noStrike">
                <a:solidFill>
                  <a:srgbClr val="000000"/>
                </a:solidFill>
                <a:effectLst/>
              </a:rPr>
              <a:t>voicemail</a:t>
            </a:r>
            <a:r>
              <a:rPr lang="en-US" b="0" i="0" u="none" strike="noStrike">
                <a:solidFill>
                  <a:srgbClr val="000000"/>
                </a:solidFill>
                <a:effectLst/>
              </a:rPr>
              <a:t>, where it was successfully completed.</a:t>
            </a:r>
          </a:p>
          <a:p>
            <a:pPr marL="158750" indent="0">
              <a:buFontTx/>
              <a:buNone/>
            </a:pPr>
            <a:r>
              <a:rPr lang="en-US" b="0" i="0" u="none" strike="noStrike">
                <a:solidFill>
                  <a:srgbClr val="000000"/>
                </a:solidFill>
                <a:effectLst/>
              </a:rPr>
              <a:t>So in the data, we see multiple rows with the same Correlation ID — one showing the </a:t>
            </a:r>
            <a:r>
              <a:rPr lang="en-US" b="0" i="1" u="none" strike="noStrike">
                <a:solidFill>
                  <a:srgbClr val="000000"/>
                </a:solidFill>
                <a:effectLst/>
              </a:rPr>
              <a:t>originating leg</a:t>
            </a:r>
            <a:r>
              <a:rPr lang="en-US" b="0" i="0" u="none" strike="noStrike">
                <a:solidFill>
                  <a:srgbClr val="000000"/>
                </a:solidFill>
                <a:effectLst/>
              </a:rPr>
              <a:t>, one the </a:t>
            </a:r>
            <a:r>
              <a:rPr lang="en-US" b="0" i="1" u="none" strike="noStrike">
                <a:solidFill>
                  <a:srgbClr val="000000"/>
                </a:solidFill>
                <a:effectLst/>
              </a:rPr>
              <a:t>terminating leg</a:t>
            </a:r>
            <a:r>
              <a:rPr lang="en-US" b="0" i="0" u="none" strike="noStrike">
                <a:solidFill>
                  <a:srgbClr val="000000"/>
                </a:solidFill>
                <a:effectLst/>
              </a:rPr>
              <a:t>, and one indicating the </a:t>
            </a:r>
            <a:r>
              <a:rPr lang="en-US" b="0" i="1" u="none" strike="noStrike">
                <a:solidFill>
                  <a:srgbClr val="000000"/>
                </a:solidFill>
                <a:effectLst/>
              </a:rPr>
              <a:t>redirect event</a:t>
            </a:r>
            <a:r>
              <a:rPr lang="en-US" b="0" i="0" u="none" strike="noStrike">
                <a:solidFill>
                  <a:srgbClr val="000000"/>
                </a:solidFill>
                <a:effectLst/>
              </a:rPr>
              <a:t>.</a:t>
            </a:r>
          </a:p>
          <a:p>
            <a:pPr marL="158750" indent="0">
              <a:buFontTx/>
              <a:buNone/>
            </a:pPr>
            <a:r>
              <a:rPr lang="en-US" b="0" i="0" u="none" strike="noStrike">
                <a:solidFill>
                  <a:srgbClr val="000000"/>
                </a:solidFill>
                <a:effectLst/>
              </a:rPr>
              <a:t>What this demonstrates is that even when a front-desk or staff member doesn’t answer, the system’s redirection logic ensures the call</a:t>
            </a:r>
          </a:p>
          <a:p>
            <a:pPr marL="0" lvl="0" indent="0" algn="l" rtl="0">
              <a:spcBef>
                <a:spcPts val="0"/>
              </a:spcBef>
              <a:spcAft>
                <a:spcPts val="0"/>
              </a:spcAft>
              <a:buNone/>
            </a:pPr>
            <a:endParaRPr/>
          </a:p>
        </p:txBody>
      </p:sp>
      <p:sp>
        <p:nvSpPr>
          <p:cNvPr id="330" name="Google Shape;330;g38ee7bdb053_6_34:notes">
            <a:extLst>
              <a:ext uri="{FF2B5EF4-FFF2-40B4-BE49-F238E27FC236}">
                <a16:creationId xmlns:a16="http://schemas.microsoft.com/office/drawing/2014/main" id="{3F0578EC-FA34-5C9F-66F2-97E4581FB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25834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8a2969036c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
                <a:solidFill>
                  <a:schemeClr val="dk1"/>
                </a:solidFill>
                <a:latin typeface="Calibri"/>
                <a:ea typeface="Calibri"/>
                <a:cs typeface="Calibri"/>
                <a:sym typeface="Calibri"/>
              </a:rPr>
              <a:t>Tatum: </a:t>
            </a:r>
          </a:p>
          <a:p>
            <a:pPr marL="0" marR="139700" lvl="0" indent="0" algn="l" rtl="0">
              <a:lnSpc>
                <a:spcPct val="115000"/>
              </a:lnSpc>
              <a:spcBef>
                <a:spcPts val="0"/>
              </a:spcBef>
              <a:spcAft>
                <a:spcPts val="0"/>
              </a:spcAft>
              <a:buNone/>
            </a:pPr>
            <a:endParaRPr lang="en">
              <a:solidFill>
                <a:schemeClr val="dk1"/>
              </a:solidFill>
              <a:latin typeface="Calibri"/>
              <a:ea typeface="Calibri"/>
              <a:cs typeface="Calibri"/>
              <a:sym typeface="Calibri"/>
            </a:endParaRPr>
          </a:p>
          <a:p>
            <a:r>
              <a:rPr lang="en-US" b="0" i="0" u="none" strike="noStrike">
                <a:solidFill>
                  <a:srgbClr val="000000"/>
                </a:solidFill>
                <a:effectLst/>
              </a:rPr>
              <a:t>This analysis shows that the front desk is performing efficiently — nearly all incoming calls ultimately reach a person, even when they’re redirected. The majority of these calls use Webex’s </a:t>
            </a:r>
            <a:r>
              <a:rPr lang="en-US" b="1" i="0" u="none" strike="noStrike">
                <a:solidFill>
                  <a:srgbClr val="000000"/>
                </a:solidFill>
                <a:effectLst/>
              </a:rPr>
              <a:t>“Follow Me”</a:t>
            </a:r>
            <a:r>
              <a:rPr lang="en-US" b="0" i="0" u="none" strike="noStrike">
                <a:solidFill>
                  <a:srgbClr val="000000"/>
                </a:solidFill>
                <a:effectLst/>
              </a:rPr>
              <a:t> feature, which automatically forwards calls through a predefined sequence (for example, from the front desk to another line or team) until someone answers. This automation minimizes missed calls and ensures continuous coverage even when the primary line is busy or unattended.</a:t>
            </a:r>
          </a:p>
          <a:p>
            <a:r>
              <a:rPr lang="en-US" b="0" i="0" u="none" strike="noStrike">
                <a:solidFill>
                  <a:srgbClr val="000000"/>
                </a:solidFill>
                <a:effectLst/>
              </a:rPr>
              <a:t>However, while the system’s routing is effective, it also indicates that much of the workload is being managed </a:t>
            </a:r>
            <a:r>
              <a:rPr lang="en-US" b="1" i="0" u="none" strike="noStrike">
                <a:solidFill>
                  <a:srgbClr val="000000"/>
                </a:solidFill>
                <a:effectLst/>
              </a:rPr>
              <a:t>through automation rather than direct response</a:t>
            </a:r>
            <a:r>
              <a:rPr lang="en-US" b="0" i="0" u="none" strike="noStrike">
                <a:solidFill>
                  <a:srgbClr val="000000"/>
                </a:solidFill>
                <a:effectLst/>
              </a:rPr>
              <a:t>. Understanding </a:t>
            </a:r>
            <a:r>
              <a:rPr lang="en-US" b="0" i="1" u="none" strike="noStrike">
                <a:solidFill>
                  <a:srgbClr val="000000"/>
                </a:solidFill>
                <a:effectLst/>
              </a:rPr>
              <a:t>where</a:t>
            </a:r>
            <a:r>
              <a:rPr lang="en-US" b="0" i="0" u="none" strike="noStrike">
                <a:solidFill>
                  <a:srgbClr val="000000"/>
                </a:solidFill>
                <a:effectLst/>
              </a:rPr>
              <a:t> these redirected calls go and </a:t>
            </a:r>
            <a:r>
              <a:rPr lang="en-US" b="0" i="1" u="none" strike="noStrike">
                <a:solidFill>
                  <a:srgbClr val="000000"/>
                </a:solidFill>
                <a:effectLst/>
              </a:rPr>
              <a:t>when</a:t>
            </a:r>
            <a:r>
              <a:rPr lang="en-US" b="0" i="0" u="none" strike="noStrike">
                <a:solidFill>
                  <a:srgbClr val="000000"/>
                </a:solidFill>
                <a:effectLst/>
              </a:rPr>
              <a:t> peak volumes occur can help optimize staffing patterns, balance workloads, and potentially reduce reliance on Follow Me logic for basic call handling.</a:t>
            </a:r>
          </a:p>
          <a:p>
            <a:pPr marL="0" marR="139700" lvl="0" indent="0" algn="l" rtl="0">
              <a:lnSpc>
                <a:spcPct val="115000"/>
              </a:lnSpc>
              <a:spcBef>
                <a:spcPts val="0"/>
              </a:spcBef>
              <a:spcAft>
                <a:spcPts val="0"/>
              </a:spcAft>
              <a:buNone/>
            </a:pPr>
            <a:endParaRPr lang="en">
              <a:solidFill>
                <a:schemeClr val="dk1"/>
              </a:solidFill>
              <a:latin typeface="Calibri"/>
              <a:ea typeface="Calibri"/>
              <a:cs typeface="Calibri"/>
              <a:sym typeface="Calibri"/>
            </a:endParaRPr>
          </a:p>
        </p:txBody>
      </p:sp>
      <p:sp>
        <p:nvSpPr>
          <p:cNvPr id="268" name="Google Shape;268;g38a2969036c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0056F7B3-61C2-5D87-ABA4-FA613226B2FE}"/>
            </a:ext>
          </a:extLst>
        </p:cNvPr>
        <p:cNvGrpSpPr/>
        <p:nvPr/>
      </p:nvGrpSpPr>
      <p:grpSpPr>
        <a:xfrm>
          <a:off x="0" y="0"/>
          <a:ext cx="0" cy="0"/>
          <a:chOff x="0" y="0"/>
          <a:chExt cx="0" cy="0"/>
        </a:xfrm>
      </p:grpSpPr>
      <p:sp>
        <p:nvSpPr>
          <p:cNvPr id="267" name="Google Shape;267;g38a2969036c_2_0:notes">
            <a:extLst>
              <a:ext uri="{FF2B5EF4-FFF2-40B4-BE49-F238E27FC236}">
                <a16:creationId xmlns:a16="http://schemas.microsoft.com/office/drawing/2014/main" id="{0DBE16C5-D0BF-E43E-E89C-383D313026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0" i="0" u="none" strike="noStrike">
                <a:solidFill>
                  <a:srgbClr val="000000"/>
                </a:solidFill>
                <a:effectLst/>
              </a:rPr>
              <a:t>These visuals show how the system distributes incoming calls throughout the day and where they are being routed. The </a:t>
            </a:r>
            <a:r>
              <a:rPr lang="en-US" b="1" i="0" u="none" strike="noStrike">
                <a:solidFill>
                  <a:srgbClr val="000000"/>
                </a:solidFill>
                <a:effectLst/>
              </a:rPr>
              <a:t>main number (13123411070)</a:t>
            </a:r>
            <a:r>
              <a:rPr lang="en-US" b="0" i="0" u="none" strike="noStrike">
                <a:solidFill>
                  <a:srgbClr val="000000"/>
                </a:solidFill>
                <a:effectLst/>
              </a:rPr>
              <a:t> is not tied to an individual user — it functions as an </a:t>
            </a:r>
            <a:r>
              <a:rPr lang="en-US" b="1" i="0" u="none" strike="noStrike">
                <a:solidFill>
                  <a:srgbClr val="000000"/>
                </a:solidFill>
                <a:effectLst/>
              </a:rPr>
              <a:t>automated routing hub</a:t>
            </a:r>
            <a:r>
              <a:rPr lang="en-US" b="0" i="0" u="none" strike="noStrike">
                <a:solidFill>
                  <a:srgbClr val="000000"/>
                </a:solidFill>
                <a:effectLst/>
              </a:rPr>
              <a:t> in the Webex system. Most calls from the front desk are handled through </a:t>
            </a:r>
            <a:r>
              <a:rPr lang="en-US" b="1" i="0" u="none" strike="noStrike">
                <a:solidFill>
                  <a:srgbClr val="000000"/>
                </a:solidFill>
                <a:effectLst/>
              </a:rPr>
              <a:t>“Follow Me” logic</a:t>
            </a:r>
            <a:r>
              <a:rPr lang="en-US" b="0" i="0" u="none" strike="noStrike">
                <a:solidFill>
                  <a:srgbClr val="000000"/>
                </a:solidFill>
                <a:effectLst/>
              </a:rPr>
              <a:t>, which is a Webex feature that automatically forwards incoming calls to a series of predefined destinations (such as another line, voicemail, or queue) until the call is answered.</a:t>
            </a:r>
          </a:p>
          <a:p>
            <a:r>
              <a:rPr lang="en-US" b="0" i="0" u="none" strike="noStrike">
                <a:solidFill>
                  <a:srgbClr val="000000"/>
                </a:solidFill>
                <a:effectLst/>
              </a:rPr>
              <a:t>In practice, this means that when a client calls the front desk, the system itself—not a staff member—redirects the call based on routing rules. This ensures coverage even when the front desk is busy or unavailable. The call volume trend shows that activity peaks between </a:t>
            </a:r>
            <a:r>
              <a:rPr lang="en-US" b="1" i="0" u="none" strike="noStrike">
                <a:solidFill>
                  <a:srgbClr val="000000"/>
                </a:solidFill>
                <a:effectLst/>
              </a:rPr>
              <a:t>9 AM and 2 PM</a:t>
            </a:r>
            <a:r>
              <a:rPr lang="en-US" b="0" i="0" u="none" strike="noStrike">
                <a:solidFill>
                  <a:srgbClr val="000000"/>
                </a:solidFill>
                <a:effectLst/>
              </a:rPr>
              <a:t>, reflecting the core hours when most client inquiries occur.</a:t>
            </a:r>
          </a:p>
          <a:p>
            <a:r>
              <a:rPr lang="en-US" b="0" i="0" u="none" strike="noStrike">
                <a:solidFill>
                  <a:srgbClr val="000000"/>
                </a:solidFill>
                <a:effectLst/>
              </a:rPr>
              <a:t>If these patterns align with staff availability, there may be an opportunity to </a:t>
            </a:r>
            <a:r>
              <a:rPr lang="en-US" b="1" i="0" u="none" strike="noStrike">
                <a:solidFill>
                  <a:srgbClr val="000000"/>
                </a:solidFill>
                <a:effectLst/>
              </a:rPr>
              <a:t>optimize call handling</a:t>
            </a:r>
            <a:r>
              <a:rPr lang="en-US" b="0" i="0" u="none" strike="noStrike">
                <a:solidFill>
                  <a:srgbClr val="000000"/>
                </a:solidFill>
                <a:effectLst/>
              </a:rPr>
              <a:t> by aligning coverage with these peak hours or by adjusting the routing order to shorten wait times. Alternatively, if these automated redirects are handling overflow, it may indicate that </a:t>
            </a:r>
            <a:r>
              <a:rPr lang="en-US" b="1" i="0" u="none" strike="noStrike">
                <a:solidFill>
                  <a:srgbClr val="000000"/>
                </a:solidFill>
                <a:effectLst/>
              </a:rPr>
              <a:t>staffing levels during mid-day are insufficient</a:t>
            </a:r>
            <a:r>
              <a:rPr lang="en-US" b="0" i="0" u="none" strike="noStrike">
                <a:solidFill>
                  <a:srgbClr val="000000"/>
                </a:solidFill>
                <a:effectLst/>
              </a:rPr>
              <a:t>, placing more pressure on the Follow Me system.</a:t>
            </a:r>
          </a:p>
          <a:p>
            <a:pPr marL="0" marR="139700" lvl="0" indent="0" algn="l" rtl="0">
              <a:lnSpc>
                <a:spcPct val="115000"/>
              </a:lnSpc>
              <a:spcBef>
                <a:spcPts val="0"/>
              </a:spcBef>
              <a:spcAft>
                <a:spcPts val="0"/>
              </a:spcAft>
              <a:buNone/>
            </a:pPr>
            <a:endParaRPr>
              <a:solidFill>
                <a:schemeClr val="dk1"/>
              </a:solidFill>
              <a:latin typeface="Calibri"/>
              <a:ea typeface="Calibri"/>
              <a:cs typeface="Calibri"/>
              <a:sym typeface="Calibri"/>
            </a:endParaRPr>
          </a:p>
        </p:txBody>
      </p:sp>
      <p:sp>
        <p:nvSpPr>
          <p:cNvPr id="268" name="Google Shape;268;g38a2969036c_2_0:notes">
            <a:extLst>
              <a:ext uri="{FF2B5EF4-FFF2-40B4-BE49-F238E27FC236}">
                <a16:creationId xmlns:a16="http://schemas.microsoft.com/office/drawing/2014/main" id="{1A55C7F8-79BA-3E1B-1D4F-57968FECA0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899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8bed8068b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
                <a:solidFill>
                  <a:schemeClr val="dk1"/>
                </a:solidFill>
                <a:latin typeface="Calibri"/>
                <a:ea typeface="Calibri"/>
                <a:cs typeface="Calibri"/>
                <a:sym typeface="Calibri"/>
              </a:rPr>
              <a:t>Tatum </a:t>
            </a:r>
            <a:endParaRPr>
              <a:solidFill>
                <a:schemeClr val="dk1"/>
              </a:solidFill>
              <a:latin typeface="Calibri"/>
              <a:ea typeface="Calibri"/>
              <a:cs typeface="Calibri"/>
              <a:sym typeface="Calibri"/>
            </a:endParaRPr>
          </a:p>
          <a:p>
            <a:pPr marL="0" marR="139700" lvl="0" indent="0" algn="l" rtl="0">
              <a:lnSpc>
                <a:spcPct val="115000"/>
              </a:lnSpc>
              <a:spcBef>
                <a:spcPts val="0"/>
              </a:spcBef>
              <a:spcAft>
                <a:spcPts val="0"/>
              </a:spcAft>
              <a:buNone/>
            </a:pPr>
            <a:endParaRPr>
              <a:solidFill>
                <a:schemeClr val="dk1"/>
              </a:solidFill>
              <a:latin typeface="Calibri"/>
              <a:ea typeface="Calibri"/>
              <a:cs typeface="Calibri"/>
              <a:sym typeface="Calibri"/>
            </a:endParaRPr>
          </a:p>
        </p:txBody>
      </p:sp>
      <p:sp>
        <p:nvSpPr>
          <p:cNvPr id="281" name="Google Shape;281;g38bed8068b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8ee7bdb053_6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Ella </a:t>
            </a:r>
            <a:endParaRPr/>
          </a:p>
          <a:p>
            <a:pPr marL="457200" lvl="0" indent="-298450" algn="l" rtl="0">
              <a:spcBef>
                <a:spcPts val="0"/>
              </a:spcBef>
              <a:spcAft>
                <a:spcPts val="0"/>
              </a:spcAft>
              <a:buSzPts val="1100"/>
              <a:buChar char="-"/>
            </a:pPr>
            <a:r>
              <a:rPr lang="en"/>
              <a:t>Need to clarify meaning of outbound calls</a:t>
            </a:r>
            <a:endParaRPr/>
          </a:p>
          <a:p>
            <a:pPr marL="457200" lvl="0" indent="-298450" algn="l" rtl="0">
              <a:spcBef>
                <a:spcPts val="1000"/>
              </a:spcBef>
              <a:spcAft>
                <a:spcPts val="0"/>
              </a:spcAft>
              <a:buClr>
                <a:schemeClr val="dk1"/>
              </a:buClr>
              <a:buSzPts val="1100"/>
              <a:buChar char="-"/>
            </a:pPr>
            <a:r>
              <a:rPr lang="en">
                <a:solidFill>
                  <a:schemeClr val="dk1"/>
                </a:solidFill>
              </a:rPr>
              <a:t>s a longer call duration a positive or negative?</a:t>
            </a:r>
            <a:endParaRPr>
              <a:solidFill>
                <a:schemeClr val="dk1"/>
              </a:solidFill>
            </a:endParaRPr>
          </a:p>
          <a:p>
            <a:pPr marL="457200" lvl="0" indent="-298450" algn="l" rtl="0">
              <a:spcBef>
                <a:spcPts val="1000"/>
              </a:spcBef>
              <a:spcAft>
                <a:spcPts val="0"/>
              </a:spcAft>
              <a:buClr>
                <a:schemeClr val="dk1"/>
              </a:buClr>
              <a:buSzPts val="1100"/>
              <a:buChar char="-"/>
            </a:pPr>
            <a:r>
              <a:rPr lang="en">
                <a:solidFill>
                  <a:schemeClr val="dk1"/>
                </a:solidFill>
              </a:rPr>
              <a:t>Why do calls that are redirected for the “Unconditional” or “Deflection” reasons have much longer durations than those redirected for other reasons?</a:t>
            </a:r>
            <a:endParaRPr>
              <a:solidFill>
                <a:schemeClr val="dk1"/>
              </a:solidFill>
            </a:endParaRPr>
          </a:p>
          <a:p>
            <a:pPr marL="457200" lvl="0" indent="-298450" algn="l" rtl="0">
              <a:spcBef>
                <a:spcPts val="1000"/>
              </a:spcBef>
              <a:spcAft>
                <a:spcPts val="0"/>
              </a:spcAft>
              <a:buClr>
                <a:schemeClr val="dk1"/>
              </a:buClr>
              <a:buSzPts val="1100"/>
              <a:buChar char="-"/>
            </a:pPr>
            <a:r>
              <a:rPr lang="en">
                <a:solidFill>
                  <a:schemeClr val="dk1"/>
                </a:solidFill>
              </a:rPr>
              <a:t>Are calls that are redirected for a certain reason more likely to be redirected again?</a:t>
            </a:r>
            <a:endParaRPr>
              <a:solidFill>
                <a:schemeClr val="dk1"/>
              </a:solidFill>
            </a:endParaRPr>
          </a:p>
          <a:p>
            <a:pPr marL="457200" lvl="0" indent="-342900" algn="l" rtl="0">
              <a:spcBef>
                <a:spcPts val="1000"/>
              </a:spcBef>
              <a:spcAft>
                <a:spcPts val="0"/>
              </a:spcAft>
              <a:buClr>
                <a:schemeClr val="dk1"/>
              </a:buClr>
              <a:buSzPts val="1800"/>
              <a:buFont typeface="Calibri"/>
              <a:buChar char="-"/>
            </a:pPr>
            <a:r>
              <a:rPr lang="en">
                <a:solidFill>
                  <a:schemeClr val="dk1"/>
                </a:solidFill>
              </a:rPr>
              <a:t>Compare to redirection reasons and durations for Outbound call</a:t>
            </a:r>
            <a:r>
              <a:rPr lang="en"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330" name="Google Shape;330;g38ee7bdb053_6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1946F5C7-29BC-F2E6-468A-1D91B32F9F24}"/>
            </a:ext>
          </a:extLst>
        </p:cNvPr>
        <p:cNvGrpSpPr/>
        <p:nvPr/>
      </p:nvGrpSpPr>
      <p:grpSpPr>
        <a:xfrm>
          <a:off x="0" y="0"/>
          <a:ext cx="0" cy="0"/>
          <a:chOff x="0" y="0"/>
          <a:chExt cx="0" cy="0"/>
        </a:xfrm>
      </p:grpSpPr>
      <p:sp>
        <p:nvSpPr>
          <p:cNvPr id="338" name="Google Shape;338;g38ee7bdb053_6_3:notes">
            <a:extLst>
              <a:ext uri="{FF2B5EF4-FFF2-40B4-BE49-F238E27FC236}">
                <a16:creationId xmlns:a16="http://schemas.microsoft.com/office/drawing/2014/main" id="{6C3003FC-D0B2-9189-8503-5D824E5570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8ee7bdb053_6_3:notes">
            <a:extLst>
              <a:ext uri="{FF2B5EF4-FFF2-40B4-BE49-F238E27FC236}">
                <a16:creationId xmlns:a16="http://schemas.microsoft.com/office/drawing/2014/main" id="{0FF958BA-1A82-A079-BDB2-9B42F422E0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013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4D435E79-9939-6120-74A3-A83A4BF05EB7}"/>
            </a:ext>
          </a:extLst>
        </p:cNvPr>
        <p:cNvGrpSpPr/>
        <p:nvPr/>
      </p:nvGrpSpPr>
      <p:grpSpPr>
        <a:xfrm>
          <a:off x="0" y="0"/>
          <a:ext cx="0" cy="0"/>
          <a:chOff x="0" y="0"/>
          <a:chExt cx="0" cy="0"/>
        </a:xfrm>
      </p:grpSpPr>
      <p:sp>
        <p:nvSpPr>
          <p:cNvPr id="329" name="Google Shape;329;g38ee7bdb053_6_34:notes">
            <a:extLst>
              <a:ext uri="{FF2B5EF4-FFF2-40B4-BE49-F238E27FC236}">
                <a16:creationId xmlns:a16="http://schemas.microsoft.com/office/drawing/2014/main" id="{D6B440C6-625B-5EB8-198F-881FA02200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Liv</a:t>
            </a:r>
            <a:endParaRPr/>
          </a:p>
        </p:txBody>
      </p:sp>
      <p:sp>
        <p:nvSpPr>
          <p:cNvPr id="330" name="Google Shape;330;g38ee7bdb053_6_34:notes">
            <a:extLst>
              <a:ext uri="{FF2B5EF4-FFF2-40B4-BE49-F238E27FC236}">
                <a16:creationId xmlns:a16="http://schemas.microsoft.com/office/drawing/2014/main" id="{3E6FF1E9-2404-130E-9278-E705253DA1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0468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0E0D161A-FE6F-46C2-4F51-234F5AD7D01A}"/>
            </a:ext>
          </a:extLst>
        </p:cNvPr>
        <p:cNvGrpSpPr/>
        <p:nvPr/>
      </p:nvGrpSpPr>
      <p:grpSpPr>
        <a:xfrm>
          <a:off x="0" y="0"/>
          <a:ext cx="0" cy="0"/>
          <a:chOff x="0" y="0"/>
          <a:chExt cx="0" cy="0"/>
        </a:xfrm>
      </p:grpSpPr>
      <p:sp>
        <p:nvSpPr>
          <p:cNvPr id="267" name="Google Shape;267;g38a2969036c_2_0:notes">
            <a:extLst>
              <a:ext uri="{FF2B5EF4-FFF2-40B4-BE49-F238E27FC236}">
                <a16:creationId xmlns:a16="http://schemas.microsoft.com/office/drawing/2014/main" id="{C3FA53CB-B5AE-57EC-F6B7-5CBDE35657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US">
                <a:solidFill>
                  <a:schemeClr val="dk1"/>
                </a:solidFill>
                <a:latin typeface="Calibri"/>
                <a:ea typeface="Calibri"/>
                <a:cs typeface="Calibri"/>
                <a:sym typeface="Calibri"/>
              </a:rPr>
              <a:t>Liv</a:t>
            </a:r>
            <a:endParaRPr>
              <a:solidFill>
                <a:schemeClr val="dk1"/>
              </a:solidFill>
              <a:latin typeface="Calibri"/>
              <a:ea typeface="Calibri"/>
              <a:cs typeface="Calibri"/>
              <a:sym typeface="Calibri"/>
            </a:endParaRPr>
          </a:p>
        </p:txBody>
      </p:sp>
      <p:sp>
        <p:nvSpPr>
          <p:cNvPr id="268" name="Google Shape;268;g38a2969036c_2_0:notes">
            <a:extLst>
              <a:ext uri="{FF2B5EF4-FFF2-40B4-BE49-F238E27FC236}">
                <a16:creationId xmlns:a16="http://schemas.microsoft.com/office/drawing/2014/main" id="{14BD71B6-5D03-17F1-689B-41E746620D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2844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F380655E-8500-7A17-FFC4-FA4FCBDD55D4}"/>
            </a:ext>
          </a:extLst>
        </p:cNvPr>
        <p:cNvGrpSpPr/>
        <p:nvPr/>
      </p:nvGrpSpPr>
      <p:grpSpPr>
        <a:xfrm>
          <a:off x="0" y="0"/>
          <a:ext cx="0" cy="0"/>
          <a:chOff x="0" y="0"/>
          <a:chExt cx="0" cy="0"/>
        </a:xfrm>
      </p:grpSpPr>
      <p:sp>
        <p:nvSpPr>
          <p:cNvPr id="267" name="Google Shape;267;g38a2969036c_2_0:notes">
            <a:extLst>
              <a:ext uri="{FF2B5EF4-FFF2-40B4-BE49-F238E27FC236}">
                <a16:creationId xmlns:a16="http://schemas.microsoft.com/office/drawing/2014/main" id="{A5E749A3-3025-88B9-E4A0-8E4AA6AFE9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US" dirty="0">
                <a:solidFill>
                  <a:schemeClr val="dk1"/>
                </a:solidFill>
                <a:latin typeface="Calibri"/>
                <a:ea typeface="Calibri"/>
                <a:cs typeface="Calibri"/>
                <a:sym typeface="Calibri"/>
              </a:rPr>
              <a:t>Ella</a:t>
            </a:r>
            <a:endParaRPr dirty="0">
              <a:solidFill>
                <a:schemeClr val="dk1"/>
              </a:solidFill>
              <a:latin typeface="Calibri"/>
              <a:ea typeface="Calibri"/>
              <a:cs typeface="Calibri"/>
              <a:sym typeface="Calibri"/>
            </a:endParaRPr>
          </a:p>
        </p:txBody>
      </p:sp>
      <p:sp>
        <p:nvSpPr>
          <p:cNvPr id="268" name="Google Shape;268;g38a2969036c_2_0:notes">
            <a:extLst>
              <a:ext uri="{FF2B5EF4-FFF2-40B4-BE49-F238E27FC236}">
                <a16:creationId xmlns:a16="http://schemas.microsoft.com/office/drawing/2014/main" id="{8CB177E2-5DA4-40F9-D6DB-F4092095A5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596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902C6487-D515-26D9-6E50-535EED203647}"/>
            </a:ext>
          </a:extLst>
        </p:cNvPr>
        <p:cNvGrpSpPr/>
        <p:nvPr/>
      </p:nvGrpSpPr>
      <p:grpSpPr>
        <a:xfrm>
          <a:off x="0" y="0"/>
          <a:ext cx="0" cy="0"/>
          <a:chOff x="0" y="0"/>
          <a:chExt cx="0" cy="0"/>
        </a:xfrm>
      </p:grpSpPr>
      <p:sp>
        <p:nvSpPr>
          <p:cNvPr id="267" name="Google Shape;267;g38a2969036c_2_0:notes">
            <a:extLst>
              <a:ext uri="{FF2B5EF4-FFF2-40B4-BE49-F238E27FC236}">
                <a16:creationId xmlns:a16="http://schemas.microsoft.com/office/drawing/2014/main" id="{BF98E2A0-3C14-53D0-ABFE-BA6FB0F052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
                <a:solidFill>
                  <a:schemeClr val="dk1"/>
                </a:solidFill>
                <a:latin typeface="Calibri"/>
                <a:ea typeface="Calibri"/>
                <a:cs typeface="Calibri"/>
                <a:sym typeface="Calibri"/>
              </a:rPr>
              <a:t>Ella</a:t>
            </a:r>
            <a:endParaRPr>
              <a:solidFill>
                <a:schemeClr val="dk1"/>
              </a:solidFill>
              <a:latin typeface="Calibri"/>
              <a:ea typeface="Calibri"/>
              <a:cs typeface="Calibri"/>
              <a:sym typeface="Calibri"/>
            </a:endParaRPr>
          </a:p>
        </p:txBody>
      </p:sp>
      <p:sp>
        <p:nvSpPr>
          <p:cNvPr id="268" name="Google Shape;268;g38a2969036c_2_0:notes">
            <a:extLst>
              <a:ext uri="{FF2B5EF4-FFF2-40B4-BE49-F238E27FC236}">
                <a16:creationId xmlns:a16="http://schemas.microsoft.com/office/drawing/2014/main" id="{F5545146-DC58-5EB7-69B8-902AF07058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23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2E55A43B-B0FC-6D31-6AC4-62D665F68D6A}"/>
            </a:ext>
          </a:extLst>
        </p:cNvPr>
        <p:cNvGrpSpPr/>
        <p:nvPr/>
      </p:nvGrpSpPr>
      <p:grpSpPr>
        <a:xfrm>
          <a:off x="0" y="0"/>
          <a:ext cx="0" cy="0"/>
          <a:chOff x="0" y="0"/>
          <a:chExt cx="0" cy="0"/>
        </a:xfrm>
      </p:grpSpPr>
      <p:sp>
        <p:nvSpPr>
          <p:cNvPr id="280" name="Google Shape;280;g38bed8068be_0_7:notes">
            <a:extLst>
              <a:ext uri="{FF2B5EF4-FFF2-40B4-BE49-F238E27FC236}">
                <a16:creationId xmlns:a16="http://schemas.microsoft.com/office/drawing/2014/main" id="{B899C3A2-683E-77B0-75B7-D69A4C6D63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139700" lvl="0" indent="0" algn="l" rtl="0">
              <a:lnSpc>
                <a:spcPct val="115000"/>
              </a:lnSpc>
              <a:spcBef>
                <a:spcPts val="0"/>
              </a:spcBef>
              <a:spcAft>
                <a:spcPts val="0"/>
              </a:spcAft>
              <a:buNone/>
            </a:pPr>
            <a:r>
              <a:rPr lang="en" dirty="0">
                <a:solidFill>
                  <a:schemeClr val="dk1"/>
                </a:solidFill>
                <a:latin typeface="Calibri"/>
                <a:ea typeface="Calibri"/>
                <a:cs typeface="Calibri"/>
                <a:sym typeface="Calibri"/>
              </a:rPr>
              <a:t> </a:t>
            </a:r>
            <a:endParaRPr dirty="0">
              <a:solidFill>
                <a:schemeClr val="dk1"/>
              </a:solidFill>
              <a:latin typeface="Calibri"/>
              <a:ea typeface="Calibri"/>
              <a:cs typeface="Calibri"/>
              <a:sym typeface="Calibri"/>
            </a:endParaRPr>
          </a:p>
          <a:p>
            <a:pPr marL="0" marR="139700" lvl="0" indent="0" algn="l" rtl="0">
              <a:lnSpc>
                <a:spcPct val="115000"/>
              </a:lnSpc>
              <a:spcBef>
                <a:spcPts val="0"/>
              </a:spcBef>
              <a:spcAft>
                <a:spcPts val="0"/>
              </a:spcAft>
              <a:buNone/>
            </a:pPr>
            <a:r>
              <a:rPr lang="en-US" dirty="0">
                <a:solidFill>
                  <a:schemeClr val="dk1"/>
                </a:solidFill>
                <a:latin typeface="Calibri"/>
                <a:ea typeface="Calibri"/>
                <a:cs typeface="Calibri"/>
                <a:sym typeface="Calibri"/>
              </a:rPr>
              <a:t>Ella</a:t>
            </a:r>
          </a:p>
          <a:p>
            <a:pPr marL="0" marR="139700" lvl="0" indent="0" algn="l" rtl="0">
              <a:lnSpc>
                <a:spcPct val="115000"/>
              </a:lnSpc>
              <a:spcBef>
                <a:spcPts val="0"/>
              </a:spcBef>
              <a:spcAft>
                <a:spcPts val="0"/>
              </a:spcAft>
              <a:buNone/>
            </a:pPr>
            <a:endParaRPr lang="en-US" dirty="0">
              <a:solidFill>
                <a:schemeClr val="dk1"/>
              </a:solidFill>
              <a:latin typeface="Calibri"/>
              <a:ea typeface="Calibri"/>
              <a:cs typeface="Calibri"/>
              <a:sym typeface="Calibri"/>
            </a:endParaRPr>
          </a:p>
          <a:p>
            <a:pPr marL="0" marR="139700" lvl="0" indent="0" algn="l" rtl="0">
              <a:lnSpc>
                <a:spcPct val="115000"/>
              </a:lnSpc>
              <a:spcBef>
                <a:spcPts val="0"/>
              </a:spcBef>
              <a:spcAft>
                <a:spcPts val="0"/>
              </a:spcAft>
              <a:buNone/>
            </a:pPr>
            <a:r>
              <a:rPr lang="en-US" dirty="0">
                <a:solidFill>
                  <a:schemeClr val="dk1"/>
                </a:solidFill>
                <a:latin typeface="Calibri"/>
                <a:ea typeface="Calibri"/>
                <a:cs typeface="Calibri"/>
                <a:sym typeface="Calibri"/>
              </a:rPr>
              <a:t>2. Does ppl visiting menus </a:t>
            </a:r>
            <a:r>
              <a:rPr lang="en-US">
                <a:solidFill>
                  <a:schemeClr val="dk1"/>
                </a:solidFill>
                <a:latin typeface="Calibri"/>
                <a:ea typeface="Calibri"/>
                <a:cs typeface="Calibri"/>
                <a:sym typeface="Calibri"/>
              </a:rPr>
              <a:t>a lot of times mean it’s inefficient?</a:t>
            </a:r>
            <a:endParaRPr lang="en-US" dirty="0">
              <a:solidFill>
                <a:schemeClr val="dk1"/>
              </a:solidFill>
              <a:latin typeface="Calibri"/>
              <a:ea typeface="Calibri"/>
              <a:cs typeface="Calibri"/>
              <a:sym typeface="Calibri"/>
            </a:endParaRPr>
          </a:p>
          <a:p>
            <a:pPr marL="0" marR="139700" lvl="0" indent="0" algn="l" rtl="0">
              <a:lnSpc>
                <a:spcPct val="115000"/>
              </a:lnSpc>
              <a:spcBef>
                <a:spcPts val="0"/>
              </a:spcBef>
              <a:spcAft>
                <a:spcPts val="0"/>
              </a:spcAft>
              <a:buNone/>
            </a:pPr>
            <a:endParaRPr lang="en-US" dirty="0">
              <a:solidFill>
                <a:schemeClr val="dk1"/>
              </a:solidFill>
              <a:latin typeface="Calibri"/>
              <a:ea typeface="Calibri"/>
              <a:cs typeface="Calibri"/>
              <a:sym typeface="Calibri"/>
            </a:endParaRPr>
          </a:p>
          <a:p>
            <a:pPr marL="0" marR="139700" lvl="0" indent="0" algn="l" rtl="0">
              <a:lnSpc>
                <a:spcPct val="115000"/>
              </a:lnSpc>
              <a:spcBef>
                <a:spcPts val="0"/>
              </a:spcBef>
              <a:spcAft>
                <a:spcPts val="0"/>
              </a:spcAft>
              <a:buNone/>
            </a:pPr>
            <a:r>
              <a:rPr lang="en-US" dirty="0">
                <a:solidFill>
                  <a:schemeClr val="dk1"/>
                </a:solidFill>
                <a:latin typeface="Calibri"/>
                <a:ea typeface="Calibri"/>
                <a:cs typeface="Calibri"/>
                <a:sym typeface="Calibri"/>
              </a:rPr>
              <a:t>3. Mitigate how many times ppl have to go thru queues</a:t>
            </a:r>
            <a:endParaRPr dirty="0">
              <a:solidFill>
                <a:schemeClr val="dk1"/>
              </a:solidFill>
              <a:latin typeface="Calibri"/>
              <a:ea typeface="Calibri"/>
              <a:cs typeface="Calibri"/>
              <a:sym typeface="Calibri"/>
            </a:endParaRPr>
          </a:p>
        </p:txBody>
      </p:sp>
      <p:sp>
        <p:nvSpPr>
          <p:cNvPr id="281" name="Google Shape;281;g38bed8068be_0_7:notes">
            <a:extLst>
              <a:ext uri="{FF2B5EF4-FFF2-40B4-BE49-F238E27FC236}">
                <a16:creationId xmlns:a16="http://schemas.microsoft.com/office/drawing/2014/main" id="{889EB3FB-50A5-7D2A-3C6C-F4A8183FD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125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5D2B1ED7-ADA8-4401-2AAC-BA6B2077380D}"/>
            </a:ext>
          </a:extLst>
        </p:cNvPr>
        <p:cNvGrpSpPr/>
        <p:nvPr/>
      </p:nvGrpSpPr>
      <p:grpSpPr>
        <a:xfrm>
          <a:off x="0" y="0"/>
          <a:ext cx="0" cy="0"/>
          <a:chOff x="0" y="0"/>
          <a:chExt cx="0" cy="0"/>
        </a:xfrm>
      </p:grpSpPr>
      <p:sp>
        <p:nvSpPr>
          <p:cNvPr id="329" name="Google Shape;329;g38ee7bdb053_6_34:notes">
            <a:extLst>
              <a:ext uri="{FF2B5EF4-FFF2-40B4-BE49-F238E27FC236}">
                <a16:creationId xmlns:a16="http://schemas.microsoft.com/office/drawing/2014/main" id="{F5C645AE-9E4E-8E6A-48DB-99BCBB14D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Liv</a:t>
            </a:r>
            <a:endParaRPr/>
          </a:p>
        </p:txBody>
      </p:sp>
      <p:sp>
        <p:nvSpPr>
          <p:cNvPr id="330" name="Google Shape;330;g38ee7bdb053_6_34:notes">
            <a:extLst>
              <a:ext uri="{FF2B5EF4-FFF2-40B4-BE49-F238E27FC236}">
                <a16:creationId xmlns:a16="http://schemas.microsoft.com/office/drawing/2014/main" id="{CFEE76E3-5668-2F09-77D6-3A4D7FC0A6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4475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8ee7bdb053_6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8ee7bdb053_6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B2E4E77A-CEFB-471B-6A90-CED6C464AA4B}"/>
            </a:ext>
          </a:extLst>
        </p:cNvPr>
        <p:cNvGrpSpPr/>
        <p:nvPr/>
      </p:nvGrpSpPr>
      <p:grpSpPr>
        <a:xfrm>
          <a:off x="0" y="0"/>
          <a:ext cx="0" cy="0"/>
          <a:chOff x="0" y="0"/>
          <a:chExt cx="0" cy="0"/>
        </a:xfrm>
      </p:grpSpPr>
      <p:sp>
        <p:nvSpPr>
          <p:cNvPr id="329" name="Google Shape;329;g38ee7bdb053_6_34:notes">
            <a:extLst>
              <a:ext uri="{FF2B5EF4-FFF2-40B4-BE49-F238E27FC236}">
                <a16:creationId xmlns:a16="http://schemas.microsoft.com/office/drawing/2014/main" id="{DA073856-AEFB-F594-FAE4-5F69C20818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i="0" u="none" strike="noStrike">
                <a:solidFill>
                  <a:srgbClr val="000000"/>
                </a:solidFill>
                <a:effectLst/>
              </a:rPr>
              <a:t>Each call record in Webex represents one leg of a larger journey — these columns connect them together.</a:t>
            </a:r>
            <a:br>
              <a:rPr lang="en-US"/>
            </a:br>
            <a:endParaRPr lang="en-US"/>
          </a:p>
          <a:p>
            <a:pPr marL="158750" indent="0">
              <a:buNone/>
            </a:pPr>
            <a:r>
              <a:rPr lang="en-US" b="1" i="0" u="none" strike="noStrike">
                <a:solidFill>
                  <a:srgbClr val="000000"/>
                </a:solidFill>
                <a:effectLst/>
              </a:rPr>
              <a:t>Call Starts (Who Initiates the Interaction)</a:t>
            </a:r>
          </a:p>
          <a:p>
            <a:pPr marL="158750" indent="0">
              <a:buNone/>
            </a:pPr>
            <a:endParaRPr lang="en-US" b="1" i="0" u="none" strike="noStrike">
              <a:solidFill>
                <a:srgbClr val="000000"/>
              </a:solidFill>
              <a:effectLst/>
            </a:endParaRPr>
          </a:p>
          <a:p>
            <a:pPr marL="158750" indent="0">
              <a:buNone/>
            </a:pPr>
            <a:r>
              <a:rPr lang="en-US" b="1" i="0" u="none" strike="noStrike">
                <a:solidFill>
                  <a:srgbClr val="000000"/>
                </a:solidFill>
                <a:effectLst/>
              </a:rPr>
              <a:t>Calling Number</a:t>
            </a:r>
            <a:r>
              <a:rPr lang="en-US" b="0" i="0" u="none" strike="noStrike">
                <a:solidFill>
                  <a:srgbClr val="000000"/>
                </a:solidFill>
                <a:effectLst/>
              </a:rPr>
              <a:t> → number that initiated the call</a:t>
            </a:r>
          </a:p>
          <a:p>
            <a:pPr marL="158750" indent="0">
              <a:buNone/>
            </a:pPr>
            <a:r>
              <a:rPr lang="en-US" b="1" i="0" u="none" strike="noStrike">
                <a:solidFill>
                  <a:srgbClr val="000000"/>
                </a:solidFill>
                <a:effectLst/>
              </a:rPr>
              <a:t>Direction = TERMINATING</a:t>
            </a:r>
            <a:r>
              <a:rPr lang="en-US" b="0" i="0" u="none" strike="noStrike">
                <a:solidFill>
                  <a:srgbClr val="000000"/>
                </a:solidFill>
                <a:effectLst/>
              </a:rPr>
              <a:t> → indicates this leg was inbound</a:t>
            </a:r>
          </a:p>
          <a:p>
            <a:pPr marL="158750" indent="0">
              <a:buNone/>
            </a:pPr>
            <a:r>
              <a:rPr lang="en-US" b="1" i="0" u="none" strike="noStrike">
                <a:solidFill>
                  <a:srgbClr val="000000"/>
                </a:solidFill>
                <a:effectLst/>
              </a:rPr>
              <a:t>Correlation ID</a:t>
            </a:r>
            <a:r>
              <a:rPr lang="en-US" b="0" i="0" u="none" strike="noStrike">
                <a:solidFill>
                  <a:srgbClr val="000000"/>
                </a:solidFill>
                <a:effectLst/>
              </a:rPr>
              <a:t> → groups all call legs of the same session</a:t>
            </a:r>
          </a:p>
          <a:p>
            <a:pPr marL="158750" indent="0">
              <a:buNone/>
            </a:pPr>
            <a:r>
              <a:rPr lang="en-US" b="0" i="1" u="none" strike="noStrike">
                <a:solidFill>
                  <a:srgbClr val="000000"/>
                </a:solidFill>
                <a:effectLst/>
              </a:rPr>
              <a:t>These fields establish which call we’re looking at and ensure we can trace all connected records.</a:t>
            </a:r>
            <a:endParaRPr lang="en-US" b="0" i="0" u="none" strike="noStrike">
              <a:solidFill>
                <a:srgbClr val="000000"/>
              </a:solidFill>
              <a:effectLst/>
            </a:endParaRPr>
          </a:p>
          <a:p>
            <a:pPr marL="158750" indent="0">
              <a:buNone/>
            </a:pPr>
            <a:br>
              <a:rPr lang="en-US"/>
            </a:br>
            <a:endParaRPr lang="en-US"/>
          </a:p>
          <a:p>
            <a:pPr marL="158750" indent="0">
              <a:buNone/>
            </a:pPr>
            <a:r>
              <a:rPr lang="en-US" b="1" i="0" u="none" strike="noStrike">
                <a:solidFill>
                  <a:srgbClr val="000000"/>
                </a:solidFill>
                <a:effectLst/>
              </a:rPr>
              <a:t>Call Movement (How It Gets Redirected)</a:t>
            </a:r>
          </a:p>
          <a:p>
            <a:pPr marL="158750" indent="0">
              <a:buNone/>
            </a:pPr>
            <a:r>
              <a:rPr lang="en-US" b="1" i="0" u="none" strike="noStrike">
                <a:solidFill>
                  <a:srgbClr val="000000"/>
                </a:solidFill>
                <a:effectLst/>
              </a:rPr>
              <a:t>Called Number</a:t>
            </a:r>
            <a:r>
              <a:rPr lang="en-US" b="0" i="0" u="none" strike="noStrike">
                <a:solidFill>
                  <a:srgbClr val="000000"/>
                </a:solidFill>
                <a:effectLst/>
              </a:rPr>
              <a:t> → the initial recipient</a:t>
            </a:r>
          </a:p>
          <a:p>
            <a:pPr marL="158750" indent="0">
              <a:buNone/>
            </a:pPr>
            <a:r>
              <a:rPr lang="en-US" b="1" i="0" u="none" strike="noStrike">
                <a:solidFill>
                  <a:srgbClr val="000000"/>
                </a:solidFill>
                <a:effectLst/>
              </a:rPr>
              <a:t>Original Reason</a:t>
            </a:r>
            <a:r>
              <a:rPr lang="en-US" b="0" i="0" u="none" strike="noStrike">
                <a:solidFill>
                  <a:srgbClr val="000000"/>
                </a:solidFill>
                <a:effectLst/>
              </a:rPr>
              <a:t> → first trigger for redirection (e.g., </a:t>
            </a:r>
            <a:r>
              <a:rPr lang="en-US" b="0" i="0" u="none" strike="noStrike" err="1">
                <a:solidFill>
                  <a:srgbClr val="000000"/>
                </a:solidFill>
                <a:effectLst/>
              </a:rPr>
              <a:t>NoAnswer</a:t>
            </a:r>
            <a:r>
              <a:rPr lang="en-US" b="0" i="0" u="none" strike="noStrike">
                <a:solidFill>
                  <a:srgbClr val="000000"/>
                </a:solidFill>
                <a:effectLst/>
              </a:rPr>
              <a:t>, </a:t>
            </a:r>
            <a:r>
              <a:rPr lang="en-US" b="0" i="0" u="none" strike="noStrike" err="1">
                <a:solidFill>
                  <a:srgbClr val="000000"/>
                </a:solidFill>
                <a:effectLst/>
              </a:rPr>
              <a:t>FollowMe</a:t>
            </a:r>
            <a:r>
              <a:rPr lang="en-US" b="0" i="0" u="none" strike="noStrike">
                <a:solidFill>
                  <a:srgbClr val="000000"/>
                </a:solidFill>
                <a:effectLst/>
              </a:rPr>
              <a:t>)</a:t>
            </a:r>
          </a:p>
          <a:p>
            <a:pPr marL="158750" indent="0">
              <a:buNone/>
            </a:pPr>
            <a:r>
              <a:rPr lang="en-US" b="1" i="0" u="none" strike="noStrike">
                <a:solidFill>
                  <a:srgbClr val="000000"/>
                </a:solidFill>
                <a:effectLst/>
              </a:rPr>
              <a:t>Redirect Reason</a:t>
            </a:r>
            <a:r>
              <a:rPr lang="en-US" b="0" i="0" u="none" strike="noStrike">
                <a:solidFill>
                  <a:srgbClr val="000000"/>
                </a:solidFill>
                <a:effectLst/>
              </a:rPr>
              <a:t> → why subsequent redirections occur</a:t>
            </a:r>
          </a:p>
          <a:p>
            <a:pPr marL="158750" indent="0">
              <a:buNone/>
            </a:pPr>
            <a:r>
              <a:rPr lang="en-US" b="1" i="0" u="none" strike="noStrike">
                <a:solidFill>
                  <a:srgbClr val="000000"/>
                </a:solidFill>
                <a:effectLst/>
              </a:rPr>
              <a:t>Related Reason</a:t>
            </a:r>
            <a:r>
              <a:rPr lang="en-US" b="0" i="0" u="none" strike="noStrike">
                <a:solidFill>
                  <a:srgbClr val="000000"/>
                </a:solidFill>
                <a:effectLst/>
              </a:rPr>
              <a:t> → secondary system event causing the redirect (e.g., </a:t>
            </a:r>
            <a:r>
              <a:rPr lang="en-US" b="0" i="0" u="none" strike="noStrike" err="1">
                <a:solidFill>
                  <a:srgbClr val="000000"/>
                </a:solidFill>
                <a:effectLst/>
              </a:rPr>
              <a:t>CallQueue</a:t>
            </a:r>
            <a:r>
              <a:rPr lang="en-US" b="0" i="0" u="none" strike="noStrike">
                <a:solidFill>
                  <a:srgbClr val="000000"/>
                </a:solidFill>
                <a:effectLst/>
              </a:rPr>
              <a:t>, </a:t>
            </a:r>
            <a:r>
              <a:rPr lang="en-US" b="0" i="0" u="none" strike="noStrike" err="1">
                <a:solidFill>
                  <a:srgbClr val="000000"/>
                </a:solidFill>
                <a:effectLst/>
              </a:rPr>
              <a:t>HuntGroup</a:t>
            </a:r>
            <a:r>
              <a:rPr lang="en-US" b="0" i="0" u="none" strike="noStrike">
                <a:solidFill>
                  <a:srgbClr val="000000"/>
                </a:solidFill>
                <a:effectLst/>
              </a:rPr>
              <a:t>)</a:t>
            </a:r>
          </a:p>
          <a:p>
            <a:pPr marL="158750" indent="0">
              <a:buNone/>
            </a:pPr>
            <a:r>
              <a:rPr lang="en-US" b="1" i="0" u="none" strike="noStrike">
                <a:solidFill>
                  <a:srgbClr val="000000"/>
                </a:solidFill>
                <a:effectLst/>
              </a:rPr>
              <a:t>Redirecting Number</a:t>
            </a:r>
            <a:r>
              <a:rPr lang="en-US" b="0" i="0" u="none" strike="noStrike">
                <a:solidFill>
                  <a:srgbClr val="000000"/>
                </a:solidFill>
                <a:effectLst/>
              </a:rPr>
              <a:t> → who last redirected or forwarded the call</a:t>
            </a:r>
          </a:p>
          <a:p>
            <a:pPr marL="158750" indent="0">
              <a:buNone/>
            </a:pPr>
            <a:r>
              <a:rPr lang="en-US" b="0" i="1" u="none" strike="noStrike">
                <a:solidFill>
                  <a:srgbClr val="000000"/>
                </a:solidFill>
                <a:effectLst/>
              </a:rPr>
              <a:t>These explain the “movement” of the call and let us reconstruct how it bounces across users, queues, and systems.</a:t>
            </a:r>
            <a:endParaRPr lang="en-US" b="0" i="0" u="none" strike="noStrike">
              <a:solidFill>
                <a:srgbClr val="000000"/>
              </a:solidFill>
              <a:effectLst/>
            </a:endParaRPr>
          </a:p>
          <a:p>
            <a:pPr marL="158750" indent="0">
              <a:buNone/>
            </a:pPr>
            <a:br>
              <a:rPr lang="en-US"/>
            </a:br>
            <a:endParaRPr lang="en-US"/>
          </a:p>
          <a:p>
            <a:pPr marL="158750" indent="0">
              <a:buNone/>
            </a:pPr>
            <a:r>
              <a:rPr lang="en-US" b="1" i="0" u="none" strike="noStrike">
                <a:solidFill>
                  <a:srgbClr val="000000"/>
                </a:solidFill>
                <a:effectLst/>
              </a:rPr>
              <a:t>Call Ends (Where It Lands)</a:t>
            </a:r>
          </a:p>
          <a:p>
            <a:pPr marL="158750" indent="0">
              <a:buNone/>
            </a:pPr>
            <a:r>
              <a:rPr lang="en-US" b="1" i="0" u="none" strike="noStrike">
                <a:solidFill>
                  <a:srgbClr val="000000"/>
                </a:solidFill>
                <a:effectLst/>
              </a:rPr>
              <a:t>User / User Type</a:t>
            </a:r>
            <a:r>
              <a:rPr lang="en-US" b="0" i="0" u="none" strike="noStrike">
                <a:solidFill>
                  <a:srgbClr val="000000"/>
                </a:solidFill>
                <a:effectLst/>
              </a:rPr>
              <a:t> → identifies endpoint (e.g., User, Queue, Voicemail)</a:t>
            </a:r>
          </a:p>
          <a:p>
            <a:pPr marL="158750" indent="0">
              <a:buNone/>
            </a:pPr>
            <a:r>
              <a:rPr lang="en-US" b="1" i="0" u="none" strike="noStrike">
                <a:solidFill>
                  <a:srgbClr val="000000"/>
                </a:solidFill>
                <a:effectLst/>
              </a:rPr>
              <a:t>Answered / Answer Indicator</a:t>
            </a:r>
            <a:r>
              <a:rPr lang="en-US" b="0" i="0" u="none" strike="noStrike">
                <a:solidFill>
                  <a:srgbClr val="000000"/>
                </a:solidFill>
                <a:effectLst/>
              </a:rPr>
              <a:t> → whether and where it was picked up</a:t>
            </a:r>
          </a:p>
          <a:p>
            <a:pPr marL="158750" indent="0">
              <a:buNone/>
            </a:pPr>
            <a:r>
              <a:rPr lang="en-US" b="1" i="0" u="none" strike="noStrike">
                <a:solidFill>
                  <a:srgbClr val="000000"/>
                </a:solidFill>
                <a:effectLst/>
              </a:rPr>
              <a:t>Call Outcome / Report Time</a:t>
            </a:r>
            <a:r>
              <a:rPr lang="en-US" b="0" i="0" u="none" strike="noStrike">
                <a:solidFill>
                  <a:srgbClr val="000000"/>
                </a:solidFill>
                <a:effectLst/>
              </a:rPr>
              <a:t> → how and when the call ended</a:t>
            </a:r>
          </a:p>
          <a:p>
            <a:pPr marL="158750" indent="0">
              <a:buNone/>
            </a:pPr>
            <a:r>
              <a:rPr lang="en-US" b="0" i="1" u="none" strike="noStrike">
                <a:solidFill>
                  <a:srgbClr val="000000"/>
                </a:solidFill>
                <a:effectLst/>
              </a:rPr>
              <a:t>These fields tell us the end state of the call: who answered, when, and under what conditions.</a:t>
            </a:r>
            <a:endParaRPr lang="en-US" b="0" i="0" u="none" strike="noStrike">
              <a:solidFill>
                <a:srgbClr val="000000"/>
              </a:solidFill>
              <a:effectLst/>
            </a:endParaRPr>
          </a:p>
          <a:p>
            <a:pPr marL="0" lvl="0" indent="0" algn="l" rtl="0">
              <a:spcBef>
                <a:spcPts val="0"/>
              </a:spcBef>
              <a:spcAft>
                <a:spcPts val="0"/>
              </a:spcAft>
              <a:buNone/>
            </a:pPr>
            <a:endParaRPr/>
          </a:p>
        </p:txBody>
      </p:sp>
      <p:sp>
        <p:nvSpPr>
          <p:cNvPr id="330" name="Google Shape;330;g38ee7bdb053_6_34:notes">
            <a:extLst>
              <a:ext uri="{FF2B5EF4-FFF2-40B4-BE49-F238E27FC236}">
                <a16:creationId xmlns:a16="http://schemas.microsoft.com/office/drawing/2014/main" id="{305E8853-12EE-EF40-E53D-5E5C2059A4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2722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69017603c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g369017603c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8ee7bdb053_3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g38ee7bdb053_3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63" name="Google Shape;63;p15"/>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4" name="Google Shape;64;p15"/>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p15"/>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6" name="Google Shape;96;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7" name="Google Shape;97;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8" name="Google Shape;98;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txBody>
          <a:bodyPr/>
          <a:lstStyle/>
          <a:p>
            <a:endParaRPr lang="en-US"/>
          </a:p>
        </p:txBody>
      </p:sp>
      <p:sp>
        <p:nvSpPr>
          <p:cNvPr id="109" name="Google Shape;109;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18" Type="http://schemas.openxmlformats.org/officeDocument/2006/relationships/diagramColors" Target="../diagrams/colors3.xml"/><Relationship Id="rId3" Type="http://schemas.openxmlformats.org/officeDocument/2006/relationships/image" Target="../media/image7.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17" Type="http://schemas.openxmlformats.org/officeDocument/2006/relationships/diagramQuickStyle" Target="../diagrams/quickStyle3.xml"/><Relationship Id="rId2" Type="http://schemas.openxmlformats.org/officeDocument/2006/relationships/notesSlide" Target="../notesSlides/notesSlide5.xml"/><Relationship Id="rId16" Type="http://schemas.openxmlformats.org/officeDocument/2006/relationships/diagramLayout" Target="../diagrams/layout3.xml"/><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diagramData" Target="../diagrams/data3.xml"/><Relationship Id="rId10" Type="http://schemas.openxmlformats.org/officeDocument/2006/relationships/diagramData" Target="../diagrams/data2.xml"/><Relationship Id="rId19" Type="http://schemas.microsoft.com/office/2007/relationships/diagramDrawing" Target="../diagrams/drawing3.xml"/><Relationship Id="rId4" Type="http://schemas.openxmlformats.org/officeDocument/2006/relationships/image" Target="../media/image4.png"/><Relationship Id="rId9" Type="http://schemas.microsoft.com/office/2007/relationships/diagramDrawing" Target="../diagrams/drawing1.xml"/><Relationship Id="rId14"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https://app.powerbi.com/reportEmbed?reportId=c3867d3c-9465-49f9-97a2-ca96b50050e8&amp;autoAuth=true&amp;ctid=7d76d361-8277-4708-a477-64e8366cd1bc"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github.com/arvindkrishna87/STAT390_LegalAid_Fall2025/blob/main/Code/Dashboard/PreliminaryUserTypeAnalysis_Oct13_EdwinRong.ipynb" TargetMode="External"/><Relationship Id="rId5"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Shape 128"/>
        <p:cNvGrpSpPr/>
        <p:nvPr/>
      </p:nvGrpSpPr>
      <p:grpSpPr>
        <a:xfrm>
          <a:off x="0" y="0"/>
          <a:ext cx="0" cy="0"/>
          <a:chOff x="0" y="0"/>
          <a:chExt cx="0" cy="0"/>
        </a:xfrm>
      </p:grpSpPr>
      <p:sp>
        <p:nvSpPr>
          <p:cNvPr id="129" name="Google Shape;129;p25"/>
          <p:cNvSpPr/>
          <p:nvPr/>
        </p:nvSpPr>
        <p:spPr>
          <a:xfrm rot="569692">
            <a:off x="-5626022" y="2866863"/>
            <a:ext cx="9896436" cy="3278195"/>
          </a:xfrm>
          <a:custGeom>
            <a:avLst/>
            <a:gdLst/>
            <a:ahLst/>
            <a:cxnLst/>
            <a:rect l="l" t="t" r="r" b="b"/>
            <a:pathLst>
              <a:path w="19792872" h="6556389" extrusionOk="0">
                <a:moveTo>
                  <a:pt x="0" y="0"/>
                </a:moveTo>
                <a:lnTo>
                  <a:pt x="19792872" y="0"/>
                </a:lnTo>
                <a:lnTo>
                  <a:pt x="19792872" y="6556388"/>
                </a:lnTo>
                <a:lnTo>
                  <a:pt x="0" y="6556388"/>
                </a:lnTo>
                <a:lnTo>
                  <a:pt x="0" y="0"/>
                </a:lnTo>
                <a:close/>
              </a:path>
            </a:pathLst>
          </a:custGeom>
          <a:blipFill rotWithShape="1">
            <a:blip r:embed="rId3">
              <a:alphaModFix amt="13000"/>
            </a:blip>
            <a:stretch>
              <a:fillRect/>
            </a:stretch>
          </a:blipFill>
          <a:ln>
            <a:noFill/>
          </a:ln>
        </p:spPr>
        <p:txBody>
          <a:bodyPr/>
          <a:lstStyle/>
          <a:p>
            <a:endParaRPr lang="en-US"/>
          </a:p>
        </p:txBody>
      </p:sp>
      <p:grpSp>
        <p:nvGrpSpPr>
          <p:cNvPr id="130" name="Google Shape;130;p25"/>
          <p:cNvGrpSpPr/>
          <p:nvPr/>
        </p:nvGrpSpPr>
        <p:grpSpPr>
          <a:xfrm>
            <a:off x="5364593" y="1992173"/>
            <a:ext cx="1802429" cy="2097372"/>
            <a:chOff x="0" y="0"/>
            <a:chExt cx="698500" cy="812800"/>
          </a:xfrm>
        </p:grpSpPr>
        <p:sp>
          <p:nvSpPr>
            <p:cNvPr id="131" name="Google Shape;131;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132" name="Google Shape;132;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3" name="Google Shape;133;p25"/>
          <p:cNvGrpSpPr/>
          <p:nvPr/>
        </p:nvGrpSpPr>
        <p:grpSpPr>
          <a:xfrm>
            <a:off x="4026393" y="4431348"/>
            <a:ext cx="1802429" cy="2097372"/>
            <a:chOff x="0" y="0"/>
            <a:chExt cx="698500" cy="812800"/>
          </a:xfrm>
        </p:grpSpPr>
        <p:sp>
          <p:nvSpPr>
            <p:cNvPr id="134" name="Google Shape;134;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135" name="Google Shape;135;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8532466" y="3173248"/>
            <a:ext cx="1802429" cy="2097372"/>
            <a:chOff x="0" y="0"/>
            <a:chExt cx="698500" cy="812800"/>
          </a:xfrm>
        </p:grpSpPr>
        <p:sp>
          <p:nvSpPr>
            <p:cNvPr id="137" name="Google Shape;137;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138" name="Google Shape;138;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9" name="Google Shape;139;p25"/>
          <p:cNvGrpSpPr/>
          <p:nvPr/>
        </p:nvGrpSpPr>
        <p:grpSpPr>
          <a:xfrm>
            <a:off x="6730036" y="3976259"/>
            <a:ext cx="1802429" cy="2097372"/>
            <a:chOff x="0" y="0"/>
            <a:chExt cx="698500" cy="812800"/>
          </a:xfrm>
        </p:grpSpPr>
        <p:sp>
          <p:nvSpPr>
            <p:cNvPr id="140" name="Google Shape;140;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4705"/>
              </a:srgbClr>
            </a:solidFill>
            <a:ln>
              <a:noFill/>
            </a:ln>
          </p:spPr>
          <p:txBody>
            <a:bodyPr/>
            <a:lstStyle/>
            <a:p>
              <a:endParaRPr lang="en-US"/>
            </a:p>
          </p:txBody>
        </p:sp>
        <p:sp>
          <p:nvSpPr>
            <p:cNvPr id="141" name="Google Shape;141;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42" name="Google Shape;142;p25"/>
          <p:cNvGrpSpPr/>
          <p:nvPr/>
        </p:nvGrpSpPr>
        <p:grpSpPr>
          <a:xfrm>
            <a:off x="4927607" y="-1021496"/>
            <a:ext cx="1802429" cy="2097372"/>
            <a:chOff x="0" y="0"/>
            <a:chExt cx="698500" cy="812800"/>
          </a:xfrm>
        </p:grpSpPr>
        <p:sp>
          <p:nvSpPr>
            <p:cNvPr id="143" name="Google Shape;143;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4705"/>
              </a:srgbClr>
            </a:solidFill>
            <a:ln>
              <a:noFill/>
            </a:ln>
          </p:spPr>
          <p:txBody>
            <a:bodyPr/>
            <a:lstStyle/>
            <a:p>
              <a:endParaRPr lang="en-US"/>
            </a:p>
          </p:txBody>
        </p:sp>
        <p:sp>
          <p:nvSpPr>
            <p:cNvPr id="144" name="Google Shape;144;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45" name="Google Shape;145;p25"/>
          <p:cNvGrpSpPr/>
          <p:nvPr/>
        </p:nvGrpSpPr>
        <p:grpSpPr>
          <a:xfrm>
            <a:off x="8532466" y="1075875"/>
            <a:ext cx="1802429" cy="2097372"/>
            <a:chOff x="0" y="0"/>
            <a:chExt cx="698500" cy="812800"/>
          </a:xfrm>
        </p:grpSpPr>
        <p:sp>
          <p:nvSpPr>
            <p:cNvPr id="146" name="Google Shape;146;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4705"/>
              </a:srgbClr>
            </a:solidFill>
            <a:ln>
              <a:noFill/>
            </a:ln>
          </p:spPr>
          <p:txBody>
            <a:bodyPr/>
            <a:lstStyle/>
            <a:p>
              <a:endParaRPr lang="en-US"/>
            </a:p>
          </p:txBody>
        </p:sp>
        <p:sp>
          <p:nvSpPr>
            <p:cNvPr id="147" name="Google Shape;147;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48" name="Google Shape;148;p25"/>
          <p:cNvGrpSpPr/>
          <p:nvPr/>
        </p:nvGrpSpPr>
        <p:grpSpPr>
          <a:xfrm>
            <a:off x="6730036" y="27190"/>
            <a:ext cx="1802429" cy="2097372"/>
            <a:chOff x="0" y="0"/>
            <a:chExt cx="698500" cy="812800"/>
          </a:xfrm>
        </p:grpSpPr>
        <p:sp>
          <p:nvSpPr>
            <p:cNvPr id="149" name="Google Shape;149;p25"/>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150" name="Google Shape;150;p25"/>
            <p:cNvSpPr txBox="1"/>
            <p:nvPr/>
          </p:nvSpPr>
          <p:spPr>
            <a:xfrm>
              <a:off x="0" y="92075"/>
              <a:ext cx="698500" cy="581025"/>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1" name="Google Shape;151;p25"/>
          <p:cNvSpPr/>
          <p:nvPr/>
        </p:nvSpPr>
        <p:spPr>
          <a:xfrm rot="-2370235">
            <a:off x="8131031" y="474084"/>
            <a:ext cx="395690" cy="465694"/>
          </a:xfrm>
          <a:custGeom>
            <a:avLst/>
            <a:gdLst/>
            <a:ahLst/>
            <a:cxnLst/>
            <a:rect l="l" t="t" r="r" b="b"/>
            <a:pathLst>
              <a:path w="791380" h="931388" extrusionOk="0">
                <a:moveTo>
                  <a:pt x="0" y="0"/>
                </a:moveTo>
                <a:lnTo>
                  <a:pt x="791380" y="0"/>
                </a:lnTo>
                <a:lnTo>
                  <a:pt x="791380" y="931387"/>
                </a:lnTo>
                <a:lnTo>
                  <a:pt x="0" y="931387"/>
                </a:lnTo>
                <a:lnTo>
                  <a:pt x="0" y="0"/>
                </a:lnTo>
                <a:close/>
              </a:path>
            </a:pathLst>
          </a:custGeom>
          <a:blipFill rotWithShape="1">
            <a:blip r:embed="rId4">
              <a:alphaModFix/>
            </a:blip>
            <a:stretch>
              <a:fillRect l="-164473"/>
            </a:stretch>
          </a:blipFill>
          <a:ln>
            <a:noFill/>
          </a:ln>
        </p:spPr>
        <p:txBody>
          <a:bodyPr/>
          <a:lstStyle/>
          <a:p>
            <a:endParaRPr lang="en-US"/>
          </a:p>
        </p:txBody>
      </p:sp>
      <p:sp>
        <p:nvSpPr>
          <p:cNvPr id="152" name="Google Shape;152;p25"/>
          <p:cNvSpPr/>
          <p:nvPr/>
        </p:nvSpPr>
        <p:spPr>
          <a:xfrm>
            <a:off x="8506095" y="-455835"/>
            <a:ext cx="732122" cy="1714500"/>
          </a:xfrm>
          <a:custGeom>
            <a:avLst/>
            <a:gdLst/>
            <a:ahLst/>
            <a:cxnLst/>
            <a:rect l="l" t="t" r="r" b="b"/>
            <a:pathLst>
              <a:path w="1464244" h="3429000" extrusionOk="0">
                <a:moveTo>
                  <a:pt x="0" y="0"/>
                </a:moveTo>
                <a:lnTo>
                  <a:pt x="1464244" y="0"/>
                </a:lnTo>
                <a:lnTo>
                  <a:pt x="1464244" y="3429000"/>
                </a:lnTo>
                <a:lnTo>
                  <a:pt x="0" y="3429000"/>
                </a:lnTo>
                <a:lnTo>
                  <a:pt x="0" y="0"/>
                </a:lnTo>
                <a:close/>
              </a:path>
            </a:pathLst>
          </a:custGeom>
          <a:blipFill rotWithShape="1">
            <a:blip r:embed="rId5">
              <a:alphaModFix/>
            </a:blip>
            <a:stretch>
              <a:fillRect r="-399575"/>
            </a:stretch>
          </a:blipFill>
          <a:ln>
            <a:noFill/>
          </a:ln>
        </p:spPr>
        <p:txBody>
          <a:bodyPr/>
          <a:lstStyle/>
          <a:p>
            <a:endParaRPr lang="en-US"/>
          </a:p>
        </p:txBody>
      </p:sp>
      <p:sp>
        <p:nvSpPr>
          <p:cNvPr id="153" name="Google Shape;153;p25"/>
          <p:cNvSpPr txBox="1"/>
          <p:nvPr/>
        </p:nvSpPr>
        <p:spPr>
          <a:xfrm>
            <a:off x="514350" y="528650"/>
            <a:ext cx="5632200" cy="1785104"/>
          </a:xfrm>
          <a:prstGeom prst="rect">
            <a:avLst/>
          </a:prstGeom>
          <a:noFill/>
          <a:ln>
            <a:noFill/>
          </a:ln>
        </p:spPr>
        <p:txBody>
          <a:bodyPr spcFirstLastPara="1" wrap="square" lIns="0" tIns="0" rIns="0" bIns="0" anchor="t" anchorCtr="0">
            <a:spAutoFit/>
          </a:bodyPr>
          <a:lstStyle/>
          <a:p>
            <a:pPr marL="0" marR="0" lvl="0" indent="0" algn="l" rtl="0">
              <a:lnSpc>
                <a:spcPct val="116001"/>
              </a:lnSpc>
              <a:spcBef>
                <a:spcPts val="0"/>
              </a:spcBef>
              <a:spcAft>
                <a:spcPts val="0"/>
              </a:spcAft>
              <a:buNone/>
            </a:pPr>
            <a:r>
              <a:rPr lang="en" sz="5000" b="1">
                <a:solidFill>
                  <a:srgbClr val="11341D"/>
                </a:solidFill>
                <a:latin typeface="Calibri"/>
                <a:ea typeface="Calibri"/>
                <a:cs typeface="Calibri"/>
                <a:sym typeface="Calibri"/>
              </a:rPr>
              <a:t>AGGREGATE TRENDS </a:t>
            </a:r>
            <a:r>
              <a:rPr lang="en" sz="5000" b="1" i="0" u="none" strike="noStrike" cap="none">
                <a:solidFill>
                  <a:srgbClr val="11341D"/>
                </a:solidFill>
                <a:latin typeface="Calibri"/>
                <a:ea typeface="Calibri"/>
                <a:cs typeface="Calibri"/>
                <a:sym typeface="Calibri"/>
              </a:rPr>
              <a:t> </a:t>
            </a:r>
            <a:endParaRPr sz="5000" b="1">
              <a:solidFill>
                <a:srgbClr val="11341D"/>
              </a:solidFill>
              <a:latin typeface="Calibri"/>
              <a:ea typeface="Calibri"/>
              <a:cs typeface="Calibri"/>
              <a:sym typeface="Calibri"/>
            </a:endParaRPr>
          </a:p>
          <a:p>
            <a:pPr marL="0" marR="0" lvl="0" indent="0" algn="l" rtl="0">
              <a:lnSpc>
                <a:spcPct val="116001"/>
              </a:lnSpc>
              <a:spcBef>
                <a:spcPts val="0"/>
              </a:spcBef>
              <a:spcAft>
                <a:spcPts val="0"/>
              </a:spcAft>
              <a:buNone/>
            </a:pPr>
            <a:r>
              <a:rPr lang="en" sz="5000" b="1">
                <a:solidFill>
                  <a:srgbClr val="11341D"/>
                </a:solidFill>
                <a:latin typeface="Calibri"/>
                <a:ea typeface="Calibri"/>
                <a:cs typeface="Calibri"/>
                <a:sym typeface="Calibri"/>
              </a:rPr>
              <a:t>PRESENTATION 2</a:t>
            </a:r>
            <a:endParaRPr sz="5000" b="1">
              <a:solidFill>
                <a:srgbClr val="11341D"/>
              </a:solidFill>
              <a:latin typeface="Calibri"/>
              <a:ea typeface="Calibri"/>
              <a:cs typeface="Calibri"/>
              <a:sym typeface="Calibri"/>
            </a:endParaRPr>
          </a:p>
        </p:txBody>
      </p:sp>
      <p:sp>
        <p:nvSpPr>
          <p:cNvPr id="154" name="Google Shape;154;p25"/>
          <p:cNvSpPr txBox="1"/>
          <p:nvPr/>
        </p:nvSpPr>
        <p:spPr>
          <a:xfrm>
            <a:off x="514350" y="2469725"/>
            <a:ext cx="4012800" cy="3078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 sz="2000">
                <a:latin typeface="Calibri"/>
                <a:ea typeface="Calibri"/>
                <a:cs typeface="Calibri"/>
                <a:sym typeface="Calibri"/>
              </a:rPr>
              <a:t>Prepared by: Edwin, Ella, Liv &amp; Tatum</a:t>
            </a:r>
            <a:r>
              <a:rPr lang="en" sz="700"/>
              <a:t> </a:t>
            </a:r>
            <a:endParaRPr sz="700"/>
          </a:p>
        </p:txBody>
      </p:sp>
      <p:sp>
        <p:nvSpPr>
          <p:cNvPr id="155" name="Google Shape;155;p25"/>
          <p:cNvSpPr txBox="1"/>
          <p:nvPr/>
        </p:nvSpPr>
        <p:spPr>
          <a:xfrm>
            <a:off x="514350" y="2942256"/>
            <a:ext cx="2048100" cy="30008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 sz="1500">
                <a:solidFill>
                  <a:srgbClr val="11341D"/>
                </a:solidFill>
                <a:latin typeface="Calibri"/>
                <a:ea typeface="Calibri"/>
                <a:cs typeface="Calibri"/>
                <a:sym typeface="Calibri"/>
              </a:rPr>
              <a:t>Thursday, October 23</a:t>
            </a:r>
            <a:r>
              <a:rPr lang="en" sz="1500" baseline="30000">
                <a:solidFill>
                  <a:srgbClr val="11341D"/>
                </a:solidFill>
                <a:latin typeface="Calibri"/>
                <a:ea typeface="Calibri"/>
                <a:cs typeface="Calibri"/>
                <a:sym typeface="Calibri"/>
              </a:rPr>
              <a:t>rd</a:t>
            </a:r>
            <a:r>
              <a:rPr lang="en" sz="1500">
                <a:solidFill>
                  <a:srgbClr val="11341D"/>
                </a:solidFill>
                <a:latin typeface="Calibri"/>
                <a:ea typeface="Calibri"/>
                <a:cs typeface="Calibri"/>
                <a:sym typeface="Calibri"/>
              </a:rPr>
              <a:t>  </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lt2"/>
        </a:solidFill>
        <a:effectLst/>
      </p:bgPr>
    </p:bg>
    <p:spTree>
      <p:nvGrpSpPr>
        <p:cNvPr id="1" name="Shape 159"/>
        <p:cNvGrpSpPr/>
        <p:nvPr/>
      </p:nvGrpSpPr>
      <p:grpSpPr>
        <a:xfrm>
          <a:off x="0" y="0"/>
          <a:ext cx="0" cy="0"/>
          <a:chOff x="0" y="0"/>
          <a:chExt cx="0" cy="0"/>
        </a:xfrm>
      </p:grpSpPr>
      <p:sp>
        <p:nvSpPr>
          <p:cNvPr id="160" name="Google Shape;160;p26"/>
          <p:cNvSpPr/>
          <p:nvPr/>
        </p:nvSpPr>
        <p:spPr>
          <a:xfrm>
            <a:off x="1760651" y="1477002"/>
            <a:ext cx="6799898" cy="509053"/>
          </a:xfrm>
          <a:prstGeom prst="rect">
            <a:avLst/>
          </a:prstGeom>
          <a:solidFill>
            <a:srgbClr val="FBFBFB"/>
          </a:solidFill>
          <a:ln>
            <a:noFill/>
          </a:ln>
        </p:spPr>
        <p:txBody>
          <a:bodyPr spcFirstLastPara="1" wrap="square" lIns="123425" tIns="123425" rIns="123425" bIns="123425" anchor="ctr" anchorCtr="0">
            <a:noAutofit/>
          </a:bodyPr>
          <a:lstStyle/>
          <a:p>
            <a:pPr marL="0" lvl="0" indent="0" algn="ctr" rtl="0">
              <a:spcBef>
                <a:spcPts val="0"/>
              </a:spcBef>
              <a:spcAft>
                <a:spcPts val="0"/>
              </a:spcAft>
              <a:buNone/>
            </a:pPr>
            <a:endParaRPr sz="1890" dirty="0">
              <a:latin typeface="Work Sans"/>
              <a:ea typeface="Work Sans"/>
              <a:cs typeface="Work Sans"/>
              <a:sym typeface="Work Sans"/>
            </a:endParaRPr>
          </a:p>
        </p:txBody>
      </p:sp>
      <p:sp>
        <p:nvSpPr>
          <p:cNvPr id="161" name="Google Shape;161;p26"/>
          <p:cNvSpPr/>
          <p:nvPr/>
        </p:nvSpPr>
        <p:spPr>
          <a:xfrm>
            <a:off x="1760651" y="1986315"/>
            <a:ext cx="6799898" cy="509053"/>
          </a:xfrm>
          <a:prstGeom prst="rect">
            <a:avLst/>
          </a:prstGeom>
          <a:solidFill>
            <a:srgbClr val="FBFBFB"/>
          </a:solidFill>
          <a:ln>
            <a:noFill/>
          </a:ln>
        </p:spPr>
        <p:txBody>
          <a:bodyPr spcFirstLastPara="1" wrap="square" lIns="123425" tIns="123425" rIns="123425" bIns="123425" anchor="ctr" anchorCtr="0">
            <a:noAutofit/>
          </a:bodyPr>
          <a:lstStyle/>
          <a:p>
            <a:pPr marL="0" lvl="0" indent="0" algn="ctr" rtl="0">
              <a:spcBef>
                <a:spcPts val="0"/>
              </a:spcBef>
              <a:spcAft>
                <a:spcPts val="0"/>
              </a:spcAft>
              <a:buNone/>
            </a:pPr>
            <a:endParaRPr sz="1890">
              <a:latin typeface="Work Sans"/>
              <a:ea typeface="Work Sans"/>
              <a:cs typeface="Work Sans"/>
              <a:sym typeface="Work Sans"/>
            </a:endParaRPr>
          </a:p>
        </p:txBody>
      </p:sp>
      <p:sp>
        <p:nvSpPr>
          <p:cNvPr id="162" name="Google Shape;162;p26"/>
          <p:cNvSpPr/>
          <p:nvPr/>
        </p:nvSpPr>
        <p:spPr>
          <a:xfrm>
            <a:off x="1760651" y="2495688"/>
            <a:ext cx="6799898" cy="509053"/>
          </a:xfrm>
          <a:prstGeom prst="rect">
            <a:avLst/>
          </a:prstGeom>
          <a:solidFill>
            <a:srgbClr val="FBFBFB"/>
          </a:solidFill>
          <a:ln>
            <a:noFill/>
          </a:ln>
        </p:spPr>
        <p:txBody>
          <a:bodyPr spcFirstLastPara="1" wrap="square" lIns="123425" tIns="123425" rIns="123425" bIns="123425" anchor="ctr" anchorCtr="0">
            <a:noAutofit/>
          </a:bodyPr>
          <a:lstStyle/>
          <a:p>
            <a:pPr marL="0" lvl="0" indent="0" algn="ctr" rtl="0">
              <a:spcBef>
                <a:spcPts val="0"/>
              </a:spcBef>
              <a:spcAft>
                <a:spcPts val="0"/>
              </a:spcAft>
              <a:buNone/>
            </a:pPr>
            <a:endParaRPr sz="1890">
              <a:latin typeface="Work Sans"/>
              <a:ea typeface="Work Sans"/>
              <a:cs typeface="Work Sans"/>
              <a:sym typeface="Work Sans"/>
            </a:endParaRPr>
          </a:p>
        </p:txBody>
      </p:sp>
      <p:sp>
        <p:nvSpPr>
          <p:cNvPr id="163" name="Google Shape;163;p26"/>
          <p:cNvSpPr/>
          <p:nvPr/>
        </p:nvSpPr>
        <p:spPr>
          <a:xfrm>
            <a:off x="1760651" y="3005001"/>
            <a:ext cx="6799898" cy="509053"/>
          </a:xfrm>
          <a:prstGeom prst="rect">
            <a:avLst/>
          </a:prstGeom>
          <a:solidFill>
            <a:srgbClr val="FBFBFB"/>
          </a:solidFill>
          <a:ln>
            <a:noFill/>
          </a:ln>
        </p:spPr>
        <p:txBody>
          <a:bodyPr spcFirstLastPara="1" wrap="square" lIns="123425" tIns="123425" rIns="123425" bIns="123425" anchor="ctr" anchorCtr="0">
            <a:noAutofit/>
          </a:bodyPr>
          <a:lstStyle/>
          <a:p>
            <a:pPr marL="0" lvl="0" indent="0" algn="ctr" rtl="0">
              <a:spcBef>
                <a:spcPts val="0"/>
              </a:spcBef>
              <a:spcAft>
                <a:spcPts val="0"/>
              </a:spcAft>
              <a:buNone/>
            </a:pPr>
            <a:endParaRPr sz="1890">
              <a:latin typeface="Work Sans"/>
              <a:ea typeface="Work Sans"/>
              <a:cs typeface="Work Sans"/>
              <a:sym typeface="Work Sans"/>
            </a:endParaRPr>
          </a:p>
        </p:txBody>
      </p:sp>
      <p:sp>
        <p:nvSpPr>
          <p:cNvPr id="164" name="Google Shape;164;p26"/>
          <p:cNvSpPr/>
          <p:nvPr/>
        </p:nvSpPr>
        <p:spPr>
          <a:xfrm>
            <a:off x="1760651" y="3514373"/>
            <a:ext cx="6799898" cy="509053"/>
          </a:xfrm>
          <a:prstGeom prst="rect">
            <a:avLst/>
          </a:prstGeom>
          <a:solidFill>
            <a:schemeClr val="lt1"/>
          </a:solidFill>
          <a:ln w="12850" cap="flat" cmpd="sng">
            <a:solidFill>
              <a:srgbClr val="FBFBFB"/>
            </a:solidFill>
            <a:prstDash val="solid"/>
            <a:round/>
            <a:headEnd type="none" w="sm" len="sm"/>
            <a:tailEnd type="none" w="sm" len="sm"/>
          </a:ln>
        </p:spPr>
        <p:txBody>
          <a:bodyPr spcFirstLastPara="1" wrap="square" lIns="123425" tIns="123425" rIns="123425" bIns="123425" anchor="ctr" anchorCtr="0">
            <a:noAutofit/>
          </a:bodyPr>
          <a:lstStyle/>
          <a:p>
            <a:pPr marL="0" lvl="0" indent="0" algn="ctr" rtl="0">
              <a:spcBef>
                <a:spcPts val="0"/>
              </a:spcBef>
              <a:spcAft>
                <a:spcPts val="0"/>
              </a:spcAft>
              <a:buNone/>
            </a:pPr>
            <a:endParaRPr sz="1890">
              <a:latin typeface="Work Sans"/>
              <a:ea typeface="Work Sans"/>
              <a:cs typeface="Work Sans"/>
              <a:sym typeface="Work Sans"/>
            </a:endParaRPr>
          </a:p>
        </p:txBody>
      </p:sp>
      <p:cxnSp>
        <p:nvCxnSpPr>
          <p:cNvPr id="165" name="Google Shape;165;p26"/>
          <p:cNvCxnSpPr/>
          <p:nvPr/>
        </p:nvCxnSpPr>
        <p:spPr>
          <a:xfrm>
            <a:off x="583299" y="1986365"/>
            <a:ext cx="7977398" cy="0"/>
          </a:xfrm>
          <a:prstGeom prst="straightConnector1">
            <a:avLst/>
          </a:prstGeom>
          <a:noFill/>
          <a:ln w="12850" cap="flat" cmpd="sng">
            <a:solidFill>
              <a:srgbClr val="083608"/>
            </a:solidFill>
            <a:prstDash val="solid"/>
            <a:round/>
            <a:headEnd type="none" w="med" len="med"/>
            <a:tailEnd type="none" w="med" len="med"/>
          </a:ln>
        </p:spPr>
      </p:cxnSp>
      <p:cxnSp>
        <p:nvCxnSpPr>
          <p:cNvPr id="166" name="Google Shape;166;p26"/>
          <p:cNvCxnSpPr/>
          <p:nvPr/>
        </p:nvCxnSpPr>
        <p:spPr>
          <a:xfrm>
            <a:off x="583299" y="2495688"/>
            <a:ext cx="7977398" cy="0"/>
          </a:xfrm>
          <a:prstGeom prst="straightConnector1">
            <a:avLst/>
          </a:prstGeom>
          <a:noFill/>
          <a:ln w="12850" cap="flat" cmpd="sng">
            <a:solidFill>
              <a:srgbClr val="083608"/>
            </a:solidFill>
            <a:prstDash val="solid"/>
            <a:round/>
            <a:headEnd type="none" w="med" len="med"/>
            <a:tailEnd type="none" w="med" len="med"/>
          </a:ln>
        </p:spPr>
      </p:cxnSp>
      <p:cxnSp>
        <p:nvCxnSpPr>
          <p:cNvPr id="167" name="Google Shape;167;p26"/>
          <p:cNvCxnSpPr/>
          <p:nvPr/>
        </p:nvCxnSpPr>
        <p:spPr>
          <a:xfrm>
            <a:off x="583299" y="3005050"/>
            <a:ext cx="7977398" cy="0"/>
          </a:xfrm>
          <a:prstGeom prst="straightConnector1">
            <a:avLst/>
          </a:prstGeom>
          <a:noFill/>
          <a:ln w="12850" cap="flat" cmpd="sng">
            <a:solidFill>
              <a:srgbClr val="083608"/>
            </a:solidFill>
            <a:prstDash val="solid"/>
            <a:round/>
            <a:headEnd type="none" w="med" len="med"/>
            <a:tailEnd type="none" w="med" len="med"/>
          </a:ln>
        </p:spPr>
      </p:cxnSp>
      <p:cxnSp>
        <p:nvCxnSpPr>
          <p:cNvPr id="168" name="Google Shape;168;p26"/>
          <p:cNvCxnSpPr/>
          <p:nvPr/>
        </p:nvCxnSpPr>
        <p:spPr>
          <a:xfrm>
            <a:off x="583299" y="3509789"/>
            <a:ext cx="7977398" cy="0"/>
          </a:xfrm>
          <a:prstGeom prst="straightConnector1">
            <a:avLst/>
          </a:prstGeom>
          <a:noFill/>
          <a:ln w="12850" cap="flat" cmpd="sng">
            <a:solidFill>
              <a:srgbClr val="000000"/>
            </a:solidFill>
            <a:prstDash val="solid"/>
            <a:round/>
            <a:headEnd type="none" w="med" len="med"/>
            <a:tailEnd type="none" w="med" len="med"/>
          </a:ln>
        </p:spPr>
      </p:cxnSp>
      <p:cxnSp>
        <p:nvCxnSpPr>
          <p:cNvPr id="169" name="Google Shape;169;p26"/>
          <p:cNvCxnSpPr/>
          <p:nvPr/>
        </p:nvCxnSpPr>
        <p:spPr>
          <a:xfrm>
            <a:off x="583299" y="1477536"/>
            <a:ext cx="7977398" cy="0"/>
          </a:xfrm>
          <a:prstGeom prst="straightConnector1">
            <a:avLst/>
          </a:prstGeom>
          <a:noFill/>
          <a:ln w="12850" cap="flat" cmpd="sng">
            <a:solidFill>
              <a:srgbClr val="083608"/>
            </a:solidFill>
            <a:prstDash val="solid"/>
            <a:round/>
            <a:headEnd type="none" w="med" len="med"/>
            <a:tailEnd type="none" w="med" len="med"/>
          </a:ln>
        </p:spPr>
      </p:cxnSp>
      <p:sp>
        <p:nvSpPr>
          <p:cNvPr id="170" name="Google Shape;170;p26"/>
          <p:cNvSpPr txBox="1"/>
          <p:nvPr/>
        </p:nvSpPr>
        <p:spPr>
          <a:xfrm>
            <a:off x="2052049" y="1476973"/>
            <a:ext cx="6101203" cy="50905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025">
              <a:solidFill>
                <a:srgbClr val="000000"/>
              </a:solidFill>
              <a:latin typeface="Calibri"/>
              <a:ea typeface="Calibri"/>
              <a:cs typeface="Calibri"/>
              <a:sym typeface="Calibri"/>
            </a:endParaRPr>
          </a:p>
        </p:txBody>
      </p:sp>
      <p:sp>
        <p:nvSpPr>
          <p:cNvPr id="171" name="Google Shape;171;p26"/>
          <p:cNvSpPr txBox="1"/>
          <p:nvPr/>
        </p:nvSpPr>
        <p:spPr>
          <a:xfrm>
            <a:off x="2052049" y="1986372"/>
            <a:ext cx="6101203" cy="50905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025">
              <a:solidFill>
                <a:srgbClr val="083608"/>
              </a:solidFill>
              <a:latin typeface="Calibri"/>
              <a:ea typeface="Calibri"/>
              <a:cs typeface="Calibri"/>
              <a:sym typeface="Calibri"/>
            </a:endParaRPr>
          </a:p>
        </p:txBody>
      </p:sp>
      <p:sp>
        <p:nvSpPr>
          <p:cNvPr id="172" name="Google Shape;172;p26"/>
          <p:cNvSpPr txBox="1"/>
          <p:nvPr/>
        </p:nvSpPr>
        <p:spPr>
          <a:xfrm>
            <a:off x="2052049" y="2495692"/>
            <a:ext cx="6101203" cy="50905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025">
              <a:solidFill>
                <a:srgbClr val="083608"/>
              </a:solidFill>
              <a:latin typeface="Calibri"/>
              <a:ea typeface="Calibri"/>
              <a:cs typeface="Calibri"/>
              <a:sym typeface="Calibri"/>
            </a:endParaRPr>
          </a:p>
        </p:txBody>
      </p:sp>
      <p:sp>
        <p:nvSpPr>
          <p:cNvPr id="173" name="Google Shape;173;p26"/>
          <p:cNvSpPr txBox="1"/>
          <p:nvPr/>
        </p:nvSpPr>
        <p:spPr>
          <a:xfrm>
            <a:off x="2052049" y="3005052"/>
            <a:ext cx="6101203" cy="50905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025">
              <a:solidFill>
                <a:srgbClr val="083608"/>
              </a:solidFill>
              <a:latin typeface="Calibri"/>
              <a:ea typeface="Calibri"/>
              <a:cs typeface="Calibri"/>
              <a:sym typeface="Calibri"/>
            </a:endParaRPr>
          </a:p>
        </p:txBody>
      </p:sp>
      <p:sp>
        <p:nvSpPr>
          <p:cNvPr id="174" name="Google Shape;174;p26"/>
          <p:cNvSpPr txBox="1"/>
          <p:nvPr/>
        </p:nvSpPr>
        <p:spPr>
          <a:xfrm>
            <a:off x="2052049" y="3509787"/>
            <a:ext cx="6101203" cy="50905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025">
              <a:solidFill>
                <a:srgbClr val="083608"/>
              </a:solidFill>
              <a:latin typeface="Calibri"/>
              <a:ea typeface="Calibri"/>
              <a:cs typeface="Calibri"/>
              <a:sym typeface="Calibri"/>
            </a:endParaRPr>
          </a:p>
        </p:txBody>
      </p:sp>
      <p:sp>
        <p:nvSpPr>
          <p:cNvPr id="175" name="Google Shape;175;p26"/>
          <p:cNvSpPr txBox="1"/>
          <p:nvPr/>
        </p:nvSpPr>
        <p:spPr>
          <a:xfrm>
            <a:off x="587003" y="1476983"/>
            <a:ext cx="1173693" cy="509053"/>
          </a:xfrm>
          <a:prstGeom prst="rect">
            <a:avLst/>
          </a:prstGeom>
          <a:solidFill>
            <a:srgbClr val="11341D">
              <a:alpha val="4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25">
                <a:solidFill>
                  <a:srgbClr val="083608"/>
                </a:solidFill>
                <a:latin typeface="Calibri"/>
                <a:ea typeface="Calibri"/>
                <a:cs typeface="Calibri"/>
                <a:sym typeface="Calibri"/>
              </a:rPr>
              <a:t>01</a:t>
            </a:r>
            <a:endParaRPr sz="2025">
              <a:solidFill>
                <a:srgbClr val="083608"/>
              </a:solidFill>
              <a:latin typeface="Calibri"/>
              <a:ea typeface="Calibri"/>
              <a:cs typeface="Calibri"/>
              <a:sym typeface="Calibri"/>
            </a:endParaRPr>
          </a:p>
        </p:txBody>
      </p:sp>
      <p:sp>
        <p:nvSpPr>
          <p:cNvPr id="176" name="Google Shape;176;p26"/>
          <p:cNvSpPr txBox="1"/>
          <p:nvPr/>
        </p:nvSpPr>
        <p:spPr>
          <a:xfrm>
            <a:off x="587003" y="1986385"/>
            <a:ext cx="1173693" cy="509053"/>
          </a:xfrm>
          <a:prstGeom prst="rect">
            <a:avLst/>
          </a:prstGeom>
          <a:solidFill>
            <a:srgbClr val="11341D">
              <a:alpha val="4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25">
                <a:solidFill>
                  <a:srgbClr val="083608"/>
                </a:solidFill>
                <a:latin typeface="Work Sans"/>
                <a:ea typeface="Work Sans"/>
                <a:cs typeface="Work Sans"/>
                <a:sym typeface="Work Sans"/>
              </a:rPr>
              <a:t>02</a:t>
            </a:r>
            <a:endParaRPr sz="2025">
              <a:solidFill>
                <a:srgbClr val="083608"/>
              </a:solidFill>
              <a:latin typeface="Work Sans"/>
              <a:ea typeface="Work Sans"/>
              <a:cs typeface="Work Sans"/>
              <a:sym typeface="Work Sans"/>
            </a:endParaRPr>
          </a:p>
        </p:txBody>
      </p:sp>
      <p:sp>
        <p:nvSpPr>
          <p:cNvPr id="177" name="Google Shape;177;p26"/>
          <p:cNvSpPr txBox="1"/>
          <p:nvPr/>
        </p:nvSpPr>
        <p:spPr>
          <a:xfrm>
            <a:off x="587003" y="2495708"/>
            <a:ext cx="1173693" cy="509053"/>
          </a:xfrm>
          <a:prstGeom prst="rect">
            <a:avLst/>
          </a:prstGeom>
          <a:solidFill>
            <a:srgbClr val="11341D">
              <a:alpha val="4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25">
                <a:solidFill>
                  <a:srgbClr val="083608"/>
                </a:solidFill>
                <a:latin typeface="Work Sans"/>
                <a:ea typeface="Work Sans"/>
                <a:cs typeface="Work Sans"/>
                <a:sym typeface="Work Sans"/>
              </a:rPr>
              <a:t>03</a:t>
            </a:r>
            <a:endParaRPr sz="2025">
              <a:solidFill>
                <a:srgbClr val="083608"/>
              </a:solidFill>
              <a:latin typeface="Work Sans"/>
              <a:ea typeface="Work Sans"/>
              <a:cs typeface="Work Sans"/>
              <a:sym typeface="Work Sans"/>
            </a:endParaRPr>
          </a:p>
        </p:txBody>
      </p:sp>
      <p:sp>
        <p:nvSpPr>
          <p:cNvPr id="178" name="Google Shape;178;p26"/>
          <p:cNvSpPr txBox="1"/>
          <p:nvPr/>
        </p:nvSpPr>
        <p:spPr>
          <a:xfrm>
            <a:off x="587003" y="3005070"/>
            <a:ext cx="1173693" cy="509053"/>
          </a:xfrm>
          <a:prstGeom prst="rect">
            <a:avLst/>
          </a:prstGeom>
          <a:solidFill>
            <a:srgbClr val="11341D">
              <a:alpha val="4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25">
                <a:solidFill>
                  <a:srgbClr val="083608"/>
                </a:solidFill>
                <a:latin typeface="Work Sans"/>
                <a:ea typeface="Work Sans"/>
                <a:cs typeface="Work Sans"/>
                <a:sym typeface="Work Sans"/>
              </a:rPr>
              <a:t>04</a:t>
            </a:r>
            <a:endParaRPr sz="2025">
              <a:solidFill>
                <a:srgbClr val="083608"/>
              </a:solidFill>
              <a:latin typeface="Work Sans"/>
              <a:ea typeface="Work Sans"/>
              <a:cs typeface="Work Sans"/>
              <a:sym typeface="Work Sans"/>
            </a:endParaRPr>
          </a:p>
        </p:txBody>
      </p:sp>
      <p:sp>
        <p:nvSpPr>
          <p:cNvPr id="179" name="Google Shape;179;p26"/>
          <p:cNvSpPr txBox="1"/>
          <p:nvPr/>
        </p:nvSpPr>
        <p:spPr>
          <a:xfrm>
            <a:off x="587003" y="3509808"/>
            <a:ext cx="1173693" cy="509053"/>
          </a:xfrm>
          <a:prstGeom prst="rect">
            <a:avLst/>
          </a:prstGeom>
          <a:solidFill>
            <a:srgbClr val="11341D">
              <a:alpha val="4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25">
                <a:solidFill>
                  <a:srgbClr val="083608"/>
                </a:solidFill>
                <a:latin typeface="Work Sans"/>
                <a:ea typeface="Work Sans"/>
                <a:cs typeface="Work Sans"/>
                <a:sym typeface="Work Sans"/>
              </a:rPr>
              <a:t>05</a:t>
            </a:r>
            <a:endParaRPr sz="2025">
              <a:solidFill>
                <a:srgbClr val="083608"/>
              </a:solidFill>
              <a:latin typeface="Work Sans"/>
              <a:ea typeface="Work Sans"/>
              <a:cs typeface="Work Sans"/>
              <a:sym typeface="Work Sans"/>
            </a:endParaRPr>
          </a:p>
        </p:txBody>
      </p:sp>
      <p:sp>
        <p:nvSpPr>
          <p:cNvPr id="180" name="Google Shape;180;p26"/>
          <p:cNvSpPr txBox="1"/>
          <p:nvPr/>
        </p:nvSpPr>
        <p:spPr>
          <a:xfrm>
            <a:off x="514350" y="471488"/>
            <a:ext cx="4982700" cy="107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endParaRPr sz="700">
              <a:latin typeface="Calibri"/>
              <a:ea typeface="Calibri"/>
              <a:cs typeface="Calibri"/>
              <a:sym typeface="Calibri"/>
            </a:endParaRPr>
          </a:p>
        </p:txBody>
      </p:sp>
      <p:sp>
        <p:nvSpPr>
          <p:cNvPr id="181" name="Google Shape;181;p26"/>
          <p:cNvSpPr txBox="1"/>
          <p:nvPr/>
        </p:nvSpPr>
        <p:spPr>
          <a:xfrm>
            <a:off x="666750" y="623888"/>
            <a:ext cx="4982700" cy="323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 sz="2100" b="1">
                <a:solidFill>
                  <a:srgbClr val="11341D"/>
                </a:solidFill>
                <a:latin typeface="Calibri"/>
                <a:ea typeface="Calibri"/>
                <a:cs typeface="Calibri"/>
                <a:sym typeface="Calibri"/>
              </a:rPr>
              <a:t>Our Agenda </a:t>
            </a:r>
            <a:endParaRPr sz="70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Shape 340">
          <a:extLst>
            <a:ext uri="{FF2B5EF4-FFF2-40B4-BE49-F238E27FC236}">
              <a16:creationId xmlns:a16="http://schemas.microsoft.com/office/drawing/2014/main" id="{27342840-6160-6E58-6319-11E46A6AD5F3}"/>
            </a:ext>
          </a:extLst>
        </p:cNvPr>
        <p:cNvGrpSpPr/>
        <p:nvPr/>
      </p:nvGrpSpPr>
      <p:grpSpPr>
        <a:xfrm>
          <a:off x="0" y="0"/>
          <a:ext cx="0" cy="0"/>
          <a:chOff x="0" y="0"/>
          <a:chExt cx="0" cy="0"/>
        </a:xfrm>
      </p:grpSpPr>
      <p:sp>
        <p:nvSpPr>
          <p:cNvPr id="341" name="Google Shape;341;p34">
            <a:extLst>
              <a:ext uri="{FF2B5EF4-FFF2-40B4-BE49-F238E27FC236}">
                <a16:creationId xmlns:a16="http://schemas.microsoft.com/office/drawing/2014/main" id="{2E8057AF-F34F-1F73-F916-769A0623ED1A}"/>
              </a:ext>
            </a:extLst>
          </p:cNvPr>
          <p:cNvSpPr txBox="1"/>
          <p:nvPr/>
        </p:nvSpPr>
        <p:spPr>
          <a:xfrm>
            <a:off x="514349" y="461963"/>
            <a:ext cx="4949749" cy="92025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 sz="4600" b="1">
                <a:solidFill>
                  <a:srgbClr val="11341D"/>
                </a:solidFill>
                <a:latin typeface="Calibri"/>
                <a:ea typeface="Calibri"/>
                <a:cs typeface="Calibri"/>
                <a:sym typeface="Calibri"/>
              </a:rPr>
              <a:t>Redirection Analysis</a:t>
            </a:r>
            <a:endParaRPr sz="700">
              <a:latin typeface="Calibri"/>
              <a:ea typeface="Calibri"/>
              <a:cs typeface="Calibri"/>
              <a:sym typeface="Calibri"/>
            </a:endParaRPr>
          </a:p>
        </p:txBody>
      </p:sp>
      <p:grpSp>
        <p:nvGrpSpPr>
          <p:cNvPr id="342" name="Google Shape;342;p34">
            <a:extLst>
              <a:ext uri="{FF2B5EF4-FFF2-40B4-BE49-F238E27FC236}">
                <a16:creationId xmlns:a16="http://schemas.microsoft.com/office/drawing/2014/main" id="{DA44BD17-3B53-9A7C-2A40-DEF0A880E9D7}"/>
              </a:ext>
            </a:extLst>
          </p:cNvPr>
          <p:cNvGrpSpPr/>
          <p:nvPr/>
        </p:nvGrpSpPr>
        <p:grpSpPr>
          <a:xfrm>
            <a:off x="5364593" y="1992173"/>
            <a:ext cx="1802409" cy="2097349"/>
            <a:chOff x="0" y="0"/>
            <a:chExt cx="698500" cy="812800"/>
          </a:xfrm>
        </p:grpSpPr>
        <p:sp>
          <p:nvSpPr>
            <p:cNvPr id="343" name="Google Shape;343;p34">
              <a:extLst>
                <a:ext uri="{FF2B5EF4-FFF2-40B4-BE49-F238E27FC236}">
                  <a16:creationId xmlns:a16="http://schemas.microsoft.com/office/drawing/2014/main" id="{6FDE1AD5-83EE-57B6-10F8-93FF85E64DC2}"/>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4" name="Google Shape;344;p34">
              <a:extLst>
                <a:ext uri="{FF2B5EF4-FFF2-40B4-BE49-F238E27FC236}">
                  <a16:creationId xmlns:a16="http://schemas.microsoft.com/office/drawing/2014/main" id="{10889AA4-6554-B5F3-6395-92F887E78464}"/>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45" name="Google Shape;345;p34">
            <a:extLst>
              <a:ext uri="{FF2B5EF4-FFF2-40B4-BE49-F238E27FC236}">
                <a16:creationId xmlns:a16="http://schemas.microsoft.com/office/drawing/2014/main" id="{97CCB931-A447-51EE-E639-B348CEDB9EEA}"/>
              </a:ext>
            </a:extLst>
          </p:cNvPr>
          <p:cNvSpPr/>
          <p:nvPr/>
        </p:nvSpPr>
        <p:spPr>
          <a:xfrm rot="570569">
            <a:off x="-5626210" y="2867024"/>
            <a:ext cx="9883810" cy="3274012"/>
          </a:xfrm>
          <a:custGeom>
            <a:avLst/>
            <a:gdLst/>
            <a:ahLst/>
            <a:cxnLst/>
            <a:rect l="l" t="t" r="r" b="b"/>
            <a:pathLst>
              <a:path w="19792872" h="6556389" extrusionOk="0">
                <a:moveTo>
                  <a:pt x="0" y="0"/>
                </a:moveTo>
                <a:lnTo>
                  <a:pt x="19792872" y="0"/>
                </a:lnTo>
                <a:lnTo>
                  <a:pt x="19792872" y="6556388"/>
                </a:lnTo>
                <a:lnTo>
                  <a:pt x="0" y="6556388"/>
                </a:lnTo>
                <a:lnTo>
                  <a:pt x="0" y="0"/>
                </a:lnTo>
                <a:close/>
              </a:path>
            </a:pathLst>
          </a:custGeom>
          <a:blipFill rotWithShape="1">
            <a:blip r:embed="rId3">
              <a:alphaModFix amt="13000"/>
            </a:blip>
            <a:stretch>
              <a:fillRect/>
            </a:stretch>
          </a:blipFill>
          <a:ln>
            <a:noFill/>
          </a:ln>
        </p:spPr>
        <p:txBody>
          <a:bodyPr/>
          <a:lstStyle/>
          <a:p>
            <a:endParaRPr lang="en-US"/>
          </a:p>
        </p:txBody>
      </p:sp>
      <p:grpSp>
        <p:nvGrpSpPr>
          <p:cNvPr id="346" name="Google Shape;346;p34">
            <a:extLst>
              <a:ext uri="{FF2B5EF4-FFF2-40B4-BE49-F238E27FC236}">
                <a16:creationId xmlns:a16="http://schemas.microsoft.com/office/drawing/2014/main" id="{B90B1557-34EB-B7CE-6966-CCF17A77C041}"/>
              </a:ext>
            </a:extLst>
          </p:cNvPr>
          <p:cNvGrpSpPr/>
          <p:nvPr/>
        </p:nvGrpSpPr>
        <p:grpSpPr>
          <a:xfrm>
            <a:off x="4026393" y="4431348"/>
            <a:ext cx="1802409" cy="2097349"/>
            <a:chOff x="0" y="0"/>
            <a:chExt cx="698500" cy="812800"/>
          </a:xfrm>
        </p:grpSpPr>
        <p:sp>
          <p:nvSpPr>
            <p:cNvPr id="347" name="Google Shape;347;p34">
              <a:extLst>
                <a:ext uri="{FF2B5EF4-FFF2-40B4-BE49-F238E27FC236}">
                  <a16:creationId xmlns:a16="http://schemas.microsoft.com/office/drawing/2014/main" id="{41CFC67F-CD36-80CE-8210-EAD325C52163}"/>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8" name="Google Shape;348;p34">
              <a:extLst>
                <a:ext uri="{FF2B5EF4-FFF2-40B4-BE49-F238E27FC236}">
                  <a16:creationId xmlns:a16="http://schemas.microsoft.com/office/drawing/2014/main" id="{5D5745BB-BC13-7BE9-B851-6FB0CF857DA7}"/>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49" name="Google Shape;349;p34">
            <a:extLst>
              <a:ext uri="{FF2B5EF4-FFF2-40B4-BE49-F238E27FC236}">
                <a16:creationId xmlns:a16="http://schemas.microsoft.com/office/drawing/2014/main" id="{9BEFC596-134D-4C23-4E43-F13C0C3087FD}"/>
              </a:ext>
            </a:extLst>
          </p:cNvPr>
          <p:cNvGrpSpPr/>
          <p:nvPr/>
        </p:nvGrpSpPr>
        <p:grpSpPr>
          <a:xfrm>
            <a:off x="8532466" y="3173248"/>
            <a:ext cx="1802409" cy="2097349"/>
            <a:chOff x="0" y="0"/>
            <a:chExt cx="698500" cy="812800"/>
          </a:xfrm>
        </p:grpSpPr>
        <p:sp>
          <p:nvSpPr>
            <p:cNvPr id="350" name="Google Shape;350;p34">
              <a:extLst>
                <a:ext uri="{FF2B5EF4-FFF2-40B4-BE49-F238E27FC236}">
                  <a16:creationId xmlns:a16="http://schemas.microsoft.com/office/drawing/2014/main" id="{4B6EEFB4-59C1-26A0-7944-16DD8C636014}"/>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51" name="Google Shape;351;p34">
              <a:extLst>
                <a:ext uri="{FF2B5EF4-FFF2-40B4-BE49-F238E27FC236}">
                  <a16:creationId xmlns:a16="http://schemas.microsoft.com/office/drawing/2014/main" id="{47178C60-34F4-71A1-32E0-48E86B9377D3}"/>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2" name="Google Shape;352;p34">
            <a:extLst>
              <a:ext uri="{FF2B5EF4-FFF2-40B4-BE49-F238E27FC236}">
                <a16:creationId xmlns:a16="http://schemas.microsoft.com/office/drawing/2014/main" id="{C1012E5E-CB8C-C246-DC64-0D1F07AB55A2}"/>
              </a:ext>
            </a:extLst>
          </p:cNvPr>
          <p:cNvGrpSpPr/>
          <p:nvPr/>
        </p:nvGrpSpPr>
        <p:grpSpPr>
          <a:xfrm>
            <a:off x="4927607" y="-1390442"/>
            <a:ext cx="1802409" cy="2097349"/>
            <a:chOff x="0" y="0"/>
            <a:chExt cx="698500" cy="812800"/>
          </a:xfrm>
        </p:grpSpPr>
        <p:sp>
          <p:nvSpPr>
            <p:cNvPr id="353" name="Google Shape;353;p34">
              <a:extLst>
                <a:ext uri="{FF2B5EF4-FFF2-40B4-BE49-F238E27FC236}">
                  <a16:creationId xmlns:a16="http://schemas.microsoft.com/office/drawing/2014/main" id="{F4AF8BB9-98E3-20C9-CDD7-94281DED3C0A}"/>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4" name="Google Shape;354;p34">
              <a:extLst>
                <a:ext uri="{FF2B5EF4-FFF2-40B4-BE49-F238E27FC236}">
                  <a16:creationId xmlns:a16="http://schemas.microsoft.com/office/drawing/2014/main" id="{00234A3E-A0CF-842D-2AF1-A73920C07802}"/>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5" name="Google Shape;355;p34">
            <a:extLst>
              <a:ext uri="{FF2B5EF4-FFF2-40B4-BE49-F238E27FC236}">
                <a16:creationId xmlns:a16="http://schemas.microsoft.com/office/drawing/2014/main" id="{E8576D8C-0444-5309-99AC-16033353F77A}"/>
              </a:ext>
            </a:extLst>
          </p:cNvPr>
          <p:cNvGrpSpPr/>
          <p:nvPr/>
        </p:nvGrpSpPr>
        <p:grpSpPr>
          <a:xfrm>
            <a:off x="8532466" y="1075875"/>
            <a:ext cx="1802409" cy="2097349"/>
            <a:chOff x="0" y="0"/>
            <a:chExt cx="698500" cy="812800"/>
          </a:xfrm>
        </p:grpSpPr>
        <p:sp>
          <p:nvSpPr>
            <p:cNvPr id="356" name="Google Shape;356;p34">
              <a:extLst>
                <a:ext uri="{FF2B5EF4-FFF2-40B4-BE49-F238E27FC236}">
                  <a16:creationId xmlns:a16="http://schemas.microsoft.com/office/drawing/2014/main" id="{4698C400-F11A-F1EF-5EDA-8FD790D57A15}"/>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7" name="Google Shape;357;p34">
              <a:extLst>
                <a:ext uri="{FF2B5EF4-FFF2-40B4-BE49-F238E27FC236}">
                  <a16:creationId xmlns:a16="http://schemas.microsoft.com/office/drawing/2014/main" id="{F9AA0C2C-43A5-55C4-E5DA-EBBA83F96BB2}"/>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8" name="Google Shape;358;p34">
            <a:extLst>
              <a:ext uri="{FF2B5EF4-FFF2-40B4-BE49-F238E27FC236}">
                <a16:creationId xmlns:a16="http://schemas.microsoft.com/office/drawing/2014/main" id="{BBD4454E-B2DE-8ACC-FF30-F0C7C725B146}"/>
              </a:ext>
            </a:extLst>
          </p:cNvPr>
          <p:cNvGrpSpPr/>
          <p:nvPr/>
        </p:nvGrpSpPr>
        <p:grpSpPr>
          <a:xfrm>
            <a:off x="6730036" y="27190"/>
            <a:ext cx="1802409" cy="2097349"/>
            <a:chOff x="0" y="0"/>
            <a:chExt cx="698500" cy="812800"/>
          </a:xfrm>
        </p:grpSpPr>
        <p:sp>
          <p:nvSpPr>
            <p:cNvPr id="359" name="Google Shape;359;p34">
              <a:extLst>
                <a:ext uri="{FF2B5EF4-FFF2-40B4-BE49-F238E27FC236}">
                  <a16:creationId xmlns:a16="http://schemas.microsoft.com/office/drawing/2014/main" id="{26B881EE-0E0A-CF13-823E-65B0EC2F730C}"/>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60" name="Google Shape;360;p34">
              <a:extLst>
                <a:ext uri="{FF2B5EF4-FFF2-40B4-BE49-F238E27FC236}">
                  <a16:creationId xmlns:a16="http://schemas.microsoft.com/office/drawing/2014/main" id="{A675AD3E-0E47-DE8F-4435-A4B0AA6B36DD}"/>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61" name="Google Shape;361;p34">
            <a:extLst>
              <a:ext uri="{FF2B5EF4-FFF2-40B4-BE49-F238E27FC236}">
                <a16:creationId xmlns:a16="http://schemas.microsoft.com/office/drawing/2014/main" id="{E59B88C1-D476-29F8-452F-887F30556D45}"/>
              </a:ext>
            </a:extLst>
          </p:cNvPr>
          <p:cNvSpPr/>
          <p:nvPr/>
        </p:nvSpPr>
        <p:spPr>
          <a:xfrm>
            <a:off x="8506095" y="-455835"/>
            <a:ext cx="732122" cy="1714500"/>
          </a:xfrm>
          <a:custGeom>
            <a:avLst/>
            <a:gdLst/>
            <a:ahLst/>
            <a:cxnLst/>
            <a:rect l="l" t="t" r="r" b="b"/>
            <a:pathLst>
              <a:path w="1464244" h="3429000" extrusionOk="0">
                <a:moveTo>
                  <a:pt x="0" y="0"/>
                </a:moveTo>
                <a:lnTo>
                  <a:pt x="1464244" y="0"/>
                </a:lnTo>
                <a:lnTo>
                  <a:pt x="1464244" y="3429000"/>
                </a:lnTo>
                <a:lnTo>
                  <a:pt x="0" y="3429000"/>
                </a:lnTo>
                <a:lnTo>
                  <a:pt x="0" y="0"/>
                </a:lnTo>
                <a:close/>
              </a:path>
            </a:pathLst>
          </a:custGeom>
          <a:blipFill rotWithShape="1">
            <a:blip r:embed="rId4">
              <a:alphaModFix/>
            </a:blip>
            <a:stretch>
              <a:fillRect r="-399575"/>
            </a:stretch>
          </a:blipFill>
          <a:ln>
            <a:noFill/>
          </a:ln>
        </p:spPr>
        <p:txBody>
          <a:bodyPr/>
          <a:lstStyle/>
          <a:p>
            <a:endParaRPr lang="en-US"/>
          </a:p>
        </p:txBody>
      </p:sp>
    </p:spTree>
    <p:extLst>
      <p:ext uri="{BB962C8B-B14F-4D97-AF65-F5344CB8AC3E}">
        <p14:creationId xmlns:p14="http://schemas.microsoft.com/office/powerpoint/2010/main" val="84384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a:extLst>
            <a:ext uri="{FF2B5EF4-FFF2-40B4-BE49-F238E27FC236}">
              <a16:creationId xmlns:a16="http://schemas.microsoft.com/office/drawing/2014/main" id="{228EDE02-01A1-329A-927E-066966EF3BCA}"/>
            </a:ext>
          </a:extLst>
        </p:cNvPr>
        <p:cNvGrpSpPr/>
        <p:nvPr/>
      </p:nvGrpSpPr>
      <p:grpSpPr>
        <a:xfrm>
          <a:off x="0" y="0"/>
          <a:ext cx="0" cy="0"/>
          <a:chOff x="0" y="0"/>
          <a:chExt cx="0" cy="0"/>
        </a:xfrm>
      </p:grpSpPr>
      <p:sp>
        <p:nvSpPr>
          <p:cNvPr id="332" name="Google Shape;332;p33">
            <a:extLst>
              <a:ext uri="{FF2B5EF4-FFF2-40B4-BE49-F238E27FC236}">
                <a16:creationId xmlns:a16="http://schemas.microsoft.com/office/drawing/2014/main" id="{33118B5D-0358-8DA5-89D5-08CBECB4EEC4}"/>
              </a:ext>
            </a:extLst>
          </p:cNvPr>
          <p:cNvSpPr txBox="1"/>
          <p:nvPr/>
        </p:nvSpPr>
        <p:spPr>
          <a:xfrm>
            <a:off x="517949" y="452125"/>
            <a:ext cx="8108100" cy="64633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 sz="2100" b="1">
                <a:solidFill>
                  <a:srgbClr val="11341D"/>
                </a:solidFill>
                <a:latin typeface="Calibri"/>
                <a:ea typeface="Calibri"/>
                <a:cs typeface="Calibri"/>
                <a:sym typeface="Calibri"/>
              </a:rPr>
              <a:t>Each call can generate multiple legs, redirections help explain how calls move through the system.</a:t>
            </a:r>
            <a:endParaRPr sz="700">
              <a:latin typeface="Calibri"/>
              <a:ea typeface="Calibri"/>
              <a:cs typeface="Calibri"/>
              <a:sym typeface="Calibri"/>
            </a:endParaRPr>
          </a:p>
        </p:txBody>
      </p:sp>
      <p:sp>
        <p:nvSpPr>
          <p:cNvPr id="333" name="Google Shape;333;p33">
            <a:extLst>
              <a:ext uri="{FF2B5EF4-FFF2-40B4-BE49-F238E27FC236}">
                <a16:creationId xmlns:a16="http://schemas.microsoft.com/office/drawing/2014/main" id="{78CA6D9C-EE6E-B576-0AA0-2ED7BE763328}"/>
              </a:ext>
            </a:extLst>
          </p:cNvPr>
          <p:cNvSpPr/>
          <p:nvPr/>
        </p:nvSpPr>
        <p:spPr>
          <a:xfrm rot="-10124778">
            <a:off x="4188825" y="-146069"/>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a:extLst>
              <a:ext uri="{FF2B5EF4-FFF2-40B4-BE49-F238E27FC236}">
                <a16:creationId xmlns:a16="http://schemas.microsoft.com/office/drawing/2014/main" id="{B2276BF7-9258-5318-5165-3D221DA43567}"/>
              </a:ext>
            </a:extLst>
          </p:cNvPr>
          <p:cNvSpPr/>
          <p:nvPr/>
        </p:nvSpPr>
        <p:spPr>
          <a:xfrm rot="570569">
            <a:off x="-1168861" y="3506494"/>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13" name="Rectangle 1">
            <a:extLst>
              <a:ext uri="{FF2B5EF4-FFF2-40B4-BE49-F238E27FC236}">
                <a16:creationId xmlns:a16="http://schemas.microsoft.com/office/drawing/2014/main" id="{A0B5FA73-C25A-E769-E213-8677E4B2CA66}"/>
              </a:ext>
            </a:extLst>
          </p:cNvPr>
          <p:cNvSpPr>
            <a:spLocks noChangeArrowheads="1"/>
          </p:cNvSpPr>
          <p:nvPr/>
        </p:nvSpPr>
        <p:spPr bwMode="auto">
          <a:xfrm>
            <a:off x="-1" y="-18939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ounded Rectangle 14">
            <a:extLst>
              <a:ext uri="{FF2B5EF4-FFF2-40B4-BE49-F238E27FC236}">
                <a16:creationId xmlns:a16="http://schemas.microsoft.com/office/drawing/2014/main" id="{12C0E84E-2FDA-1E25-A520-24EDEA6F7117}"/>
              </a:ext>
            </a:extLst>
          </p:cNvPr>
          <p:cNvSpPr/>
          <p:nvPr/>
        </p:nvSpPr>
        <p:spPr>
          <a:xfrm>
            <a:off x="831798" y="2112071"/>
            <a:ext cx="2143428" cy="263835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hevron 15">
            <a:extLst>
              <a:ext uri="{FF2B5EF4-FFF2-40B4-BE49-F238E27FC236}">
                <a16:creationId xmlns:a16="http://schemas.microsoft.com/office/drawing/2014/main" id="{06AC45FA-5730-B043-00AC-DA20B38D9BBD}"/>
              </a:ext>
            </a:extLst>
          </p:cNvPr>
          <p:cNvSpPr/>
          <p:nvPr/>
        </p:nvSpPr>
        <p:spPr>
          <a:xfrm>
            <a:off x="844682" y="133715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1468AA8F-EFC1-3D95-4FF0-1E88D593E9A4}"/>
              </a:ext>
            </a:extLst>
          </p:cNvPr>
          <p:cNvSpPr txBox="1"/>
          <p:nvPr/>
        </p:nvSpPr>
        <p:spPr>
          <a:xfrm>
            <a:off x="1365720" y="1416050"/>
            <a:ext cx="1721006"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Call Start </a:t>
            </a:r>
          </a:p>
        </p:txBody>
      </p:sp>
      <p:sp>
        <p:nvSpPr>
          <p:cNvPr id="18" name="Chevron 17">
            <a:extLst>
              <a:ext uri="{FF2B5EF4-FFF2-40B4-BE49-F238E27FC236}">
                <a16:creationId xmlns:a16="http://schemas.microsoft.com/office/drawing/2014/main" id="{9A25899D-D775-8870-1E40-2765E122AEAD}"/>
              </a:ext>
            </a:extLst>
          </p:cNvPr>
          <p:cNvSpPr/>
          <p:nvPr/>
        </p:nvSpPr>
        <p:spPr>
          <a:xfrm>
            <a:off x="3538893" y="133715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7EF24C5F-C547-11CC-77F5-31A5726B5AED}"/>
              </a:ext>
            </a:extLst>
          </p:cNvPr>
          <p:cNvSpPr txBox="1"/>
          <p:nvPr/>
        </p:nvSpPr>
        <p:spPr>
          <a:xfrm>
            <a:off x="3773043" y="1416050"/>
            <a:ext cx="1898633"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Call Movement  </a:t>
            </a:r>
          </a:p>
        </p:txBody>
      </p:sp>
      <p:sp>
        <p:nvSpPr>
          <p:cNvPr id="19" name="Chevron 18">
            <a:extLst>
              <a:ext uri="{FF2B5EF4-FFF2-40B4-BE49-F238E27FC236}">
                <a16:creationId xmlns:a16="http://schemas.microsoft.com/office/drawing/2014/main" id="{1A619DA7-DA07-1F05-8EA7-C26827344BC8}"/>
              </a:ext>
            </a:extLst>
          </p:cNvPr>
          <p:cNvSpPr/>
          <p:nvPr/>
        </p:nvSpPr>
        <p:spPr>
          <a:xfrm>
            <a:off x="6218104" y="133715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85D0BED-66A8-6C9D-89F0-C388A8FAAFF9}"/>
              </a:ext>
            </a:extLst>
          </p:cNvPr>
          <p:cNvSpPr txBox="1"/>
          <p:nvPr/>
        </p:nvSpPr>
        <p:spPr>
          <a:xfrm>
            <a:off x="6828164" y="1416050"/>
            <a:ext cx="1556563"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Call End</a:t>
            </a:r>
          </a:p>
        </p:txBody>
      </p:sp>
      <p:sp>
        <p:nvSpPr>
          <p:cNvPr id="20" name="TextBox 19">
            <a:extLst>
              <a:ext uri="{FF2B5EF4-FFF2-40B4-BE49-F238E27FC236}">
                <a16:creationId xmlns:a16="http://schemas.microsoft.com/office/drawing/2014/main" id="{F3053E85-9D01-33C5-2736-CA7F3E9C3AEE}"/>
              </a:ext>
            </a:extLst>
          </p:cNvPr>
          <p:cNvSpPr txBox="1"/>
          <p:nvPr/>
        </p:nvSpPr>
        <p:spPr>
          <a:xfrm>
            <a:off x="844682" y="2198123"/>
            <a:ext cx="2085094" cy="1938992"/>
          </a:xfrm>
          <a:prstGeom prst="rect">
            <a:avLst/>
          </a:prstGeom>
          <a:noFill/>
        </p:spPr>
        <p:txBody>
          <a:bodyPr wrap="square" rtlCol="0" anchor="ctr">
            <a:spAutoFit/>
          </a:bodyPr>
          <a:lstStyle/>
          <a:p>
            <a:pPr marL="285750" indent="-285750">
              <a:buFont typeface="Arial" panose="020B0604020202020204" pitchFamily="34" charset="0"/>
              <a:buChar char="•"/>
            </a:pPr>
            <a:r>
              <a:rPr lang="en-US" sz="1200" b="1">
                <a:solidFill>
                  <a:srgbClr val="11331D"/>
                </a:solidFill>
                <a:latin typeface="Calibri" panose="020F0502020204030204" pitchFamily="34" charset="0"/>
                <a:cs typeface="Calibri" panose="020F0502020204030204" pitchFamily="34" charset="0"/>
              </a:rPr>
              <a:t>Calling Number</a:t>
            </a:r>
            <a:r>
              <a:rPr lang="en-US" sz="1200">
                <a:solidFill>
                  <a:srgbClr val="11331D"/>
                </a:solidFill>
                <a:latin typeface="Calibri" panose="020F0502020204030204" pitchFamily="34" charset="0"/>
                <a:cs typeface="Calibri" panose="020F0502020204030204" pitchFamily="34" charset="0"/>
              </a:rPr>
              <a:t> </a:t>
            </a:r>
            <a:r>
              <a:rPr lang="en-US" altLang="en-US" sz="1200">
                <a:latin typeface="Calibri" panose="020F0502020204030204" pitchFamily="34" charset="0"/>
                <a:cs typeface="Calibri" panose="020F0502020204030204" pitchFamily="34" charset="0"/>
              </a:rPr>
              <a:t>→ </a:t>
            </a:r>
            <a:r>
              <a:rPr lang="en-US" altLang="en-US" sz="1200">
                <a:solidFill>
                  <a:srgbClr val="11331D"/>
                </a:solidFill>
                <a:latin typeface="Calibri" panose="020F0502020204030204" pitchFamily="34" charset="0"/>
                <a:cs typeface="Calibri" panose="020F0502020204030204" pitchFamily="34" charset="0"/>
              </a:rPr>
              <a:t>number that initiates the call </a:t>
            </a:r>
          </a:p>
          <a:p>
            <a:pPr marL="285750" indent="-285750">
              <a:buFont typeface="Arial" panose="020B0604020202020204" pitchFamily="34" charset="0"/>
              <a:buChar char="•"/>
            </a:pPr>
            <a:r>
              <a:rPr lang="en-US" altLang="en-US" sz="1200" b="1">
                <a:solidFill>
                  <a:srgbClr val="11331D"/>
                </a:solidFill>
                <a:latin typeface="Calibri" panose="020F0502020204030204" pitchFamily="34" charset="0"/>
                <a:cs typeface="Calibri" panose="020F0502020204030204" pitchFamily="34" charset="0"/>
              </a:rPr>
              <a:t>Direction = TERMINATING </a:t>
            </a:r>
            <a:r>
              <a:rPr lang="en-US" altLang="en-US" sz="1200">
                <a:latin typeface="Calibri" panose="020F0502020204030204" pitchFamily="34" charset="0"/>
                <a:cs typeface="Calibri" panose="020F0502020204030204" pitchFamily="34" charset="0"/>
              </a:rPr>
              <a:t>→ indicates the call is inbound </a:t>
            </a:r>
          </a:p>
          <a:p>
            <a:pPr marL="285750" indent="-285750">
              <a:buFont typeface="Arial" panose="020B0604020202020204" pitchFamily="34" charset="0"/>
              <a:buChar char="•"/>
            </a:pPr>
            <a:r>
              <a:rPr lang="en-US" altLang="en-US" sz="1200" b="1">
                <a:solidFill>
                  <a:schemeClr val="tx1"/>
                </a:solidFill>
                <a:latin typeface="Calibri" panose="020F0502020204030204" pitchFamily="34" charset="0"/>
                <a:cs typeface="Calibri" panose="020F0502020204030204" pitchFamily="34" charset="0"/>
              </a:rPr>
              <a:t>Correlation ID </a:t>
            </a:r>
            <a:r>
              <a:rPr lang="en-US" altLang="en-US" sz="1200">
                <a:latin typeface="Calibri" panose="020F0502020204030204" pitchFamily="34" charset="0"/>
                <a:cs typeface="Calibri" panose="020F0502020204030204" pitchFamily="34" charset="0"/>
              </a:rPr>
              <a:t>→  groups all call legs of the same session </a:t>
            </a:r>
            <a:endParaRPr lang="en-US" altLang="en-US" sz="1200">
              <a:solidFill>
                <a:schemeClr val="tx1"/>
              </a:solidFill>
              <a:latin typeface="Calibri" panose="020F0502020204030204" pitchFamily="34" charset="0"/>
              <a:cs typeface="Calibri" panose="020F0502020204030204" pitchFamily="34" charset="0"/>
            </a:endParaRPr>
          </a:p>
        </p:txBody>
      </p:sp>
      <p:sp>
        <p:nvSpPr>
          <p:cNvPr id="22" name="Rounded Rectangle 21">
            <a:extLst>
              <a:ext uri="{FF2B5EF4-FFF2-40B4-BE49-F238E27FC236}">
                <a16:creationId xmlns:a16="http://schemas.microsoft.com/office/drawing/2014/main" id="{4F8FC96A-DE43-068A-3B5C-18485FCAC1E8}"/>
              </a:ext>
            </a:extLst>
          </p:cNvPr>
          <p:cNvSpPr/>
          <p:nvPr/>
        </p:nvSpPr>
        <p:spPr>
          <a:xfrm>
            <a:off x="3481603" y="2112071"/>
            <a:ext cx="2097979" cy="2638349"/>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E3AB89A-A6B5-175F-FCAA-EB7EC1029D93}"/>
              </a:ext>
            </a:extLst>
          </p:cNvPr>
          <p:cNvSpPr txBox="1"/>
          <p:nvPr/>
        </p:nvSpPr>
        <p:spPr>
          <a:xfrm>
            <a:off x="3532659" y="2134832"/>
            <a:ext cx="1969714" cy="2492990"/>
          </a:xfrm>
          <a:prstGeom prst="rect">
            <a:avLst/>
          </a:prstGeom>
          <a:noFill/>
        </p:spPr>
        <p:txBody>
          <a:bodyPr wrap="square" rtlCol="0" anchor="ctr">
            <a:spAutoFit/>
          </a:bodyPr>
          <a:lstStyle/>
          <a:p>
            <a:pPr marL="285750" indent="-285750">
              <a:buFont typeface="Arial" panose="020B0604020202020204" pitchFamily="34" charset="0"/>
              <a:buChar char="•"/>
            </a:pPr>
            <a:r>
              <a:rPr lang="en-US" sz="1200" b="1">
                <a:solidFill>
                  <a:srgbClr val="11331D"/>
                </a:solidFill>
                <a:latin typeface="Calibri" panose="020F0502020204030204" pitchFamily="34" charset="0"/>
                <a:cs typeface="Calibri" panose="020F0502020204030204" pitchFamily="34" charset="0"/>
              </a:rPr>
              <a:t>Called number</a:t>
            </a:r>
            <a:r>
              <a:rPr lang="en-US" sz="1200">
                <a:solidFill>
                  <a:srgbClr val="11331D"/>
                </a:solidFill>
                <a:latin typeface="Calibri" panose="020F0502020204030204" pitchFamily="34" charset="0"/>
                <a:cs typeface="Calibri" panose="020F0502020204030204" pitchFamily="34" charset="0"/>
              </a:rPr>
              <a:t> </a:t>
            </a:r>
            <a:r>
              <a:rPr lang="en-US" altLang="en-US" sz="1200">
                <a:latin typeface="Calibri" panose="020F0502020204030204" pitchFamily="34" charset="0"/>
                <a:cs typeface="Calibri" panose="020F0502020204030204" pitchFamily="34" charset="0"/>
              </a:rPr>
              <a:t>→ </a:t>
            </a:r>
            <a:r>
              <a:rPr lang="en-US" altLang="en-US" sz="1200">
                <a:solidFill>
                  <a:srgbClr val="11331D"/>
                </a:solidFill>
                <a:latin typeface="Calibri" panose="020F0502020204030204" pitchFamily="34" charset="0"/>
                <a:cs typeface="Calibri" panose="020F0502020204030204" pitchFamily="34" charset="0"/>
              </a:rPr>
              <a:t>initial recipient </a:t>
            </a:r>
          </a:p>
          <a:p>
            <a:pPr marL="285750" indent="-285750">
              <a:buFont typeface="Arial" panose="020B0604020202020204" pitchFamily="34" charset="0"/>
              <a:buChar char="•"/>
            </a:pPr>
            <a:r>
              <a:rPr lang="en-US" altLang="en-US" sz="1200" b="1">
                <a:solidFill>
                  <a:schemeClr val="tx1"/>
                </a:solidFill>
                <a:latin typeface="Calibri" panose="020F0502020204030204" pitchFamily="34" charset="0"/>
                <a:cs typeface="Calibri" panose="020F0502020204030204" pitchFamily="34" charset="0"/>
              </a:rPr>
              <a:t>Redirecting Number</a:t>
            </a:r>
            <a:r>
              <a:rPr lang="en-US" altLang="en-US" sz="1200">
                <a:solidFill>
                  <a:schemeClr val="tx1"/>
                </a:solidFill>
                <a:latin typeface="Calibri" panose="020F0502020204030204" pitchFamily="34" charset="0"/>
                <a:cs typeface="Calibri" panose="020F0502020204030204" pitchFamily="34" charset="0"/>
              </a:rPr>
              <a:t> </a:t>
            </a:r>
            <a:r>
              <a:rPr lang="en-US" altLang="en-US" sz="1200">
                <a:latin typeface="Calibri" panose="020F0502020204030204" pitchFamily="34" charset="0"/>
                <a:cs typeface="Calibri" panose="020F0502020204030204" pitchFamily="34" charset="0"/>
              </a:rPr>
              <a:t>→ who last redirected the call </a:t>
            </a:r>
            <a:endParaRPr lang="en-US" altLang="en-US" sz="1200">
              <a:solidFill>
                <a:srgbClr val="11331D"/>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200" b="1">
                <a:latin typeface="Calibri" panose="020F0502020204030204" pitchFamily="34" charset="0"/>
                <a:cs typeface="Calibri" panose="020F0502020204030204" pitchFamily="34" charset="0"/>
              </a:rPr>
              <a:t>Original Reason</a:t>
            </a:r>
            <a:r>
              <a:rPr lang="en-US" altLang="en-US" sz="1200">
                <a:latin typeface="Calibri" panose="020F0502020204030204" pitchFamily="34" charset="0"/>
                <a:cs typeface="Calibri" panose="020F0502020204030204" pitchFamily="34" charset="0"/>
              </a:rPr>
              <a:t>→ first trigger for a redirection </a:t>
            </a:r>
          </a:p>
          <a:p>
            <a:pPr marL="285750" indent="-285750">
              <a:buFont typeface="Arial" panose="020B0604020202020204" pitchFamily="34" charset="0"/>
              <a:buChar char="•"/>
            </a:pPr>
            <a:r>
              <a:rPr lang="en-US" altLang="en-US" sz="1200" b="1">
                <a:solidFill>
                  <a:schemeClr val="tx1"/>
                </a:solidFill>
                <a:latin typeface="Calibri" panose="020F0502020204030204" pitchFamily="34" charset="0"/>
                <a:cs typeface="Calibri" panose="020F0502020204030204" pitchFamily="34" charset="0"/>
              </a:rPr>
              <a:t>Redirect Reason </a:t>
            </a:r>
            <a:r>
              <a:rPr lang="en-US" altLang="en-US" sz="1200">
                <a:latin typeface="Calibri" panose="020F0502020204030204" pitchFamily="34" charset="0"/>
                <a:cs typeface="Calibri" panose="020F0502020204030204" pitchFamily="34" charset="0"/>
              </a:rPr>
              <a:t>→ why subsequent redirection occurs </a:t>
            </a:r>
          </a:p>
          <a:p>
            <a:pPr marL="285750" indent="-285750">
              <a:buFont typeface="Arial" panose="020B0604020202020204" pitchFamily="34" charset="0"/>
              <a:buChar char="•"/>
            </a:pPr>
            <a:r>
              <a:rPr lang="en-US" altLang="en-US" sz="1200" b="1">
                <a:latin typeface="Calibri" panose="020F0502020204030204" pitchFamily="34" charset="0"/>
                <a:cs typeface="Calibri" panose="020F0502020204030204" pitchFamily="34" charset="0"/>
              </a:rPr>
              <a:t>Related Reason </a:t>
            </a:r>
            <a:r>
              <a:rPr lang="en-US" altLang="en-US" sz="1200">
                <a:latin typeface="Calibri" panose="020F0502020204030204" pitchFamily="34" charset="0"/>
                <a:cs typeface="Calibri" panose="020F0502020204030204" pitchFamily="34" charset="0"/>
              </a:rPr>
              <a:t>→ the trigger that led to a change in call presence</a:t>
            </a:r>
            <a:endParaRPr lang="en-US" altLang="en-US" sz="1200" b="1">
              <a:latin typeface="Calibri" panose="020F0502020204030204" pitchFamily="34" charset="0"/>
              <a:cs typeface="Calibri" panose="020F0502020204030204" pitchFamily="34" charset="0"/>
            </a:endParaRPr>
          </a:p>
        </p:txBody>
      </p:sp>
      <p:sp>
        <p:nvSpPr>
          <p:cNvPr id="25" name="Rounded Rectangle 24">
            <a:extLst>
              <a:ext uri="{FF2B5EF4-FFF2-40B4-BE49-F238E27FC236}">
                <a16:creationId xmlns:a16="http://schemas.microsoft.com/office/drawing/2014/main" id="{55BD380E-5DEF-527C-7FF0-F2B9D0C98E68}"/>
              </a:ext>
            </a:extLst>
          </p:cNvPr>
          <p:cNvSpPr/>
          <p:nvPr/>
        </p:nvSpPr>
        <p:spPr>
          <a:xfrm>
            <a:off x="6214224" y="2112072"/>
            <a:ext cx="2097979" cy="2638348"/>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7AE2128-9B4B-B5EC-8286-ECBCD78D7A9A}"/>
              </a:ext>
            </a:extLst>
          </p:cNvPr>
          <p:cNvSpPr txBox="1"/>
          <p:nvPr/>
        </p:nvSpPr>
        <p:spPr>
          <a:xfrm>
            <a:off x="6289079" y="2315289"/>
            <a:ext cx="1969714" cy="1569660"/>
          </a:xfrm>
          <a:prstGeom prst="rect">
            <a:avLst/>
          </a:prstGeom>
          <a:noFill/>
        </p:spPr>
        <p:txBody>
          <a:bodyPr wrap="square" rtlCol="0" anchor="ctr">
            <a:spAutoFit/>
          </a:bodyPr>
          <a:lstStyle/>
          <a:p>
            <a:pPr marL="285750" indent="-285750">
              <a:buFont typeface="Arial" panose="020B0604020202020204" pitchFamily="34" charset="0"/>
              <a:buChar char="•"/>
            </a:pPr>
            <a:r>
              <a:rPr lang="en-US" altLang="en-US" sz="1200" b="1">
                <a:latin typeface="Calibri" panose="020F0502020204030204" pitchFamily="34" charset="0"/>
                <a:cs typeface="Calibri" panose="020F0502020204030204" pitchFamily="34" charset="0"/>
              </a:rPr>
              <a:t>User Type </a:t>
            </a:r>
            <a:r>
              <a:rPr lang="en-US" altLang="en-US" sz="1200">
                <a:latin typeface="Calibri" panose="020F0502020204030204" pitchFamily="34" charset="0"/>
                <a:cs typeface="Calibri" panose="020F0502020204030204" pitchFamily="34" charset="0"/>
              </a:rPr>
              <a:t>→ identifies the endpoint (User, Voicemail, etc.)</a:t>
            </a:r>
          </a:p>
          <a:p>
            <a:pPr marL="285750" indent="-285750">
              <a:buFont typeface="Arial" panose="020B0604020202020204" pitchFamily="34" charset="0"/>
              <a:buChar char="•"/>
            </a:pPr>
            <a:r>
              <a:rPr lang="en-US" altLang="en-US" sz="1200" b="1">
                <a:latin typeface="Calibri" panose="020F0502020204030204" pitchFamily="34" charset="0"/>
                <a:cs typeface="Calibri" panose="020F0502020204030204" pitchFamily="34" charset="0"/>
              </a:rPr>
              <a:t>Answered </a:t>
            </a:r>
            <a:r>
              <a:rPr lang="en-US" altLang="en-US" sz="1200">
                <a:latin typeface="Calibri" panose="020F0502020204030204" pitchFamily="34" charset="0"/>
                <a:cs typeface="Calibri" panose="020F0502020204030204" pitchFamily="34" charset="0"/>
              </a:rPr>
              <a:t>→ whether the call was answered or not </a:t>
            </a:r>
          </a:p>
          <a:p>
            <a:pPr marL="285750" indent="-285750">
              <a:buFont typeface="Arial" panose="020B0604020202020204" pitchFamily="34" charset="0"/>
              <a:buChar char="•"/>
            </a:pPr>
            <a:r>
              <a:rPr lang="en-US" altLang="en-US" sz="1200" b="1">
                <a:solidFill>
                  <a:schemeClr val="tx1"/>
                </a:solidFill>
                <a:latin typeface="Calibri" panose="020F0502020204030204" pitchFamily="34" charset="0"/>
                <a:cs typeface="Calibri" panose="020F0502020204030204" pitchFamily="34" charset="0"/>
              </a:rPr>
              <a:t>Report Time </a:t>
            </a:r>
            <a:r>
              <a:rPr lang="en-US" altLang="en-US" sz="1200">
                <a:latin typeface="Calibri" panose="020F0502020204030204" pitchFamily="34" charset="0"/>
                <a:cs typeface="Calibri" panose="020F0502020204030204" pitchFamily="34" charset="0"/>
              </a:rPr>
              <a:t>→ when the call ended</a:t>
            </a:r>
            <a:endParaRPr lang="en-US" altLang="en-US" sz="1200">
              <a:solidFill>
                <a:schemeClr val="tx1"/>
              </a:solidFill>
              <a:latin typeface="Calibri" panose="020F0502020204030204" pitchFamily="34" charset="0"/>
              <a:cs typeface="Calibri" panose="020F0502020204030204" pitchFamily="34" charset="0"/>
            </a:endParaRPr>
          </a:p>
        </p:txBody>
      </p:sp>
      <p:sp>
        <p:nvSpPr>
          <p:cNvPr id="2" name="Google Shape;278;p29">
            <a:extLst>
              <a:ext uri="{FF2B5EF4-FFF2-40B4-BE49-F238E27FC236}">
                <a16:creationId xmlns:a16="http://schemas.microsoft.com/office/drawing/2014/main" id="{460EFF7E-EAEA-F2E4-E8F9-91A32D4109FB}"/>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Definitions</a:t>
            </a:r>
            <a:endParaRPr sz="1100" b="1" i="1"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66304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a:extLst>
            <a:ext uri="{FF2B5EF4-FFF2-40B4-BE49-F238E27FC236}">
              <a16:creationId xmlns:a16="http://schemas.microsoft.com/office/drawing/2014/main" id="{49A60EFA-491A-AADB-DF16-7B9B28ABD0EC}"/>
            </a:ext>
          </a:extLst>
        </p:cNvPr>
        <p:cNvGrpSpPr/>
        <p:nvPr/>
      </p:nvGrpSpPr>
      <p:grpSpPr>
        <a:xfrm>
          <a:off x="0" y="0"/>
          <a:ext cx="0" cy="0"/>
          <a:chOff x="0" y="0"/>
          <a:chExt cx="0" cy="0"/>
        </a:xfrm>
      </p:grpSpPr>
      <p:sp>
        <p:nvSpPr>
          <p:cNvPr id="332" name="Google Shape;332;p33">
            <a:extLst>
              <a:ext uri="{FF2B5EF4-FFF2-40B4-BE49-F238E27FC236}">
                <a16:creationId xmlns:a16="http://schemas.microsoft.com/office/drawing/2014/main" id="{67100237-9087-39B4-D349-92F06DDF2A91}"/>
              </a:ext>
            </a:extLst>
          </p:cNvPr>
          <p:cNvSpPr txBox="1"/>
          <p:nvPr/>
        </p:nvSpPr>
        <p:spPr>
          <a:xfrm>
            <a:off x="517949" y="452125"/>
            <a:ext cx="8189270" cy="64633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1">
                <a:solidFill>
                  <a:srgbClr val="11331D"/>
                </a:solidFill>
                <a:latin typeface="Calibri" panose="020F0502020204030204" pitchFamily="34" charset="0"/>
                <a:cs typeface="Calibri" panose="020F0502020204030204" pitchFamily="34" charset="0"/>
                <a:sym typeface="Calibri"/>
              </a:rPr>
              <a:t>Call Path for Correlation ID ‘9108b891-9c8f-4056-a98c-dea3d0a121a8’ (March 2025).</a:t>
            </a:r>
          </a:p>
        </p:txBody>
      </p:sp>
      <p:sp>
        <p:nvSpPr>
          <p:cNvPr id="333" name="Google Shape;333;p33">
            <a:extLst>
              <a:ext uri="{FF2B5EF4-FFF2-40B4-BE49-F238E27FC236}">
                <a16:creationId xmlns:a16="http://schemas.microsoft.com/office/drawing/2014/main" id="{F1FBE2D2-3F93-D814-BF33-18D856DC52BA}"/>
              </a:ext>
            </a:extLst>
          </p:cNvPr>
          <p:cNvSpPr/>
          <p:nvPr/>
        </p:nvSpPr>
        <p:spPr>
          <a:xfrm rot="-10124778">
            <a:off x="4296145" y="121747"/>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a:extLst>
              <a:ext uri="{FF2B5EF4-FFF2-40B4-BE49-F238E27FC236}">
                <a16:creationId xmlns:a16="http://schemas.microsoft.com/office/drawing/2014/main" id="{CDE927BD-5189-4C11-BED9-E26D64C1081F}"/>
              </a:ext>
            </a:extLst>
          </p:cNvPr>
          <p:cNvSpPr/>
          <p:nvPr/>
        </p:nvSpPr>
        <p:spPr>
          <a:xfrm rot="570569">
            <a:off x="-1168861" y="3506494"/>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13" name="Rectangle 1">
            <a:extLst>
              <a:ext uri="{FF2B5EF4-FFF2-40B4-BE49-F238E27FC236}">
                <a16:creationId xmlns:a16="http://schemas.microsoft.com/office/drawing/2014/main" id="{B5F7F344-F185-55E1-A0C8-D3EEC62EC1E8}"/>
              </a:ext>
            </a:extLst>
          </p:cNvPr>
          <p:cNvSpPr>
            <a:spLocks noChangeArrowheads="1"/>
          </p:cNvSpPr>
          <p:nvPr/>
        </p:nvSpPr>
        <p:spPr bwMode="auto">
          <a:xfrm>
            <a:off x="-1" y="-18939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Google Shape;278;p29">
            <a:extLst>
              <a:ext uri="{FF2B5EF4-FFF2-40B4-BE49-F238E27FC236}">
                <a16:creationId xmlns:a16="http://schemas.microsoft.com/office/drawing/2014/main" id="{D2EE8ABA-AD63-01B0-15F9-D7F8B8EF3820}"/>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Definitions</a:t>
            </a:r>
            <a:endParaRPr sz="1100" b="1" i="1" u="none" strike="noStrike" cap="none">
              <a:solidFill>
                <a:srgbClr val="FFFFFF"/>
              </a:solidFill>
              <a:latin typeface="Calibri"/>
              <a:ea typeface="Calibri"/>
              <a:cs typeface="Calibri"/>
              <a:sym typeface="Calibri"/>
            </a:endParaRPr>
          </a:p>
        </p:txBody>
      </p:sp>
      <p:graphicFrame>
        <p:nvGraphicFramePr>
          <p:cNvPr id="3" name="Diagram 2">
            <a:extLst>
              <a:ext uri="{FF2B5EF4-FFF2-40B4-BE49-F238E27FC236}">
                <a16:creationId xmlns:a16="http://schemas.microsoft.com/office/drawing/2014/main" id="{3D2BCFF8-478B-D455-A0D6-7EB460862837}"/>
              </a:ext>
            </a:extLst>
          </p:cNvPr>
          <p:cNvGraphicFramePr/>
          <p:nvPr>
            <p:extLst>
              <p:ext uri="{D42A27DB-BD31-4B8C-83A1-F6EECF244321}">
                <p14:modId xmlns:p14="http://schemas.microsoft.com/office/powerpoint/2010/main" val="4035325728"/>
              </p:ext>
            </p:extLst>
          </p:nvPr>
        </p:nvGraphicFramePr>
        <p:xfrm>
          <a:off x="3111231" y="1177742"/>
          <a:ext cx="5595988" cy="9814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4" name="Diagram 3">
            <a:extLst>
              <a:ext uri="{FF2B5EF4-FFF2-40B4-BE49-F238E27FC236}">
                <a16:creationId xmlns:a16="http://schemas.microsoft.com/office/drawing/2014/main" id="{2ED5B8DC-7EB0-7562-E0FD-1D955463E6A9}"/>
              </a:ext>
            </a:extLst>
          </p:cNvPr>
          <p:cNvGraphicFramePr/>
          <p:nvPr>
            <p:extLst>
              <p:ext uri="{D42A27DB-BD31-4B8C-83A1-F6EECF244321}">
                <p14:modId xmlns:p14="http://schemas.microsoft.com/office/powerpoint/2010/main" val="3955055762"/>
              </p:ext>
            </p:extLst>
          </p:nvPr>
        </p:nvGraphicFramePr>
        <p:xfrm>
          <a:off x="855911" y="1651258"/>
          <a:ext cx="8177560" cy="188338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5" name="Diagram 4">
            <a:extLst>
              <a:ext uri="{FF2B5EF4-FFF2-40B4-BE49-F238E27FC236}">
                <a16:creationId xmlns:a16="http://schemas.microsoft.com/office/drawing/2014/main" id="{F20F8D53-256D-2F04-8DA0-D3790430EB34}"/>
              </a:ext>
            </a:extLst>
          </p:cNvPr>
          <p:cNvGraphicFramePr/>
          <p:nvPr>
            <p:extLst>
              <p:ext uri="{D42A27DB-BD31-4B8C-83A1-F6EECF244321}">
                <p14:modId xmlns:p14="http://schemas.microsoft.com/office/powerpoint/2010/main" val="3609851642"/>
              </p:ext>
            </p:extLst>
          </p:nvPr>
        </p:nvGraphicFramePr>
        <p:xfrm>
          <a:off x="846496" y="2613042"/>
          <a:ext cx="8228094" cy="1922859"/>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6" name="TextBox 5">
            <a:extLst>
              <a:ext uri="{FF2B5EF4-FFF2-40B4-BE49-F238E27FC236}">
                <a16:creationId xmlns:a16="http://schemas.microsoft.com/office/drawing/2014/main" id="{94B4A475-A229-2423-8E61-3818CE0455A0}"/>
              </a:ext>
            </a:extLst>
          </p:cNvPr>
          <p:cNvSpPr txBox="1"/>
          <p:nvPr/>
        </p:nvSpPr>
        <p:spPr>
          <a:xfrm>
            <a:off x="756237" y="1345409"/>
            <a:ext cx="2387024" cy="938719"/>
          </a:xfrm>
          <a:prstGeom prst="rect">
            <a:avLst/>
          </a:prstGeom>
          <a:noFill/>
        </p:spPr>
        <p:txBody>
          <a:bodyPr wrap="square" rtlCol="0">
            <a:spAutoFit/>
          </a:bodyPr>
          <a:lstStyle/>
          <a:p>
            <a:r>
              <a:rPr lang="en-US" sz="1100" i="1">
                <a:latin typeface="Calibri" panose="020F0502020204030204" pitchFamily="34" charset="0"/>
                <a:cs typeface="Calibri" panose="020F0502020204030204" pitchFamily="34" charset="0"/>
              </a:rPr>
              <a:t>Client initially calls the front desk. No one answers, so the system applies </a:t>
            </a:r>
            <a:r>
              <a:rPr lang="en-US" sz="1100" b="1" i="1">
                <a:latin typeface="Calibri" panose="020F0502020204030204" pitchFamily="34" charset="0"/>
                <a:cs typeface="Calibri" panose="020F0502020204030204" pitchFamily="34" charset="0"/>
              </a:rPr>
              <a:t>WebX Follow Me logic</a:t>
            </a:r>
            <a:r>
              <a:rPr lang="en-US" sz="1100" i="1">
                <a:latin typeface="Calibri" panose="020F0502020204030204" pitchFamily="34" charset="0"/>
                <a:cs typeface="Calibri" panose="020F0502020204030204" pitchFamily="34" charset="0"/>
              </a:rPr>
              <a:t>, which auto-forwards the call based on routing rules. </a:t>
            </a:r>
          </a:p>
        </p:txBody>
      </p:sp>
      <p:sp>
        <p:nvSpPr>
          <p:cNvPr id="7" name="TextBox 6">
            <a:extLst>
              <a:ext uri="{FF2B5EF4-FFF2-40B4-BE49-F238E27FC236}">
                <a16:creationId xmlns:a16="http://schemas.microsoft.com/office/drawing/2014/main" id="{B4CB0682-5F6A-37B4-D9E4-E54BC6EC3E39}"/>
              </a:ext>
            </a:extLst>
          </p:cNvPr>
          <p:cNvSpPr txBox="1"/>
          <p:nvPr/>
        </p:nvSpPr>
        <p:spPr>
          <a:xfrm>
            <a:off x="756237" y="4008160"/>
            <a:ext cx="6975063" cy="430887"/>
          </a:xfrm>
          <a:prstGeom prst="rect">
            <a:avLst/>
          </a:prstGeom>
          <a:noFill/>
        </p:spPr>
        <p:txBody>
          <a:bodyPr wrap="square" rtlCol="0">
            <a:spAutoFit/>
          </a:bodyPr>
          <a:lstStyle/>
          <a:p>
            <a:r>
              <a:rPr lang="en-US" sz="1100" i="1">
                <a:latin typeface="Calibri" panose="020F0502020204030204" pitchFamily="34" charset="0"/>
                <a:cs typeface="Calibri" panose="020F0502020204030204" pitchFamily="34" charset="0"/>
              </a:rPr>
              <a:t>The redirected call lands on </a:t>
            </a:r>
            <a:r>
              <a:rPr lang="en-US" sz="1100" b="1" i="1">
                <a:latin typeface="Calibri" panose="020F0502020204030204" pitchFamily="34" charset="0"/>
                <a:cs typeface="Calibri" panose="020F0502020204030204" pitchFamily="34" charset="0"/>
              </a:rPr>
              <a:t>an Ombudsman intake line</a:t>
            </a:r>
            <a:r>
              <a:rPr lang="en-US" sz="1100" i="1">
                <a:latin typeface="Calibri" panose="020F0502020204030204" pitchFamily="34" charset="0"/>
                <a:cs typeface="Calibri" panose="020F0502020204030204" pitchFamily="34" charset="0"/>
              </a:rPr>
              <a:t>, which is a real staff endpoint (not voicemail). The </a:t>
            </a:r>
            <a:r>
              <a:rPr lang="en-US" sz="1100" b="1" i="1">
                <a:latin typeface="Calibri" panose="020F0502020204030204" pitchFamily="34" charset="0"/>
                <a:cs typeface="Calibri" panose="020F0502020204030204" pitchFamily="34" charset="0"/>
              </a:rPr>
              <a:t>Cisco 8841</a:t>
            </a:r>
            <a:r>
              <a:rPr lang="en-US" sz="1100" i="1">
                <a:latin typeface="Calibri" panose="020F0502020204030204" pitchFamily="34" charset="0"/>
                <a:cs typeface="Calibri" panose="020F0502020204030204" pitchFamily="34" charset="0"/>
              </a:rPr>
              <a:t> model indicates a physical Webex desk phone used by the staff member who answered.</a:t>
            </a:r>
          </a:p>
        </p:txBody>
      </p:sp>
    </p:spTree>
    <p:extLst>
      <p:ext uri="{BB962C8B-B14F-4D97-AF65-F5344CB8AC3E}">
        <p14:creationId xmlns:p14="http://schemas.microsoft.com/office/powerpoint/2010/main" val="1765430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9"/>
        <p:cNvGrpSpPr/>
        <p:nvPr/>
      </p:nvGrpSpPr>
      <p:grpSpPr>
        <a:xfrm>
          <a:off x="0" y="0"/>
          <a:ext cx="0" cy="0"/>
          <a:chOff x="0" y="0"/>
          <a:chExt cx="0" cy="0"/>
        </a:xfrm>
      </p:grpSpPr>
      <p:pic>
        <p:nvPicPr>
          <p:cNvPr id="20" name="Picture 19" descr="A screenshot of a graph&#10;&#10;AI-generated content may be incorrect.">
            <a:extLst>
              <a:ext uri="{FF2B5EF4-FFF2-40B4-BE49-F238E27FC236}">
                <a16:creationId xmlns:a16="http://schemas.microsoft.com/office/drawing/2014/main" id="{EB935894-49D5-D653-5ACB-2D54D9EE47D3}"/>
              </a:ext>
            </a:extLst>
          </p:cNvPr>
          <p:cNvPicPr>
            <a:picLocks noChangeAspect="1"/>
          </p:cNvPicPr>
          <p:nvPr/>
        </p:nvPicPr>
        <p:blipFill>
          <a:blip r:embed="rId3"/>
          <a:stretch>
            <a:fillRect/>
          </a:stretch>
        </p:blipFill>
        <p:spPr>
          <a:xfrm>
            <a:off x="314581" y="1183476"/>
            <a:ext cx="3625517" cy="3549698"/>
          </a:xfrm>
          <a:prstGeom prst="rect">
            <a:avLst/>
          </a:prstGeom>
        </p:spPr>
      </p:pic>
      <p:sp>
        <p:nvSpPr>
          <p:cNvPr id="21" name="Rectangle 20">
            <a:extLst>
              <a:ext uri="{FF2B5EF4-FFF2-40B4-BE49-F238E27FC236}">
                <a16:creationId xmlns:a16="http://schemas.microsoft.com/office/drawing/2014/main" id="{89B631A9-7FC8-C7D2-DEC9-A15319E4F5D9}"/>
              </a:ext>
            </a:extLst>
          </p:cNvPr>
          <p:cNvSpPr/>
          <p:nvPr/>
        </p:nvSpPr>
        <p:spPr>
          <a:xfrm>
            <a:off x="4953379" y="1183476"/>
            <a:ext cx="3625517" cy="3549697"/>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p>
        </p:txBody>
      </p:sp>
      <p:sp>
        <p:nvSpPr>
          <p:cNvPr id="273" name="Google Shape;273;p29"/>
          <p:cNvSpPr txBox="1"/>
          <p:nvPr/>
        </p:nvSpPr>
        <p:spPr>
          <a:xfrm>
            <a:off x="314581" y="438715"/>
            <a:ext cx="8514837" cy="64633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2100" b="1">
                <a:solidFill>
                  <a:srgbClr val="11341D"/>
                </a:solidFill>
                <a:latin typeface="Calibri"/>
                <a:cs typeface="Calibri"/>
                <a:sym typeface="Calibri"/>
              </a:rPr>
              <a:t>Front desk calls are being answered efficiently, with most actively managed through automatic routing. </a:t>
            </a:r>
            <a:endParaRPr lang="en-US" sz="700"/>
          </a:p>
        </p:txBody>
      </p:sp>
      <p:sp>
        <p:nvSpPr>
          <p:cNvPr id="275" name="Google Shape;275;p29"/>
          <p:cNvSpPr txBox="1"/>
          <p:nvPr/>
        </p:nvSpPr>
        <p:spPr>
          <a:xfrm>
            <a:off x="5181597" y="1327108"/>
            <a:ext cx="3211551" cy="3262432"/>
          </a:xfrm>
          <a:prstGeom prst="rect">
            <a:avLst/>
          </a:prstGeom>
          <a:noFill/>
          <a:ln>
            <a:noFill/>
          </a:ln>
        </p:spPr>
        <p:txBody>
          <a:bodyPr spcFirstLastPara="1" wrap="square" lIns="0" tIns="0" rIns="0" bIns="0" anchor="t" anchorCtr="0">
            <a:spAutoFit/>
          </a:bodyPr>
          <a:lstStyle/>
          <a:p>
            <a:pPr marR="0" lvl="0" algn="l" rtl="0">
              <a:spcBef>
                <a:spcPts val="0"/>
              </a:spcBef>
              <a:spcAft>
                <a:spcPts val="0"/>
              </a:spcAft>
            </a:pPr>
            <a:r>
              <a:rPr lang="en" sz="1600" b="1">
                <a:solidFill>
                  <a:srgbClr val="11331D"/>
                </a:solidFill>
                <a:latin typeface="Calibri"/>
                <a:ea typeface="Calibri"/>
                <a:cs typeface="Calibri"/>
                <a:sym typeface="Calibri"/>
              </a:rPr>
              <a:t>What We Found: </a:t>
            </a:r>
          </a:p>
          <a:p>
            <a:pPr marR="0" lvl="0" algn="l" rtl="0">
              <a:spcBef>
                <a:spcPts val="0"/>
              </a:spcBef>
              <a:spcAft>
                <a:spcPts val="0"/>
              </a:spcAft>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b="1">
                <a:solidFill>
                  <a:srgbClr val="11331D"/>
                </a:solidFill>
                <a:latin typeface="Calibri"/>
                <a:ea typeface="Calibri"/>
                <a:cs typeface="Calibri"/>
                <a:sym typeface="Calibri"/>
              </a:rPr>
              <a:t>~ 97% of front desk calls are answered </a:t>
            </a:r>
            <a:r>
              <a:rPr lang="en">
                <a:solidFill>
                  <a:srgbClr val="11331D"/>
                </a:solidFill>
                <a:latin typeface="Calibri"/>
                <a:ea typeface="Calibri"/>
                <a:cs typeface="Calibri"/>
                <a:sym typeface="Calibri"/>
              </a:rPr>
              <a:t>showing strong coverage overall </a:t>
            </a:r>
          </a:p>
          <a:p>
            <a:pPr marR="0" lvl="0" algn="l" rtl="0">
              <a:spcBef>
                <a:spcPts val="0"/>
              </a:spcBef>
              <a:spcAft>
                <a:spcPts val="0"/>
              </a:spcAft>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b="1">
                <a:solidFill>
                  <a:srgbClr val="11331D"/>
                </a:solidFill>
                <a:latin typeface="Calibri"/>
                <a:ea typeface="Calibri"/>
                <a:cs typeface="Calibri"/>
                <a:sym typeface="Calibri"/>
              </a:rPr>
              <a:t>The dominant redirect reason is “Follow Me”</a:t>
            </a:r>
            <a:r>
              <a:rPr lang="en">
                <a:solidFill>
                  <a:srgbClr val="11331D"/>
                </a:solidFill>
                <a:latin typeface="Calibri"/>
                <a:ea typeface="Calibri"/>
                <a:cs typeface="Calibri"/>
                <a:sym typeface="Calibri"/>
              </a:rPr>
              <a:t>, meaning the calls are automatically routed through Webex’s sequential forwarding logic until answered </a:t>
            </a:r>
          </a:p>
          <a:p>
            <a:pPr marL="285750" marR="0" lvl="0" indent="-285750" algn="l" rtl="0">
              <a:spcBef>
                <a:spcPts val="0"/>
              </a:spcBef>
              <a:spcAft>
                <a:spcPts val="0"/>
              </a:spcAft>
              <a:buFont typeface="Arial" panose="020B0604020202020204" pitchFamily="34" charset="0"/>
              <a:buChar char="•"/>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b="1">
                <a:solidFill>
                  <a:srgbClr val="11331D"/>
                </a:solidFill>
                <a:latin typeface="Calibri"/>
                <a:ea typeface="Calibri"/>
                <a:cs typeface="Calibri"/>
                <a:sym typeface="Calibri"/>
              </a:rPr>
              <a:t>Most redirected calls still reach a person</a:t>
            </a:r>
            <a:r>
              <a:rPr lang="en">
                <a:solidFill>
                  <a:srgbClr val="11331D"/>
                </a:solidFill>
                <a:latin typeface="Calibri"/>
                <a:ea typeface="Calibri"/>
                <a:cs typeface="Calibri"/>
                <a:sym typeface="Calibri"/>
              </a:rPr>
              <a:t>, showing that automated routing is working effectively to prevent missed calls for this line</a:t>
            </a:r>
          </a:p>
        </p:txBody>
      </p:sp>
      <p:sp>
        <p:nvSpPr>
          <p:cNvPr id="278" name="Google Shape;278;p29"/>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Analysis </a:t>
            </a:r>
            <a:endParaRPr sz="1100" b="1" i="1" u="none" strike="noStrike" cap="none">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5C77BAF2-7D59-C5BA-4717-9EEF232520E3}"/>
              </a:ext>
            </a:extLst>
          </p:cNvPr>
          <p:cNvSpPr txBox="1"/>
          <p:nvPr/>
        </p:nvSpPr>
        <p:spPr>
          <a:xfrm>
            <a:off x="5099822" y="2804436"/>
            <a:ext cx="184731" cy="307777"/>
          </a:xfrm>
          <a:prstGeom prst="rect">
            <a:avLst/>
          </a:prstGeom>
          <a:noFill/>
        </p:spPr>
        <p:txBody>
          <a:bodyPr wrap="square" rtlCol="0" anchor="t">
            <a:spAutoFit/>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9">
          <a:extLst>
            <a:ext uri="{FF2B5EF4-FFF2-40B4-BE49-F238E27FC236}">
              <a16:creationId xmlns:a16="http://schemas.microsoft.com/office/drawing/2014/main" id="{2A21B123-E152-4B49-F5C6-7ACB9FF7AF51}"/>
            </a:ext>
          </a:extLst>
        </p:cNvPr>
        <p:cNvGrpSpPr/>
        <p:nvPr/>
      </p:nvGrpSpPr>
      <p:grpSpPr>
        <a:xfrm>
          <a:off x="0" y="0"/>
          <a:ext cx="0" cy="0"/>
          <a:chOff x="0" y="0"/>
          <a:chExt cx="0" cy="0"/>
        </a:xfrm>
      </p:grpSpPr>
      <p:sp>
        <p:nvSpPr>
          <p:cNvPr id="273" name="Google Shape;273;p29">
            <a:extLst>
              <a:ext uri="{FF2B5EF4-FFF2-40B4-BE49-F238E27FC236}">
                <a16:creationId xmlns:a16="http://schemas.microsoft.com/office/drawing/2014/main" id="{5F5466E7-A396-AAF6-8DE7-615695707DC3}"/>
              </a:ext>
            </a:extLst>
          </p:cNvPr>
          <p:cNvSpPr txBox="1"/>
          <p:nvPr/>
        </p:nvSpPr>
        <p:spPr>
          <a:xfrm>
            <a:off x="314581" y="438715"/>
            <a:ext cx="8514837" cy="64633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2100" b="1">
                <a:solidFill>
                  <a:srgbClr val="11341D"/>
                </a:solidFill>
                <a:latin typeface="Calibri"/>
                <a:cs typeface="Calibri"/>
                <a:sym typeface="Calibri"/>
              </a:rPr>
              <a:t>Most “Follow Me” redirections from the front desk route through the main number, peaking mid-day and tapering after 4 PM.</a:t>
            </a:r>
            <a:endParaRPr lang="en-US" sz="700"/>
          </a:p>
        </p:txBody>
      </p:sp>
      <p:sp>
        <p:nvSpPr>
          <p:cNvPr id="278" name="Google Shape;278;p29">
            <a:extLst>
              <a:ext uri="{FF2B5EF4-FFF2-40B4-BE49-F238E27FC236}">
                <a16:creationId xmlns:a16="http://schemas.microsoft.com/office/drawing/2014/main" id="{A2BC2A66-9C74-A21F-8B6D-A5E2C19FDE52}"/>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Analysis </a:t>
            </a:r>
            <a:endParaRPr sz="1100" b="1" i="1" u="none" strike="noStrike" cap="none">
              <a:solidFill>
                <a:srgbClr val="FFFFFF"/>
              </a:solidFill>
              <a:latin typeface="Calibri"/>
              <a:ea typeface="Calibri"/>
              <a:cs typeface="Calibri"/>
              <a:sym typeface="Calibri"/>
            </a:endParaRPr>
          </a:p>
        </p:txBody>
      </p:sp>
      <p:sp>
        <p:nvSpPr>
          <p:cNvPr id="4" name="Rectangle 3">
            <a:extLst>
              <a:ext uri="{FF2B5EF4-FFF2-40B4-BE49-F238E27FC236}">
                <a16:creationId xmlns:a16="http://schemas.microsoft.com/office/drawing/2014/main" id="{6B75D43A-20DF-1BD0-8F45-F3B0650D4573}"/>
              </a:ext>
            </a:extLst>
          </p:cNvPr>
          <p:cNvSpPr/>
          <p:nvPr/>
        </p:nvSpPr>
        <p:spPr>
          <a:xfrm>
            <a:off x="4953379" y="1183476"/>
            <a:ext cx="3625517" cy="3549697"/>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p>
        </p:txBody>
      </p:sp>
      <p:sp>
        <p:nvSpPr>
          <p:cNvPr id="6" name="Google Shape;275;p29">
            <a:extLst>
              <a:ext uri="{FF2B5EF4-FFF2-40B4-BE49-F238E27FC236}">
                <a16:creationId xmlns:a16="http://schemas.microsoft.com/office/drawing/2014/main" id="{62964EB8-9C4D-37E7-D7BA-02B485C53AD7}"/>
              </a:ext>
            </a:extLst>
          </p:cNvPr>
          <p:cNvSpPr txBox="1"/>
          <p:nvPr/>
        </p:nvSpPr>
        <p:spPr>
          <a:xfrm>
            <a:off x="5181598" y="1327108"/>
            <a:ext cx="3018266" cy="3693319"/>
          </a:xfrm>
          <a:prstGeom prst="rect">
            <a:avLst/>
          </a:prstGeom>
          <a:noFill/>
          <a:ln>
            <a:noFill/>
          </a:ln>
        </p:spPr>
        <p:txBody>
          <a:bodyPr spcFirstLastPara="1" wrap="square" lIns="0" tIns="0" rIns="0" bIns="0" anchor="t" anchorCtr="0">
            <a:spAutoFit/>
          </a:bodyPr>
          <a:lstStyle/>
          <a:p>
            <a:pPr marR="0" lvl="0" algn="l" rtl="0">
              <a:spcBef>
                <a:spcPts val="0"/>
              </a:spcBef>
              <a:spcAft>
                <a:spcPts val="0"/>
              </a:spcAft>
            </a:pPr>
            <a:r>
              <a:rPr lang="en" sz="1600" b="1">
                <a:solidFill>
                  <a:srgbClr val="11331D"/>
                </a:solidFill>
                <a:latin typeface="Calibri"/>
                <a:ea typeface="Calibri"/>
                <a:cs typeface="Calibri"/>
                <a:sym typeface="Calibri"/>
              </a:rPr>
              <a:t>What We Found: </a:t>
            </a:r>
          </a:p>
          <a:p>
            <a:pPr marR="0" lvl="0" algn="l" rtl="0">
              <a:spcBef>
                <a:spcPts val="0"/>
              </a:spcBef>
              <a:spcAft>
                <a:spcPts val="0"/>
              </a:spcAft>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a:solidFill>
                  <a:srgbClr val="11331D"/>
                </a:solidFill>
                <a:latin typeface="Calibri"/>
                <a:ea typeface="Calibri"/>
                <a:cs typeface="Calibri"/>
                <a:sym typeface="Calibri"/>
              </a:rPr>
              <a:t>15.6k redirected calls route through the </a:t>
            </a:r>
            <a:r>
              <a:rPr lang="en" b="1">
                <a:solidFill>
                  <a:srgbClr val="11331D"/>
                </a:solidFill>
                <a:latin typeface="Calibri"/>
                <a:ea typeface="Calibri"/>
                <a:cs typeface="Calibri"/>
                <a:sym typeface="Calibri"/>
              </a:rPr>
              <a:t>main number (13123411070); </a:t>
            </a:r>
            <a:r>
              <a:rPr lang="en">
                <a:solidFill>
                  <a:srgbClr val="11331D"/>
                </a:solidFill>
                <a:latin typeface="Calibri"/>
                <a:ea typeface="Calibri"/>
                <a:cs typeface="Calibri"/>
                <a:sym typeface="Calibri"/>
              </a:rPr>
              <a:t>it seems to act as the system hub </a:t>
            </a:r>
          </a:p>
          <a:p>
            <a:pPr marR="0" lvl="0" algn="l" rtl="0">
              <a:spcBef>
                <a:spcPts val="0"/>
              </a:spcBef>
              <a:spcAft>
                <a:spcPts val="0"/>
              </a:spcAft>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a:solidFill>
                  <a:srgbClr val="11331D"/>
                </a:solidFill>
                <a:latin typeface="Calibri"/>
                <a:ea typeface="Calibri"/>
                <a:cs typeface="Calibri"/>
                <a:sym typeface="Calibri"/>
              </a:rPr>
              <a:t>Specialized menus handle smaller volumes, </a:t>
            </a:r>
            <a:r>
              <a:rPr lang="en" b="1">
                <a:solidFill>
                  <a:srgbClr val="11331D"/>
                </a:solidFill>
                <a:latin typeface="Calibri"/>
                <a:ea typeface="Calibri"/>
                <a:cs typeface="Calibri"/>
                <a:sym typeface="Calibri"/>
              </a:rPr>
              <a:t>Spanish</a:t>
            </a:r>
            <a:r>
              <a:rPr lang="en">
                <a:solidFill>
                  <a:srgbClr val="11331D"/>
                </a:solidFill>
                <a:latin typeface="Calibri"/>
                <a:ea typeface="Calibri"/>
                <a:cs typeface="Calibri"/>
                <a:sym typeface="Calibri"/>
              </a:rPr>
              <a:t> (13125068647) ~ 347 calls &amp; </a:t>
            </a:r>
            <a:r>
              <a:rPr lang="en" b="1">
                <a:solidFill>
                  <a:srgbClr val="11331D"/>
                </a:solidFill>
                <a:latin typeface="Calibri"/>
                <a:ea typeface="Calibri"/>
                <a:cs typeface="Calibri"/>
                <a:sym typeface="Calibri"/>
              </a:rPr>
              <a:t>English </a:t>
            </a:r>
            <a:r>
              <a:rPr lang="en">
                <a:solidFill>
                  <a:srgbClr val="11331D"/>
                </a:solidFill>
                <a:latin typeface="Calibri"/>
                <a:ea typeface="Calibri"/>
                <a:cs typeface="Calibri"/>
                <a:sym typeface="Calibri"/>
              </a:rPr>
              <a:t>(13125068646) ~ 170 calls </a:t>
            </a:r>
          </a:p>
          <a:p>
            <a:pPr marR="0" lvl="0" algn="l" rtl="0">
              <a:spcBef>
                <a:spcPts val="0"/>
              </a:spcBef>
              <a:spcAft>
                <a:spcPts val="0"/>
              </a:spcAft>
            </a:pPr>
            <a:endParaRPr lang="en">
              <a:solidFill>
                <a:srgbClr val="11331D"/>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
                <a:solidFill>
                  <a:srgbClr val="11331D"/>
                </a:solidFill>
                <a:latin typeface="Calibri"/>
                <a:ea typeface="Calibri"/>
                <a:cs typeface="Calibri"/>
                <a:sym typeface="Calibri"/>
              </a:rPr>
              <a:t>Redirect call volumes for the main line from the front desk peak between</a:t>
            </a:r>
            <a:r>
              <a:rPr lang="en-US">
                <a:solidFill>
                  <a:srgbClr val="11331D"/>
                </a:solidFill>
                <a:latin typeface="Calibri"/>
                <a:ea typeface="Calibri"/>
                <a:cs typeface="Calibri"/>
                <a:sym typeface="Calibri"/>
              </a:rPr>
              <a:t>n</a:t>
            </a:r>
            <a:r>
              <a:rPr lang="en">
                <a:solidFill>
                  <a:srgbClr val="11331D"/>
                </a:solidFill>
                <a:latin typeface="Calibri"/>
                <a:ea typeface="Calibri"/>
                <a:cs typeface="Calibri"/>
                <a:sym typeface="Calibri"/>
              </a:rPr>
              <a:t> </a:t>
            </a:r>
            <a:r>
              <a:rPr lang="en" b="1">
                <a:solidFill>
                  <a:srgbClr val="11331D"/>
                </a:solidFill>
                <a:latin typeface="Calibri"/>
                <a:ea typeface="Calibri"/>
                <a:cs typeface="Calibri"/>
                <a:sym typeface="Calibri"/>
              </a:rPr>
              <a:t>9 AM and 2 PM</a:t>
            </a:r>
            <a:r>
              <a:rPr lang="en">
                <a:solidFill>
                  <a:srgbClr val="11331D"/>
                </a:solidFill>
                <a:latin typeface="Calibri"/>
                <a:ea typeface="Calibri"/>
                <a:cs typeface="Calibri"/>
                <a:sym typeface="Calibri"/>
              </a:rPr>
              <a:t>, aligning with business hours </a:t>
            </a:r>
          </a:p>
          <a:p>
            <a:pPr marL="285750" lvl="1" indent="-285750">
              <a:buFont typeface="Arial" panose="020B0604020202020204" pitchFamily="34" charset="0"/>
              <a:buChar char="•"/>
            </a:pPr>
            <a:endParaRPr lang="en" b="1">
              <a:solidFill>
                <a:srgbClr val="11331D"/>
              </a:solidFill>
              <a:latin typeface="Calibri"/>
              <a:ea typeface="Calibri"/>
              <a:cs typeface="Calibri"/>
              <a:sym typeface="Calibri"/>
            </a:endParaRPr>
          </a:p>
          <a:p>
            <a:pPr marL="285750" lvl="2" indent="-285750">
              <a:buFont typeface="Arial" panose="020B0604020202020204" pitchFamily="34" charset="0"/>
              <a:buChar char="•"/>
            </a:pPr>
            <a:endParaRPr lang="en">
              <a:solidFill>
                <a:srgbClr val="11331D"/>
              </a:solidFill>
              <a:latin typeface="Calibri"/>
              <a:ea typeface="Calibri"/>
              <a:cs typeface="Calibri"/>
              <a:sym typeface="Calibri"/>
            </a:endParaRPr>
          </a:p>
        </p:txBody>
      </p:sp>
      <p:pic>
        <p:nvPicPr>
          <p:cNvPr id="8" name="Picture 7" descr="A screenshot of a graph&#10;&#10;AI-generated content may be incorrect.">
            <a:extLst>
              <a:ext uri="{FF2B5EF4-FFF2-40B4-BE49-F238E27FC236}">
                <a16:creationId xmlns:a16="http://schemas.microsoft.com/office/drawing/2014/main" id="{522C9025-E0FF-CA63-8811-4EC53B43B98E}"/>
              </a:ext>
            </a:extLst>
          </p:cNvPr>
          <p:cNvPicPr>
            <a:picLocks noChangeAspect="1"/>
          </p:cNvPicPr>
          <p:nvPr/>
        </p:nvPicPr>
        <p:blipFill>
          <a:blip r:embed="rId3"/>
          <a:stretch>
            <a:fillRect/>
          </a:stretch>
        </p:blipFill>
        <p:spPr>
          <a:xfrm>
            <a:off x="314581" y="1183476"/>
            <a:ext cx="3838857" cy="3549697"/>
          </a:xfrm>
          <a:prstGeom prst="rect">
            <a:avLst/>
          </a:prstGeom>
        </p:spPr>
      </p:pic>
    </p:spTree>
    <p:extLst>
      <p:ext uri="{BB962C8B-B14F-4D97-AF65-F5344CB8AC3E}">
        <p14:creationId xmlns:p14="http://schemas.microsoft.com/office/powerpoint/2010/main" val="2872485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82"/>
        <p:cNvGrpSpPr/>
        <p:nvPr/>
      </p:nvGrpSpPr>
      <p:grpSpPr>
        <a:xfrm>
          <a:off x="0" y="0"/>
          <a:ext cx="0" cy="0"/>
          <a:chOff x="0" y="0"/>
          <a:chExt cx="0" cy="0"/>
        </a:xfrm>
      </p:grpSpPr>
      <p:sp>
        <p:nvSpPr>
          <p:cNvPr id="283" name="Google Shape;283;p30"/>
          <p:cNvSpPr/>
          <p:nvPr/>
        </p:nvSpPr>
        <p:spPr>
          <a:xfrm>
            <a:off x="479525" y="1009675"/>
            <a:ext cx="7560000" cy="3583200"/>
          </a:xfrm>
          <a:prstGeom prst="roundRect">
            <a:avLst>
              <a:gd name="adj" fmla="val 5975"/>
            </a:avLst>
          </a:prstGeom>
          <a:solidFill>
            <a:srgbClr val="538761"/>
          </a:solidFill>
          <a:ln>
            <a:noFill/>
          </a:ln>
        </p:spPr>
        <p:txBody>
          <a:bodyPr spcFirstLastPara="1" wrap="square" lIns="122850" tIns="122850" rIns="122850" bIns="122850" anchor="t" anchorCtr="0">
            <a:noAutofit/>
          </a:bodyPr>
          <a:lstStyle/>
          <a:p>
            <a:pPr marL="0" lvl="0" indent="0" algn="l" rtl="0">
              <a:spcBef>
                <a:spcPts val="0"/>
              </a:spcBef>
              <a:spcAft>
                <a:spcPts val="0"/>
              </a:spcAft>
              <a:buNone/>
            </a:pPr>
            <a:endParaRPr sz="3224">
              <a:solidFill>
                <a:srgbClr val="F3F3F3"/>
              </a:solidFill>
              <a:latin typeface="Inter ExtraLight"/>
              <a:ea typeface="Inter ExtraLight"/>
              <a:cs typeface="Inter ExtraLight"/>
              <a:sym typeface="Inter ExtraLight"/>
            </a:endParaRPr>
          </a:p>
        </p:txBody>
      </p:sp>
      <p:sp>
        <p:nvSpPr>
          <p:cNvPr id="284" name="Google Shape;284;p30"/>
          <p:cNvSpPr txBox="1"/>
          <p:nvPr/>
        </p:nvSpPr>
        <p:spPr>
          <a:xfrm>
            <a:off x="514350" y="471500"/>
            <a:ext cx="5965500" cy="452432"/>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 sz="2100" b="1">
                <a:solidFill>
                  <a:srgbClr val="11341D"/>
                </a:solidFill>
                <a:latin typeface="Calibri"/>
                <a:cs typeface="Calibri"/>
                <a:sym typeface="Calibri"/>
              </a:rPr>
              <a:t>XXX</a:t>
            </a:r>
            <a:endParaRPr sz="700"/>
          </a:p>
        </p:txBody>
      </p:sp>
      <p:sp>
        <p:nvSpPr>
          <p:cNvPr id="285" name="Google Shape;285;p30"/>
          <p:cNvSpPr txBox="1"/>
          <p:nvPr/>
        </p:nvSpPr>
        <p:spPr>
          <a:xfrm>
            <a:off x="818232" y="1353965"/>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1</a:t>
            </a:r>
            <a:endParaRPr sz="3224">
              <a:solidFill>
                <a:srgbClr val="FBFBFB"/>
              </a:solidFill>
              <a:latin typeface="Inter Light"/>
              <a:ea typeface="Inter Light"/>
              <a:cs typeface="Inter Light"/>
              <a:sym typeface="Inter Light"/>
            </a:endParaRPr>
          </a:p>
        </p:txBody>
      </p:sp>
      <p:sp>
        <p:nvSpPr>
          <p:cNvPr id="286" name="Google Shape;286;p30"/>
          <p:cNvSpPr txBox="1"/>
          <p:nvPr/>
        </p:nvSpPr>
        <p:spPr>
          <a:xfrm>
            <a:off x="818232" y="2510643"/>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2</a:t>
            </a:r>
            <a:endParaRPr sz="3224">
              <a:solidFill>
                <a:srgbClr val="FBFBFB"/>
              </a:solidFill>
              <a:latin typeface="Inter Light"/>
              <a:ea typeface="Inter Light"/>
              <a:cs typeface="Inter Light"/>
              <a:sym typeface="Inter Light"/>
            </a:endParaRPr>
          </a:p>
        </p:txBody>
      </p:sp>
      <p:sp>
        <p:nvSpPr>
          <p:cNvPr id="287" name="Google Shape;287;p30"/>
          <p:cNvSpPr txBox="1"/>
          <p:nvPr/>
        </p:nvSpPr>
        <p:spPr>
          <a:xfrm>
            <a:off x="818232" y="3680683"/>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3</a:t>
            </a:r>
            <a:endParaRPr sz="3224">
              <a:solidFill>
                <a:srgbClr val="FBFBFB"/>
              </a:solidFill>
              <a:latin typeface="Inter Light"/>
              <a:ea typeface="Inter Light"/>
              <a:cs typeface="Inter Light"/>
              <a:sym typeface="Inter Light"/>
            </a:endParaRPr>
          </a:p>
        </p:txBody>
      </p:sp>
      <p:sp>
        <p:nvSpPr>
          <p:cNvPr id="288" name="Google Shape;288;p30"/>
          <p:cNvSpPr txBox="1"/>
          <p:nvPr/>
        </p:nvSpPr>
        <p:spPr>
          <a:xfrm>
            <a:off x="2075375" y="1332209"/>
            <a:ext cx="4404475"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r>
              <a:rPr lang="en" sz="1209" b="1">
                <a:solidFill>
                  <a:srgbClr val="FFFFFF"/>
                </a:solidFill>
                <a:latin typeface="Calibri"/>
                <a:ea typeface="Calibri"/>
                <a:cs typeface="Calibri"/>
                <a:sym typeface="Calibri"/>
              </a:rPr>
              <a:t>Add bilingual auto-menu routing at the front-desk number to reduce unnecessary “Follow Me” transfers.  </a:t>
            </a:r>
            <a:r>
              <a:rPr lang="en" sz="1209">
                <a:solidFill>
                  <a:srgbClr val="FFFFFF"/>
                </a:solidFill>
                <a:latin typeface="Calibri"/>
                <a:ea typeface="Calibri"/>
                <a:cs typeface="Calibri"/>
                <a:sym typeface="Calibri"/>
              </a:rPr>
              <a:t>A brief bilingual menu at the front desk entry point would let callers self-select their language immediate</a:t>
            </a:r>
            <a:r>
              <a:rPr lang="en-US" sz="1209">
                <a:solidFill>
                  <a:srgbClr val="FFFFFF"/>
                </a:solidFill>
                <a:latin typeface="Calibri"/>
                <a:ea typeface="Calibri"/>
                <a:cs typeface="Calibri"/>
                <a:sym typeface="Calibri"/>
              </a:rPr>
              <a:t>l</a:t>
            </a:r>
            <a:r>
              <a:rPr lang="en" sz="1209">
                <a:solidFill>
                  <a:srgbClr val="FFFFFF"/>
                </a:solidFill>
                <a:latin typeface="Calibri"/>
                <a:ea typeface="Calibri"/>
                <a:cs typeface="Calibri"/>
                <a:sym typeface="Calibri"/>
              </a:rPr>
              <a:t>y, decreasing redirections from this line.</a:t>
            </a:r>
          </a:p>
        </p:txBody>
      </p:sp>
      <p:cxnSp>
        <p:nvCxnSpPr>
          <p:cNvPr id="289" name="Google Shape;289;p30"/>
          <p:cNvCxnSpPr/>
          <p:nvPr/>
        </p:nvCxnSpPr>
        <p:spPr>
          <a:xfrm>
            <a:off x="912329" y="2209426"/>
            <a:ext cx="6290700" cy="0"/>
          </a:xfrm>
          <a:prstGeom prst="straightConnector1">
            <a:avLst/>
          </a:prstGeom>
          <a:noFill/>
          <a:ln w="12800" cap="flat" cmpd="sng">
            <a:solidFill>
              <a:schemeClr val="lt1"/>
            </a:solidFill>
            <a:prstDash val="solid"/>
            <a:round/>
            <a:headEnd type="none" w="med" len="med"/>
            <a:tailEnd type="none" w="med" len="med"/>
          </a:ln>
        </p:spPr>
      </p:cxnSp>
      <p:cxnSp>
        <p:nvCxnSpPr>
          <p:cNvPr id="290" name="Google Shape;290;p30"/>
          <p:cNvCxnSpPr/>
          <p:nvPr/>
        </p:nvCxnSpPr>
        <p:spPr>
          <a:xfrm>
            <a:off x="912329" y="3409178"/>
            <a:ext cx="6290700" cy="0"/>
          </a:xfrm>
          <a:prstGeom prst="straightConnector1">
            <a:avLst/>
          </a:prstGeom>
          <a:noFill/>
          <a:ln w="12800" cap="flat" cmpd="sng">
            <a:solidFill>
              <a:schemeClr val="lt1"/>
            </a:solidFill>
            <a:prstDash val="solid"/>
            <a:round/>
            <a:headEnd type="none" w="med" len="med"/>
            <a:tailEnd type="none" w="med" len="med"/>
          </a:ln>
        </p:spPr>
      </p:cxnSp>
      <p:sp>
        <p:nvSpPr>
          <p:cNvPr id="291" name="Google Shape;291;p30"/>
          <p:cNvSpPr txBox="1"/>
          <p:nvPr/>
        </p:nvSpPr>
        <p:spPr>
          <a:xfrm>
            <a:off x="2075375" y="2446000"/>
            <a:ext cx="4140000"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endParaRPr sz="1209">
              <a:solidFill>
                <a:srgbClr val="FFFFFF"/>
              </a:solidFill>
              <a:latin typeface="Calibri"/>
              <a:ea typeface="Calibri"/>
              <a:cs typeface="Calibri"/>
              <a:sym typeface="Calibri"/>
            </a:endParaRPr>
          </a:p>
        </p:txBody>
      </p:sp>
      <p:sp>
        <p:nvSpPr>
          <p:cNvPr id="292" name="Google Shape;292;p30"/>
          <p:cNvSpPr txBox="1"/>
          <p:nvPr/>
        </p:nvSpPr>
        <p:spPr>
          <a:xfrm>
            <a:off x="2075375" y="3645738"/>
            <a:ext cx="4140000"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endParaRPr sz="1209">
              <a:solidFill>
                <a:srgbClr val="FFFFFF"/>
              </a:solidFill>
              <a:latin typeface="Calibri"/>
              <a:ea typeface="Calibri"/>
              <a:cs typeface="Calibri"/>
              <a:sym typeface="Calibri"/>
            </a:endParaRPr>
          </a:p>
        </p:txBody>
      </p:sp>
      <p:sp>
        <p:nvSpPr>
          <p:cNvPr id="293" name="Google Shape;293;p30"/>
          <p:cNvSpPr/>
          <p:nvPr/>
        </p:nvSpPr>
        <p:spPr>
          <a:xfrm>
            <a:off x="6702775" y="3759413"/>
            <a:ext cx="500256" cy="439830"/>
          </a:xfrm>
          <a:custGeom>
            <a:avLst/>
            <a:gdLst/>
            <a:ahLst/>
            <a:cxnLst/>
            <a:rect l="l" t="t" r="r" b="b"/>
            <a:pathLst>
              <a:path w="21600" h="21600" extrusionOk="0">
                <a:moveTo>
                  <a:pt x="20618" y="14727"/>
                </a:moveTo>
                <a:lnTo>
                  <a:pt x="982" y="14727"/>
                </a:lnTo>
                <a:lnTo>
                  <a:pt x="982" y="1964"/>
                </a:lnTo>
                <a:cubicBezTo>
                  <a:pt x="982" y="1422"/>
                  <a:pt x="1421" y="982"/>
                  <a:pt x="1964" y="982"/>
                </a:cubicBezTo>
                <a:lnTo>
                  <a:pt x="19636" y="982"/>
                </a:lnTo>
                <a:cubicBezTo>
                  <a:pt x="20179" y="982"/>
                  <a:pt x="20618" y="1422"/>
                  <a:pt x="20618" y="1964"/>
                </a:cubicBezTo>
                <a:cubicBezTo>
                  <a:pt x="20618" y="1964"/>
                  <a:pt x="20618" y="14727"/>
                  <a:pt x="20618" y="14727"/>
                </a:cubicBezTo>
                <a:close/>
                <a:moveTo>
                  <a:pt x="20618" y="16691"/>
                </a:moveTo>
                <a:cubicBezTo>
                  <a:pt x="20618" y="17233"/>
                  <a:pt x="20179" y="17673"/>
                  <a:pt x="19636" y="17673"/>
                </a:cubicBezTo>
                <a:lnTo>
                  <a:pt x="1964" y="17673"/>
                </a:lnTo>
                <a:cubicBezTo>
                  <a:pt x="1421"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3" y="20618"/>
                  <a:pt x="6873" y="20838"/>
                  <a:pt x="6873" y="21109"/>
                </a:cubicBezTo>
                <a:cubicBezTo>
                  <a:pt x="6873" y="21380"/>
                  <a:pt x="7093" y="21600"/>
                  <a:pt x="7364" y="21600"/>
                </a:cubicBezTo>
                <a:lnTo>
                  <a:pt x="14236" y="21600"/>
                </a:lnTo>
                <a:cubicBezTo>
                  <a:pt x="14507" y="21600"/>
                  <a:pt x="14727" y="21380"/>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moveTo>
                  <a:pt x="10774" y="5201"/>
                </a:moveTo>
                <a:cubicBezTo>
                  <a:pt x="10711" y="5093"/>
                  <a:pt x="10614" y="5023"/>
                  <a:pt x="10504" y="4986"/>
                </a:cubicBezTo>
                <a:lnTo>
                  <a:pt x="10517" y="4938"/>
                </a:lnTo>
                <a:cubicBezTo>
                  <a:pt x="10483" y="4941"/>
                  <a:pt x="10451" y="4949"/>
                  <a:pt x="10419" y="4957"/>
                </a:cubicBezTo>
                <a:lnTo>
                  <a:pt x="8464" y="4434"/>
                </a:lnTo>
                <a:cubicBezTo>
                  <a:pt x="8343" y="4401"/>
                  <a:pt x="8209" y="4414"/>
                  <a:pt x="8091" y="4482"/>
                </a:cubicBezTo>
                <a:cubicBezTo>
                  <a:pt x="7856" y="4618"/>
                  <a:pt x="7776" y="4918"/>
                  <a:pt x="7912" y="5153"/>
                </a:cubicBezTo>
                <a:cubicBezTo>
                  <a:pt x="7979" y="5271"/>
                  <a:pt x="8088" y="5349"/>
                  <a:pt x="8210" y="5382"/>
                </a:cubicBezTo>
                <a:lnTo>
                  <a:pt x="8964" y="5584"/>
                </a:lnTo>
                <a:cubicBezTo>
                  <a:pt x="8292" y="6116"/>
                  <a:pt x="7855" y="6927"/>
                  <a:pt x="7855" y="7855"/>
                </a:cubicBezTo>
                <a:cubicBezTo>
                  <a:pt x="7855" y="9081"/>
                  <a:pt x="8605" y="10131"/>
                  <a:pt x="9671" y="10574"/>
                </a:cubicBezTo>
                <a:lnTo>
                  <a:pt x="9934" y="9609"/>
                </a:lnTo>
                <a:cubicBezTo>
                  <a:pt x="9286" y="9289"/>
                  <a:pt x="8836" y="8627"/>
                  <a:pt x="8836" y="7855"/>
                </a:cubicBezTo>
                <a:cubicBezTo>
                  <a:pt x="8836" y="7221"/>
                  <a:pt x="9142" y="6666"/>
                  <a:pt x="9609" y="6309"/>
                </a:cubicBezTo>
                <a:lnTo>
                  <a:pt x="9335" y="7331"/>
                </a:lnTo>
                <a:cubicBezTo>
                  <a:pt x="9303" y="7453"/>
                  <a:pt x="9316" y="7586"/>
                  <a:pt x="9384" y="7704"/>
                </a:cubicBezTo>
                <a:cubicBezTo>
                  <a:pt x="9520" y="7939"/>
                  <a:pt x="9820" y="8019"/>
                  <a:pt x="10055" y="7883"/>
                </a:cubicBezTo>
                <a:cubicBezTo>
                  <a:pt x="10172" y="7815"/>
                  <a:pt x="10251" y="7707"/>
                  <a:pt x="10284" y="7585"/>
                </a:cubicBezTo>
                <a:lnTo>
                  <a:pt x="10823" y="5574"/>
                </a:lnTo>
                <a:cubicBezTo>
                  <a:pt x="10855" y="5452"/>
                  <a:pt x="10841" y="5319"/>
                  <a:pt x="10774" y="5201"/>
                </a:cubicBezTo>
                <a:moveTo>
                  <a:pt x="13421" y="10344"/>
                </a:moveTo>
                <a:lnTo>
                  <a:pt x="12630" y="10132"/>
                </a:lnTo>
                <a:cubicBezTo>
                  <a:pt x="13306" y="9599"/>
                  <a:pt x="13745" y="8785"/>
                  <a:pt x="13745" y="7855"/>
                </a:cubicBezTo>
                <a:cubicBezTo>
                  <a:pt x="13745" y="6644"/>
                  <a:pt x="13013" y="5604"/>
                  <a:pt x="11967" y="5153"/>
                </a:cubicBezTo>
                <a:lnTo>
                  <a:pt x="11702" y="6121"/>
                </a:lnTo>
                <a:cubicBezTo>
                  <a:pt x="12330" y="6448"/>
                  <a:pt x="12764" y="7098"/>
                  <a:pt x="12764" y="7855"/>
                </a:cubicBezTo>
                <a:cubicBezTo>
                  <a:pt x="12764" y="8468"/>
                  <a:pt x="12477" y="9008"/>
                  <a:pt x="12035" y="9366"/>
                </a:cubicBezTo>
                <a:lnTo>
                  <a:pt x="12295" y="8394"/>
                </a:lnTo>
                <a:cubicBezTo>
                  <a:pt x="12328" y="8273"/>
                  <a:pt x="12314" y="8139"/>
                  <a:pt x="12246" y="8021"/>
                </a:cubicBezTo>
                <a:cubicBezTo>
                  <a:pt x="12111" y="7786"/>
                  <a:pt x="11811" y="7706"/>
                  <a:pt x="11576" y="7842"/>
                </a:cubicBezTo>
                <a:cubicBezTo>
                  <a:pt x="11458" y="7910"/>
                  <a:pt x="11380" y="8019"/>
                  <a:pt x="11347" y="8140"/>
                </a:cubicBezTo>
                <a:lnTo>
                  <a:pt x="10808" y="10152"/>
                </a:lnTo>
                <a:lnTo>
                  <a:pt x="10808" y="10152"/>
                </a:lnTo>
                <a:cubicBezTo>
                  <a:pt x="10776" y="10274"/>
                  <a:pt x="10789" y="10407"/>
                  <a:pt x="10857" y="10524"/>
                </a:cubicBezTo>
                <a:cubicBezTo>
                  <a:pt x="10920" y="10634"/>
                  <a:pt x="11021" y="10706"/>
                  <a:pt x="11133" y="10742"/>
                </a:cubicBezTo>
                <a:lnTo>
                  <a:pt x="11126" y="10767"/>
                </a:lnTo>
                <a:cubicBezTo>
                  <a:pt x="11142" y="10765"/>
                  <a:pt x="11157" y="10762"/>
                  <a:pt x="11173" y="10758"/>
                </a:cubicBezTo>
                <a:lnTo>
                  <a:pt x="13167" y="11292"/>
                </a:lnTo>
                <a:cubicBezTo>
                  <a:pt x="13288" y="11324"/>
                  <a:pt x="13422" y="11311"/>
                  <a:pt x="13540" y="11243"/>
                </a:cubicBezTo>
                <a:cubicBezTo>
                  <a:pt x="13775" y="11107"/>
                  <a:pt x="13855" y="10807"/>
                  <a:pt x="13719" y="10573"/>
                </a:cubicBezTo>
                <a:cubicBezTo>
                  <a:pt x="13651" y="10455"/>
                  <a:pt x="13542" y="10376"/>
                  <a:pt x="13421" y="10344"/>
                </a:cubicBezTo>
              </a:path>
            </a:pathLst>
          </a:custGeom>
          <a:solidFill>
            <a:srgbClr val="FFFFFF"/>
          </a:solidFill>
          <a:ln>
            <a:noFill/>
          </a:ln>
        </p:spPr>
        <p:txBody>
          <a:bodyPr spcFirstLastPara="1" wrap="square" lIns="38100" tIns="38100" rIns="38100" bIns="381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4" name="Google Shape;294;p30"/>
          <p:cNvSpPr/>
          <p:nvPr/>
        </p:nvSpPr>
        <p:spPr>
          <a:xfrm>
            <a:off x="6702775" y="1257000"/>
            <a:ext cx="386316" cy="439830"/>
          </a:xfrm>
          <a:custGeom>
            <a:avLst/>
            <a:gdLst/>
            <a:ahLst/>
            <a:cxnLst/>
            <a:rect l="l" t="t" r="r" b="b"/>
            <a:pathLst>
              <a:path w="21600" h="21600" extrusionOk="0">
                <a:moveTo>
                  <a:pt x="15709" y="15709"/>
                </a:moveTo>
                <a:lnTo>
                  <a:pt x="5891" y="15709"/>
                </a:lnTo>
                <a:lnTo>
                  <a:pt x="5891" y="16691"/>
                </a:lnTo>
                <a:lnTo>
                  <a:pt x="15709" y="16691"/>
                </a:lnTo>
                <a:cubicBezTo>
                  <a:pt x="15709" y="16691"/>
                  <a:pt x="15709" y="15709"/>
                  <a:pt x="15709" y="15709"/>
                </a:cubicBezTo>
                <a:close/>
                <a:moveTo>
                  <a:pt x="15709" y="17673"/>
                </a:moveTo>
                <a:lnTo>
                  <a:pt x="5891" y="17673"/>
                </a:lnTo>
                <a:lnTo>
                  <a:pt x="5891" y="18655"/>
                </a:lnTo>
                <a:lnTo>
                  <a:pt x="15709" y="18655"/>
                </a:lnTo>
                <a:cubicBezTo>
                  <a:pt x="15709" y="18655"/>
                  <a:pt x="15709" y="17673"/>
                  <a:pt x="15709" y="17673"/>
                </a:cubicBezTo>
                <a:close/>
                <a:moveTo>
                  <a:pt x="11782" y="13745"/>
                </a:moveTo>
                <a:lnTo>
                  <a:pt x="5891" y="13745"/>
                </a:lnTo>
                <a:lnTo>
                  <a:pt x="5891" y="14727"/>
                </a:lnTo>
                <a:lnTo>
                  <a:pt x="11782" y="14727"/>
                </a:lnTo>
                <a:cubicBezTo>
                  <a:pt x="11782" y="14727"/>
                  <a:pt x="11782" y="13745"/>
                  <a:pt x="11782" y="13745"/>
                </a:cubicBezTo>
                <a:close/>
                <a:moveTo>
                  <a:pt x="20618" y="19636"/>
                </a:moveTo>
                <a:cubicBezTo>
                  <a:pt x="20618" y="20178"/>
                  <a:pt x="20178" y="20618"/>
                  <a:pt x="19636" y="20618"/>
                </a:cubicBezTo>
                <a:lnTo>
                  <a:pt x="18655" y="20618"/>
                </a:lnTo>
                <a:lnTo>
                  <a:pt x="18655" y="11782"/>
                </a:lnTo>
                <a:cubicBezTo>
                  <a:pt x="18655" y="11240"/>
                  <a:pt x="18214" y="10800"/>
                  <a:pt x="17673" y="10800"/>
                </a:cubicBezTo>
                <a:lnTo>
                  <a:pt x="3927" y="10800"/>
                </a:lnTo>
                <a:cubicBezTo>
                  <a:pt x="3385" y="10800"/>
                  <a:pt x="2945" y="11240"/>
                  <a:pt x="2945" y="11782"/>
                </a:cubicBezTo>
                <a:lnTo>
                  <a:pt x="2945" y="20618"/>
                </a:lnTo>
                <a:lnTo>
                  <a:pt x="1964" y="20618"/>
                </a:lnTo>
                <a:cubicBezTo>
                  <a:pt x="1421" y="20618"/>
                  <a:pt x="982" y="20178"/>
                  <a:pt x="982" y="19636"/>
                </a:cubicBezTo>
                <a:lnTo>
                  <a:pt x="982" y="1964"/>
                </a:lnTo>
                <a:cubicBezTo>
                  <a:pt x="982" y="1422"/>
                  <a:pt x="1421" y="982"/>
                  <a:pt x="1964" y="982"/>
                </a:cubicBezTo>
                <a:lnTo>
                  <a:pt x="4909" y="982"/>
                </a:lnTo>
                <a:lnTo>
                  <a:pt x="4909" y="6873"/>
                </a:lnTo>
                <a:cubicBezTo>
                  <a:pt x="4909" y="7414"/>
                  <a:pt x="5348" y="7855"/>
                  <a:pt x="5891" y="7855"/>
                </a:cubicBezTo>
                <a:lnTo>
                  <a:pt x="15709" y="7855"/>
                </a:lnTo>
                <a:cubicBezTo>
                  <a:pt x="16251" y="7855"/>
                  <a:pt x="16691" y="7414"/>
                  <a:pt x="16691" y="6873"/>
                </a:cubicBezTo>
                <a:lnTo>
                  <a:pt x="16691" y="982"/>
                </a:lnTo>
                <a:lnTo>
                  <a:pt x="17182" y="982"/>
                </a:lnTo>
                <a:lnTo>
                  <a:pt x="20618" y="4418"/>
                </a:lnTo>
                <a:cubicBezTo>
                  <a:pt x="20618" y="4418"/>
                  <a:pt x="20618" y="19636"/>
                  <a:pt x="20618" y="19636"/>
                </a:cubicBezTo>
                <a:close/>
                <a:moveTo>
                  <a:pt x="17673" y="20618"/>
                </a:moveTo>
                <a:lnTo>
                  <a:pt x="3927" y="20618"/>
                </a:lnTo>
                <a:lnTo>
                  <a:pt x="3927" y="11782"/>
                </a:lnTo>
                <a:lnTo>
                  <a:pt x="17673" y="11782"/>
                </a:lnTo>
                <a:cubicBezTo>
                  <a:pt x="17673" y="11782"/>
                  <a:pt x="17673" y="20618"/>
                  <a:pt x="17673" y="20618"/>
                </a:cubicBezTo>
                <a:close/>
                <a:moveTo>
                  <a:pt x="5891" y="982"/>
                </a:moveTo>
                <a:lnTo>
                  <a:pt x="15709" y="982"/>
                </a:lnTo>
                <a:lnTo>
                  <a:pt x="15709" y="6873"/>
                </a:lnTo>
                <a:lnTo>
                  <a:pt x="5891" y="6873"/>
                </a:lnTo>
                <a:cubicBezTo>
                  <a:pt x="5891" y="6873"/>
                  <a:pt x="5891" y="982"/>
                  <a:pt x="5891" y="982"/>
                </a:cubicBezTo>
                <a:close/>
                <a:moveTo>
                  <a:pt x="17673" y="0"/>
                </a:moveTo>
                <a:lnTo>
                  <a:pt x="1964" y="0"/>
                </a:lnTo>
                <a:cubicBezTo>
                  <a:pt x="879" y="0"/>
                  <a:pt x="0" y="879"/>
                  <a:pt x="0" y="1964"/>
                </a:cubicBezTo>
                <a:lnTo>
                  <a:pt x="0" y="19636"/>
                </a:lnTo>
                <a:cubicBezTo>
                  <a:pt x="0" y="20722"/>
                  <a:pt x="879" y="21600"/>
                  <a:pt x="1964" y="21600"/>
                </a:cubicBezTo>
                <a:lnTo>
                  <a:pt x="19636" y="21600"/>
                </a:lnTo>
                <a:cubicBezTo>
                  <a:pt x="20721" y="21600"/>
                  <a:pt x="21600" y="20722"/>
                  <a:pt x="21600" y="19636"/>
                </a:cubicBezTo>
                <a:lnTo>
                  <a:pt x="21600" y="3927"/>
                </a:lnTo>
                <a:cubicBezTo>
                  <a:pt x="21600" y="3927"/>
                  <a:pt x="17673" y="0"/>
                  <a:pt x="17673" y="0"/>
                </a:cubicBezTo>
                <a:close/>
                <a:moveTo>
                  <a:pt x="12764" y="5891"/>
                </a:moveTo>
                <a:lnTo>
                  <a:pt x="14727" y="5891"/>
                </a:lnTo>
                <a:lnTo>
                  <a:pt x="14727" y="1964"/>
                </a:lnTo>
                <a:lnTo>
                  <a:pt x="12764" y="1964"/>
                </a:lnTo>
                <a:cubicBezTo>
                  <a:pt x="12764" y="1964"/>
                  <a:pt x="12764" y="5891"/>
                  <a:pt x="12764" y="5891"/>
                </a:cubicBezTo>
                <a:close/>
              </a:path>
            </a:pathLst>
          </a:custGeom>
          <a:solidFill>
            <a:srgbClr val="FFFFFF"/>
          </a:solidFill>
          <a:ln>
            <a:noFill/>
          </a:ln>
        </p:spPr>
        <p:txBody>
          <a:bodyPr spcFirstLastPara="1" wrap="square" lIns="38100" tIns="38100" rIns="38100" bIns="381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6" name="Google Shape;296;p30"/>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Recommendations</a:t>
            </a:r>
            <a:endParaRPr sz="1100" b="1" i="1" u="none" strike="noStrike" cap="none">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p:cNvGrpSpPr/>
        <p:nvPr/>
      </p:nvGrpSpPr>
      <p:grpSpPr>
        <a:xfrm>
          <a:off x="0" y="0"/>
          <a:ext cx="0" cy="0"/>
          <a:chOff x="0" y="0"/>
          <a:chExt cx="0" cy="0"/>
        </a:xfrm>
      </p:grpSpPr>
      <p:sp>
        <p:nvSpPr>
          <p:cNvPr id="332" name="Google Shape;332;p33"/>
          <p:cNvSpPr txBox="1"/>
          <p:nvPr/>
        </p:nvSpPr>
        <p:spPr>
          <a:xfrm>
            <a:off x="548227" y="399425"/>
            <a:ext cx="8256657" cy="32316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 sz="2100" b="1">
                <a:solidFill>
                  <a:srgbClr val="11341D"/>
                </a:solidFill>
                <a:latin typeface="Calibri"/>
                <a:ea typeface="Calibri"/>
                <a:cs typeface="Calibri"/>
                <a:sym typeface="Calibri"/>
              </a:rPr>
              <a:t>Questions &amp; Next Steps </a:t>
            </a:r>
            <a:endParaRPr sz="700">
              <a:latin typeface="Calibri"/>
              <a:ea typeface="Calibri"/>
              <a:cs typeface="Calibri"/>
              <a:sym typeface="Calibri"/>
            </a:endParaRPr>
          </a:p>
        </p:txBody>
      </p:sp>
      <p:sp>
        <p:nvSpPr>
          <p:cNvPr id="333" name="Google Shape;333;p33"/>
          <p:cNvSpPr/>
          <p:nvPr/>
        </p:nvSpPr>
        <p:spPr>
          <a:xfrm rot="-10124778">
            <a:off x="4216828" y="-517296"/>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p:cNvSpPr/>
          <p:nvPr/>
        </p:nvSpPr>
        <p:spPr>
          <a:xfrm rot="570569">
            <a:off x="-5422349" y="2929885"/>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335" name="Google Shape;335;p33"/>
          <p:cNvSpPr txBox="1"/>
          <p:nvPr/>
        </p:nvSpPr>
        <p:spPr>
          <a:xfrm>
            <a:off x="517950" y="923671"/>
            <a:ext cx="8108100" cy="3447000"/>
          </a:xfrm>
          <a:prstGeom prst="rect">
            <a:avLst/>
          </a:prstGeom>
          <a:noFill/>
          <a:ln>
            <a:noFill/>
          </a:ln>
        </p:spPr>
        <p:txBody>
          <a:bodyPr spcFirstLastPara="1" wrap="square" lIns="91425" tIns="91425" rIns="91425" bIns="91425" anchor="t" anchorCtr="0">
            <a:noAutofit/>
          </a:bodyPr>
          <a:lstStyle/>
          <a:p>
            <a:pPr marL="457200" lvl="0" indent="-342900" algn="l" rtl="0">
              <a:spcBef>
                <a:spcPts val="1000"/>
              </a:spcBef>
              <a:spcAft>
                <a:spcPts val="0"/>
              </a:spcAft>
              <a:buClr>
                <a:schemeClr val="dk1"/>
              </a:buClr>
              <a:buSzPts val="1800"/>
              <a:buFont typeface="Calibri"/>
              <a:buChar char="●"/>
            </a:pPr>
            <a:endParaRPr sz="1800">
              <a:solidFill>
                <a:schemeClr val="dk1"/>
              </a:solidFill>
              <a:latin typeface="Calibri"/>
              <a:ea typeface="Calibri"/>
              <a:cs typeface="Calibri"/>
              <a:sym typeface="Calibri"/>
            </a:endParaRPr>
          </a:p>
        </p:txBody>
      </p:sp>
      <p:sp>
        <p:nvSpPr>
          <p:cNvPr id="2" name="Google Shape;278;p29">
            <a:extLst>
              <a:ext uri="{FF2B5EF4-FFF2-40B4-BE49-F238E27FC236}">
                <a16:creationId xmlns:a16="http://schemas.microsoft.com/office/drawing/2014/main" id="{1D8B3F0E-0419-F939-8AFC-C1676CC0F1BF}"/>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u="none" strike="noStrike" cap="none">
                <a:solidFill>
                  <a:srgbClr val="FFFFFF"/>
                </a:solidFill>
                <a:latin typeface="Calibri"/>
                <a:ea typeface="Calibri"/>
                <a:cs typeface="Calibri"/>
                <a:sym typeface="Calibri"/>
              </a:rPr>
              <a:t>Next Steps</a:t>
            </a:r>
            <a:endParaRPr sz="1100" b="1" i="1" u="none" strike="noStrike" cap="none">
              <a:solidFill>
                <a:srgbClr val="FFFFFF"/>
              </a:solidFill>
              <a:latin typeface="Calibri"/>
              <a:ea typeface="Calibri"/>
              <a:cs typeface="Calibri"/>
              <a:sym typeface="Calibri"/>
            </a:endParaRPr>
          </a:p>
        </p:txBody>
      </p:sp>
      <p:sp>
        <p:nvSpPr>
          <p:cNvPr id="4" name="Rounded Rectangle 3">
            <a:extLst>
              <a:ext uri="{FF2B5EF4-FFF2-40B4-BE49-F238E27FC236}">
                <a16:creationId xmlns:a16="http://schemas.microsoft.com/office/drawing/2014/main" id="{1D1029F4-C205-8B9A-DFCE-FC91D06452EA}"/>
              </a:ext>
            </a:extLst>
          </p:cNvPr>
          <p:cNvSpPr/>
          <p:nvPr/>
        </p:nvSpPr>
        <p:spPr>
          <a:xfrm>
            <a:off x="467587" y="1151685"/>
            <a:ext cx="4529835" cy="3285893"/>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C052ECA-B3AD-BD77-A678-3E1C80AF5F60}"/>
              </a:ext>
            </a:extLst>
          </p:cNvPr>
          <p:cNvSpPr txBox="1"/>
          <p:nvPr/>
        </p:nvSpPr>
        <p:spPr>
          <a:xfrm>
            <a:off x="548228" y="1255146"/>
            <a:ext cx="4321460" cy="1600438"/>
          </a:xfrm>
          <a:prstGeom prst="rect">
            <a:avLst/>
          </a:prstGeom>
          <a:noFill/>
        </p:spPr>
        <p:txBody>
          <a:bodyPr wrap="square" rtlCol="0">
            <a:spAutoFit/>
          </a:bodyPr>
          <a:lstStyle/>
          <a:p>
            <a:pPr algn="ctr"/>
            <a:r>
              <a:rPr lang="en-US" b="1">
                <a:latin typeface="Calibri" panose="020F0502020204030204" pitchFamily="34" charset="0"/>
                <a:cs typeface="Calibri" panose="020F0502020204030204" pitchFamily="34" charset="0"/>
              </a:rPr>
              <a:t>Open Questions </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What is the Follow Me routing logic in Webex? Can the configuration be accessed directly or can we only infer it through All Call data? </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What are the use cases for callers dialing the front desk directly instead of the main line</a:t>
            </a:r>
            <a:r>
              <a:rPr 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Shape 340">
          <a:extLst>
            <a:ext uri="{FF2B5EF4-FFF2-40B4-BE49-F238E27FC236}">
              <a16:creationId xmlns:a16="http://schemas.microsoft.com/office/drawing/2014/main" id="{CC7CB2F6-D256-8444-092D-4DE38D22F8EE}"/>
            </a:ext>
          </a:extLst>
        </p:cNvPr>
        <p:cNvGrpSpPr/>
        <p:nvPr/>
      </p:nvGrpSpPr>
      <p:grpSpPr>
        <a:xfrm>
          <a:off x="0" y="0"/>
          <a:ext cx="0" cy="0"/>
          <a:chOff x="0" y="0"/>
          <a:chExt cx="0" cy="0"/>
        </a:xfrm>
      </p:grpSpPr>
      <p:sp>
        <p:nvSpPr>
          <p:cNvPr id="341" name="Google Shape;341;p34">
            <a:extLst>
              <a:ext uri="{FF2B5EF4-FFF2-40B4-BE49-F238E27FC236}">
                <a16:creationId xmlns:a16="http://schemas.microsoft.com/office/drawing/2014/main" id="{7AD98387-12E9-7A56-C61B-A76584927BD3}"/>
              </a:ext>
            </a:extLst>
          </p:cNvPr>
          <p:cNvSpPr txBox="1"/>
          <p:nvPr/>
        </p:nvSpPr>
        <p:spPr>
          <a:xfrm>
            <a:off x="514349" y="461963"/>
            <a:ext cx="4412999" cy="920252"/>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 sz="4600" b="1">
                <a:solidFill>
                  <a:srgbClr val="11341D"/>
                </a:solidFill>
                <a:latin typeface="Calibri"/>
                <a:ea typeface="Calibri"/>
                <a:cs typeface="Calibri"/>
                <a:sym typeface="Calibri"/>
              </a:rPr>
              <a:t>Submenu Analysis</a:t>
            </a:r>
            <a:endParaRPr sz="700">
              <a:latin typeface="Calibri"/>
              <a:ea typeface="Calibri"/>
              <a:cs typeface="Calibri"/>
              <a:sym typeface="Calibri"/>
            </a:endParaRPr>
          </a:p>
        </p:txBody>
      </p:sp>
      <p:grpSp>
        <p:nvGrpSpPr>
          <p:cNvPr id="342" name="Google Shape;342;p34">
            <a:extLst>
              <a:ext uri="{FF2B5EF4-FFF2-40B4-BE49-F238E27FC236}">
                <a16:creationId xmlns:a16="http://schemas.microsoft.com/office/drawing/2014/main" id="{7CBE4730-DDF5-5000-3CCB-A6FBB8173E92}"/>
              </a:ext>
            </a:extLst>
          </p:cNvPr>
          <p:cNvGrpSpPr/>
          <p:nvPr/>
        </p:nvGrpSpPr>
        <p:grpSpPr>
          <a:xfrm>
            <a:off x="5364593" y="1992173"/>
            <a:ext cx="1802409" cy="2097349"/>
            <a:chOff x="0" y="0"/>
            <a:chExt cx="698500" cy="812800"/>
          </a:xfrm>
        </p:grpSpPr>
        <p:sp>
          <p:nvSpPr>
            <p:cNvPr id="343" name="Google Shape;343;p34">
              <a:extLst>
                <a:ext uri="{FF2B5EF4-FFF2-40B4-BE49-F238E27FC236}">
                  <a16:creationId xmlns:a16="http://schemas.microsoft.com/office/drawing/2014/main" id="{6C191046-D1EF-5AA8-2F4F-F9E324C7F870}"/>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4" name="Google Shape;344;p34">
              <a:extLst>
                <a:ext uri="{FF2B5EF4-FFF2-40B4-BE49-F238E27FC236}">
                  <a16:creationId xmlns:a16="http://schemas.microsoft.com/office/drawing/2014/main" id="{6B09DA3F-92AC-1303-B44B-51B99C058AC9}"/>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45" name="Google Shape;345;p34">
            <a:extLst>
              <a:ext uri="{FF2B5EF4-FFF2-40B4-BE49-F238E27FC236}">
                <a16:creationId xmlns:a16="http://schemas.microsoft.com/office/drawing/2014/main" id="{1DC2EBA8-8DC8-AD47-38AE-66AE3AE1627A}"/>
              </a:ext>
            </a:extLst>
          </p:cNvPr>
          <p:cNvSpPr/>
          <p:nvPr/>
        </p:nvSpPr>
        <p:spPr>
          <a:xfrm rot="570569">
            <a:off x="-5626210" y="2867024"/>
            <a:ext cx="9883810" cy="3274012"/>
          </a:xfrm>
          <a:custGeom>
            <a:avLst/>
            <a:gdLst/>
            <a:ahLst/>
            <a:cxnLst/>
            <a:rect l="l" t="t" r="r" b="b"/>
            <a:pathLst>
              <a:path w="19792872" h="6556389" extrusionOk="0">
                <a:moveTo>
                  <a:pt x="0" y="0"/>
                </a:moveTo>
                <a:lnTo>
                  <a:pt x="19792872" y="0"/>
                </a:lnTo>
                <a:lnTo>
                  <a:pt x="19792872" y="6556388"/>
                </a:lnTo>
                <a:lnTo>
                  <a:pt x="0" y="6556388"/>
                </a:lnTo>
                <a:lnTo>
                  <a:pt x="0" y="0"/>
                </a:lnTo>
                <a:close/>
              </a:path>
            </a:pathLst>
          </a:custGeom>
          <a:blipFill rotWithShape="1">
            <a:blip r:embed="rId3">
              <a:alphaModFix amt="13000"/>
            </a:blip>
            <a:stretch>
              <a:fillRect/>
            </a:stretch>
          </a:blipFill>
          <a:ln>
            <a:noFill/>
          </a:ln>
        </p:spPr>
        <p:txBody>
          <a:bodyPr/>
          <a:lstStyle/>
          <a:p>
            <a:endParaRPr lang="en-US"/>
          </a:p>
        </p:txBody>
      </p:sp>
      <p:grpSp>
        <p:nvGrpSpPr>
          <p:cNvPr id="346" name="Google Shape;346;p34">
            <a:extLst>
              <a:ext uri="{FF2B5EF4-FFF2-40B4-BE49-F238E27FC236}">
                <a16:creationId xmlns:a16="http://schemas.microsoft.com/office/drawing/2014/main" id="{CA5F41C1-E4B7-39A6-BF14-F76F1AADCBA1}"/>
              </a:ext>
            </a:extLst>
          </p:cNvPr>
          <p:cNvGrpSpPr/>
          <p:nvPr/>
        </p:nvGrpSpPr>
        <p:grpSpPr>
          <a:xfrm>
            <a:off x="4026393" y="4431348"/>
            <a:ext cx="1802409" cy="2097349"/>
            <a:chOff x="0" y="0"/>
            <a:chExt cx="698500" cy="812800"/>
          </a:xfrm>
        </p:grpSpPr>
        <p:sp>
          <p:nvSpPr>
            <p:cNvPr id="347" name="Google Shape;347;p34">
              <a:extLst>
                <a:ext uri="{FF2B5EF4-FFF2-40B4-BE49-F238E27FC236}">
                  <a16:creationId xmlns:a16="http://schemas.microsoft.com/office/drawing/2014/main" id="{C614AE57-9DC5-4EA7-9DFC-4DA949C8D03E}"/>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8" name="Google Shape;348;p34">
              <a:extLst>
                <a:ext uri="{FF2B5EF4-FFF2-40B4-BE49-F238E27FC236}">
                  <a16:creationId xmlns:a16="http://schemas.microsoft.com/office/drawing/2014/main" id="{BC7043A0-ACD0-EAE8-5B18-B26063C718AF}"/>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49" name="Google Shape;349;p34">
            <a:extLst>
              <a:ext uri="{FF2B5EF4-FFF2-40B4-BE49-F238E27FC236}">
                <a16:creationId xmlns:a16="http://schemas.microsoft.com/office/drawing/2014/main" id="{9D016002-EA54-D51F-F0D7-7D6EB689212C}"/>
              </a:ext>
            </a:extLst>
          </p:cNvPr>
          <p:cNvGrpSpPr/>
          <p:nvPr/>
        </p:nvGrpSpPr>
        <p:grpSpPr>
          <a:xfrm>
            <a:off x="8532466" y="3173248"/>
            <a:ext cx="1802409" cy="2097349"/>
            <a:chOff x="0" y="0"/>
            <a:chExt cx="698500" cy="812800"/>
          </a:xfrm>
        </p:grpSpPr>
        <p:sp>
          <p:nvSpPr>
            <p:cNvPr id="350" name="Google Shape;350;p34">
              <a:extLst>
                <a:ext uri="{FF2B5EF4-FFF2-40B4-BE49-F238E27FC236}">
                  <a16:creationId xmlns:a16="http://schemas.microsoft.com/office/drawing/2014/main" id="{35F6CBC6-BF46-6CFE-E091-8E300CEE3FF7}"/>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51" name="Google Shape;351;p34">
              <a:extLst>
                <a:ext uri="{FF2B5EF4-FFF2-40B4-BE49-F238E27FC236}">
                  <a16:creationId xmlns:a16="http://schemas.microsoft.com/office/drawing/2014/main" id="{FC66EE46-74A4-62E1-E031-89B7B86B106F}"/>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2" name="Google Shape;352;p34">
            <a:extLst>
              <a:ext uri="{FF2B5EF4-FFF2-40B4-BE49-F238E27FC236}">
                <a16:creationId xmlns:a16="http://schemas.microsoft.com/office/drawing/2014/main" id="{AB34D644-7EB4-1DEC-B63D-0F4151A61841}"/>
              </a:ext>
            </a:extLst>
          </p:cNvPr>
          <p:cNvGrpSpPr/>
          <p:nvPr/>
        </p:nvGrpSpPr>
        <p:grpSpPr>
          <a:xfrm>
            <a:off x="4927607" y="-1390442"/>
            <a:ext cx="1802409" cy="2097349"/>
            <a:chOff x="0" y="0"/>
            <a:chExt cx="698500" cy="812800"/>
          </a:xfrm>
        </p:grpSpPr>
        <p:sp>
          <p:nvSpPr>
            <p:cNvPr id="353" name="Google Shape;353;p34">
              <a:extLst>
                <a:ext uri="{FF2B5EF4-FFF2-40B4-BE49-F238E27FC236}">
                  <a16:creationId xmlns:a16="http://schemas.microsoft.com/office/drawing/2014/main" id="{4BCCBCB8-B269-8A49-E6A8-5BD8C31E0049}"/>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4" name="Google Shape;354;p34">
              <a:extLst>
                <a:ext uri="{FF2B5EF4-FFF2-40B4-BE49-F238E27FC236}">
                  <a16:creationId xmlns:a16="http://schemas.microsoft.com/office/drawing/2014/main" id="{655F01AA-AAAC-36B3-6BF8-A450C3964247}"/>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5" name="Google Shape;355;p34">
            <a:extLst>
              <a:ext uri="{FF2B5EF4-FFF2-40B4-BE49-F238E27FC236}">
                <a16:creationId xmlns:a16="http://schemas.microsoft.com/office/drawing/2014/main" id="{2B9EC27A-6BD0-A22D-4177-389760189A90}"/>
              </a:ext>
            </a:extLst>
          </p:cNvPr>
          <p:cNvGrpSpPr/>
          <p:nvPr/>
        </p:nvGrpSpPr>
        <p:grpSpPr>
          <a:xfrm>
            <a:off x="8532466" y="1075875"/>
            <a:ext cx="1802409" cy="2097349"/>
            <a:chOff x="0" y="0"/>
            <a:chExt cx="698500" cy="812800"/>
          </a:xfrm>
        </p:grpSpPr>
        <p:sp>
          <p:nvSpPr>
            <p:cNvPr id="356" name="Google Shape;356;p34">
              <a:extLst>
                <a:ext uri="{FF2B5EF4-FFF2-40B4-BE49-F238E27FC236}">
                  <a16:creationId xmlns:a16="http://schemas.microsoft.com/office/drawing/2014/main" id="{889465FB-F1C3-79E9-FBAD-4B6C0A771AEA}"/>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7" name="Google Shape;357;p34">
              <a:extLst>
                <a:ext uri="{FF2B5EF4-FFF2-40B4-BE49-F238E27FC236}">
                  <a16:creationId xmlns:a16="http://schemas.microsoft.com/office/drawing/2014/main" id="{B1FE0414-AAC2-E119-B204-5AAFEA18C6AD}"/>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8" name="Google Shape;358;p34">
            <a:extLst>
              <a:ext uri="{FF2B5EF4-FFF2-40B4-BE49-F238E27FC236}">
                <a16:creationId xmlns:a16="http://schemas.microsoft.com/office/drawing/2014/main" id="{0DBF12CD-8EB8-283C-AA67-53973ACDC150}"/>
              </a:ext>
            </a:extLst>
          </p:cNvPr>
          <p:cNvGrpSpPr/>
          <p:nvPr/>
        </p:nvGrpSpPr>
        <p:grpSpPr>
          <a:xfrm>
            <a:off x="6730036" y="27190"/>
            <a:ext cx="1802409" cy="2097349"/>
            <a:chOff x="0" y="0"/>
            <a:chExt cx="698500" cy="812800"/>
          </a:xfrm>
        </p:grpSpPr>
        <p:sp>
          <p:nvSpPr>
            <p:cNvPr id="359" name="Google Shape;359;p34">
              <a:extLst>
                <a:ext uri="{FF2B5EF4-FFF2-40B4-BE49-F238E27FC236}">
                  <a16:creationId xmlns:a16="http://schemas.microsoft.com/office/drawing/2014/main" id="{B5952B84-D9B2-2836-172C-81016A7B6138}"/>
                </a:ext>
              </a:extLst>
            </p:cNvPr>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60" name="Google Shape;360;p34">
              <a:extLst>
                <a:ext uri="{FF2B5EF4-FFF2-40B4-BE49-F238E27FC236}">
                  <a16:creationId xmlns:a16="http://schemas.microsoft.com/office/drawing/2014/main" id="{4893C3E4-33B2-7A96-36F9-37BC191BA923}"/>
                </a:ext>
              </a:extLst>
            </p:cNvPr>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61" name="Google Shape;361;p34">
            <a:extLst>
              <a:ext uri="{FF2B5EF4-FFF2-40B4-BE49-F238E27FC236}">
                <a16:creationId xmlns:a16="http://schemas.microsoft.com/office/drawing/2014/main" id="{91DB8415-6102-18CC-66E8-45963E3A1604}"/>
              </a:ext>
            </a:extLst>
          </p:cNvPr>
          <p:cNvSpPr/>
          <p:nvPr/>
        </p:nvSpPr>
        <p:spPr>
          <a:xfrm>
            <a:off x="8506095" y="-455835"/>
            <a:ext cx="732122" cy="1714500"/>
          </a:xfrm>
          <a:custGeom>
            <a:avLst/>
            <a:gdLst/>
            <a:ahLst/>
            <a:cxnLst/>
            <a:rect l="l" t="t" r="r" b="b"/>
            <a:pathLst>
              <a:path w="1464244" h="3429000" extrusionOk="0">
                <a:moveTo>
                  <a:pt x="0" y="0"/>
                </a:moveTo>
                <a:lnTo>
                  <a:pt x="1464244" y="0"/>
                </a:lnTo>
                <a:lnTo>
                  <a:pt x="1464244" y="3429000"/>
                </a:lnTo>
                <a:lnTo>
                  <a:pt x="0" y="3429000"/>
                </a:lnTo>
                <a:lnTo>
                  <a:pt x="0" y="0"/>
                </a:lnTo>
                <a:close/>
              </a:path>
            </a:pathLst>
          </a:custGeom>
          <a:blipFill rotWithShape="1">
            <a:blip r:embed="rId4">
              <a:alphaModFix/>
            </a:blip>
            <a:stretch>
              <a:fillRect r="-399575"/>
            </a:stretch>
          </a:blipFill>
          <a:ln>
            <a:noFill/>
          </a:ln>
        </p:spPr>
        <p:txBody>
          <a:bodyPr/>
          <a:lstStyle/>
          <a:p>
            <a:endParaRPr lang="en-US"/>
          </a:p>
        </p:txBody>
      </p:sp>
      <p:sp>
        <p:nvSpPr>
          <p:cNvPr id="362" name="Google Shape;362;p34">
            <a:extLst>
              <a:ext uri="{FF2B5EF4-FFF2-40B4-BE49-F238E27FC236}">
                <a16:creationId xmlns:a16="http://schemas.microsoft.com/office/drawing/2014/main" id="{9E7FA80C-85E9-5F45-ACBB-6268EC3CFF35}"/>
              </a:ext>
            </a:extLst>
          </p:cNvPr>
          <p:cNvSpPr txBox="1"/>
          <p:nvPr/>
        </p:nvSpPr>
        <p:spPr>
          <a:xfrm>
            <a:off x="424375" y="1134000"/>
            <a:ext cx="60237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i="1">
                <a:solidFill>
                  <a:srgbClr val="11341D"/>
                </a:solidFill>
                <a:latin typeface="Calibri"/>
                <a:ea typeface="Calibri"/>
                <a:cs typeface="Calibri"/>
                <a:sym typeface="Calibri"/>
              </a:rPr>
              <a:t>Hierarchical Menu Usage Analysis: Power BI Drill-Down Dashboard</a:t>
            </a:r>
            <a:endParaRPr b="1" i="1">
              <a:solidFill>
                <a:srgbClr val="11341D"/>
              </a:solidFill>
              <a:latin typeface="Calibri"/>
              <a:ea typeface="Calibri"/>
              <a:cs typeface="Calibri"/>
              <a:sym typeface="Calibri"/>
            </a:endParaRPr>
          </a:p>
        </p:txBody>
      </p:sp>
    </p:spTree>
    <p:extLst>
      <p:ext uri="{BB962C8B-B14F-4D97-AF65-F5344CB8AC3E}">
        <p14:creationId xmlns:p14="http://schemas.microsoft.com/office/powerpoint/2010/main" val="1522874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a:extLst>
            <a:ext uri="{FF2B5EF4-FFF2-40B4-BE49-F238E27FC236}">
              <a16:creationId xmlns:a16="http://schemas.microsoft.com/office/drawing/2014/main" id="{1489573A-76E0-6F31-83CB-CFC0953C9113}"/>
            </a:ext>
          </a:extLst>
        </p:cNvPr>
        <p:cNvGrpSpPr/>
        <p:nvPr/>
      </p:nvGrpSpPr>
      <p:grpSpPr>
        <a:xfrm>
          <a:off x="0" y="0"/>
          <a:ext cx="0" cy="0"/>
          <a:chOff x="0" y="0"/>
          <a:chExt cx="0" cy="0"/>
        </a:xfrm>
      </p:grpSpPr>
      <p:sp>
        <p:nvSpPr>
          <p:cNvPr id="332" name="Google Shape;332;p33">
            <a:extLst>
              <a:ext uri="{FF2B5EF4-FFF2-40B4-BE49-F238E27FC236}">
                <a16:creationId xmlns:a16="http://schemas.microsoft.com/office/drawing/2014/main" id="{84E79DF9-852B-EACF-A404-2C8ED1628A8C}"/>
              </a:ext>
            </a:extLst>
          </p:cNvPr>
          <p:cNvSpPr txBox="1"/>
          <p:nvPr/>
        </p:nvSpPr>
        <p:spPr>
          <a:xfrm>
            <a:off x="517949" y="452125"/>
            <a:ext cx="8108100" cy="32316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 sz="2100" b="1">
                <a:solidFill>
                  <a:srgbClr val="11341D"/>
                </a:solidFill>
                <a:latin typeface="Calibri"/>
                <a:ea typeface="Calibri"/>
                <a:cs typeface="Calibri"/>
                <a:sym typeface="Calibri"/>
              </a:rPr>
              <a:t>Defining the Hierarchy and Variables Used</a:t>
            </a:r>
            <a:endParaRPr sz="700">
              <a:latin typeface="Calibri"/>
              <a:ea typeface="Calibri"/>
              <a:cs typeface="Calibri"/>
              <a:sym typeface="Calibri"/>
            </a:endParaRPr>
          </a:p>
        </p:txBody>
      </p:sp>
      <p:sp>
        <p:nvSpPr>
          <p:cNvPr id="333" name="Google Shape;333;p33">
            <a:extLst>
              <a:ext uri="{FF2B5EF4-FFF2-40B4-BE49-F238E27FC236}">
                <a16:creationId xmlns:a16="http://schemas.microsoft.com/office/drawing/2014/main" id="{5475FE09-6B5C-324A-4E95-A16F7390EA39}"/>
              </a:ext>
            </a:extLst>
          </p:cNvPr>
          <p:cNvSpPr/>
          <p:nvPr/>
        </p:nvSpPr>
        <p:spPr>
          <a:xfrm rot="-10124778">
            <a:off x="4162854" y="-141693"/>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a:extLst>
              <a:ext uri="{FF2B5EF4-FFF2-40B4-BE49-F238E27FC236}">
                <a16:creationId xmlns:a16="http://schemas.microsoft.com/office/drawing/2014/main" id="{5A52D589-D09C-EF43-4AC9-3C698BDC353E}"/>
              </a:ext>
            </a:extLst>
          </p:cNvPr>
          <p:cNvSpPr/>
          <p:nvPr/>
        </p:nvSpPr>
        <p:spPr>
          <a:xfrm rot="570569">
            <a:off x="-1004054" y="3525447"/>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13" name="Rectangle 1">
            <a:extLst>
              <a:ext uri="{FF2B5EF4-FFF2-40B4-BE49-F238E27FC236}">
                <a16:creationId xmlns:a16="http://schemas.microsoft.com/office/drawing/2014/main" id="{372CDFDD-8CF6-2BE1-E4FC-D567DBAC2869}"/>
              </a:ext>
            </a:extLst>
          </p:cNvPr>
          <p:cNvSpPr>
            <a:spLocks noChangeArrowheads="1"/>
          </p:cNvSpPr>
          <p:nvPr/>
        </p:nvSpPr>
        <p:spPr bwMode="auto">
          <a:xfrm>
            <a:off x="-1" y="-18939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ounded Rectangle 14">
            <a:extLst>
              <a:ext uri="{FF2B5EF4-FFF2-40B4-BE49-F238E27FC236}">
                <a16:creationId xmlns:a16="http://schemas.microsoft.com/office/drawing/2014/main" id="{B4C2F039-E6FD-1226-B918-B705F1FEF0DA}"/>
              </a:ext>
            </a:extLst>
          </p:cNvPr>
          <p:cNvSpPr/>
          <p:nvPr/>
        </p:nvSpPr>
        <p:spPr>
          <a:xfrm>
            <a:off x="835677" y="1623318"/>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hevron 15">
            <a:extLst>
              <a:ext uri="{FF2B5EF4-FFF2-40B4-BE49-F238E27FC236}">
                <a16:creationId xmlns:a16="http://schemas.microsoft.com/office/drawing/2014/main" id="{D87A8505-740E-9BC6-4358-30EE89FA0E89}"/>
              </a:ext>
            </a:extLst>
          </p:cNvPr>
          <p:cNvSpPr/>
          <p:nvPr/>
        </p:nvSpPr>
        <p:spPr>
          <a:xfrm>
            <a:off x="844682" y="96151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DAACA1E6-752A-55AE-8646-9FF0754865D7}"/>
              </a:ext>
            </a:extLst>
          </p:cNvPr>
          <p:cNvSpPr txBox="1"/>
          <p:nvPr/>
        </p:nvSpPr>
        <p:spPr>
          <a:xfrm>
            <a:off x="1169023" y="1040410"/>
            <a:ext cx="1721006"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EP (Entry Point)</a:t>
            </a:r>
          </a:p>
        </p:txBody>
      </p:sp>
      <p:sp>
        <p:nvSpPr>
          <p:cNvPr id="18" name="Chevron 17">
            <a:extLst>
              <a:ext uri="{FF2B5EF4-FFF2-40B4-BE49-F238E27FC236}">
                <a16:creationId xmlns:a16="http://schemas.microsoft.com/office/drawing/2014/main" id="{6A47B576-C4E4-2765-8802-320358E029D5}"/>
              </a:ext>
            </a:extLst>
          </p:cNvPr>
          <p:cNvSpPr/>
          <p:nvPr/>
        </p:nvSpPr>
        <p:spPr>
          <a:xfrm>
            <a:off x="3538893" y="96151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E6A41138-676F-DA78-98EC-A2FB0B2778A0}"/>
              </a:ext>
            </a:extLst>
          </p:cNvPr>
          <p:cNvSpPr txBox="1"/>
          <p:nvPr/>
        </p:nvSpPr>
        <p:spPr>
          <a:xfrm>
            <a:off x="4155815" y="1040410"/>
            <a:ext cx="1898633"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Flow</a:t>
            </a:r>
          </a:p>
        </p:txBody>
      </p:sp>
      <p:sp>
        <p:nvSpPr>
          <p:cNvPr id="19" name="Chevron 18">
            <a:extLst>
              <a:ext uri="{FF2B5EF4-FFF2-40B4-BE49-F238E27FC236}">
                <a16:creationId xmlns:a16="http://schemas.microsoft.com/office/drawing/2014/main" id="{B6588FB6-F705-D93F-06E3-E7D21FE74B41}"/>
              </a:ext>
            </a:extLst>
          </p:cNvPr>
          <p:cNvSpPr/>
          <p:nvPr/>
        </p:nvSpPr>
        <p:spPr>
          <a:xfrm>
            <a:off x="6218104" y="961514"/>
            <a:ext cx="2227044" cy="527125"/>
          </a:xfrm>
          <a:prstGeom prst="chevron">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5A9BC6B6-1B24-B1A6-658B-5B1EF50B76B2}"/>
              </a:ext>
            </a:extLst>
          </p:cNvPr>
          <p:cNvSpPr txBox="1"/>
          <p:nvPr/>
        </p:nvSpPr>
        <p:spPr>
          <a:xfrm>
            <a:off x="6780319" y="1040410"/>
            <a:ext cx="1556563" cy="369332"/>
          </a:xfrm>
          <a:prstGeom prst="rect">
            <a:avLst/>
          </a:prstGeom>
          <a:noFill/>
        </p:spPr>
        <p:txBody>
          <a:bodyPr wrap="square" rtlCol="0" anchor="ctr">
            <a:spAutoFit/>
          </a:bodyPr>
          <a:lstStyle/>
          <a:p>
            <a:r>
              <a:rPr lang="en-US" sz="1800">
                <a:solidFill>
                  <a:schemeClr val="bg1"/>
                </a:solidFill>
                <a:latin typeface="Calibri" panose="020F0502020204030204" pitchFamily="34" charset="0"/>
                <a:cs typeface="Calibri" panose="020F0502020204030204" pitchFamily="34" charset="0"/>
              </a:rPr>
              <a:t>Activity</a:t>
            </a:r>
          </a:p>
        </p:txBody>
      </p:sp>
      <p:sp>
        <p:nvSpPr>
          <p:cNvPr id="20" name="TextBox 19">
            <a:extLst>
              <a:ext uri="{FF2B5EF4-FFF2-40B4-BE49-F238E27FC236}">
                <a16:creationId xmlns:a16="http://schemas.microsoft.com/office/drawing/2014/main" id="{CC970DF1-3BDF-3B2A-E4B5-985E214A5F18}"/>
              </a:ext>
            </a:extLst>
          </p:cNvPr>
          <p:cNvSpPr txBox="1"/>
          <p:nvPr/>
        </p:nvSpPr>
        <p:spPr>
          <a:xfrm>
            <a:off x="848562" y="1737050"/>
            <a:ext cx="2085094" cy="646331"/>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Main menu where a call begins (e.g. Legal Menu, Housing Menu).</a:t>
            </a:r>
          </a:p>
        </p:txBody>
      </p:sp>
      <p:sp>
        <p:nvSpPr>
          <p:cNvPr id="22" name="Rounded Rectangle 21">
            <a:extLst>
              <a:ext uri="{FF2B5EF4-FFF2-40B4-BE49-F238E27FC236}">
                <a16:creationId xmlns:a16="http://schemas.microsoft.com/office/drawing/2014/main" id="{3E40762D-320C-5A24-F805-9531B26FDE9B}"/>
              </a:ext>
            </a:extLst>
          </p:cNvPr>
          <p:cNvSpPr/>
          <p:nvPr/>
        </p:nvSpPr>
        <p:spPr>
          <a:xfrm>
            <a:off x="3485483" y="1623318"/>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99A94AF-35F4-EAEE-FE87-4F9B85DDF325}"/>
              </a:ext>
            </a:extLst>
          </p:cNvPr>
          <p:cNvSpPr txBox="1"/>
          <p:nvPr/>
        </p:nvSpPr>
        <p:spPr>
          <a:xfrm>
            <a:off x="3485483" y="1737050"/>
            <a:ext cx="1969714" cy="461665"/>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A submenu or routing option under an EP.</a:t>
            </a:r>
          </a:p>
        </p:txBody>
      </p:sp>
      <p:sp>
        <p:nvSpPr>
          <p:cNvPr id="25" name="Rounded Rectangle 24">
            <a:extLst>
              <a:ext uri="{FF2B5EF4-FFF2-40B4-BE49-F238E27FC236}">
                <a16:creationId xmlns:a16="http://schemas.microsoft.com/office/drawing/2014/main" id="{9D9FA791-81DF-483C-DDEB-BC253491F962}"/>
              </a:ext>
            </a:extLst>
          </p:cNvPr>
          <p:cNvSpPr/>
          <p:nvPr/>
        </p:nvSpPr>
        <p:spPr>
          <a:xfrm>
            <a:off x="6218104" y="1623318"/>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74D7F86-3F1A-7F02-C90B-2E7E1922DCCD}"/>
              </a:ext>
            </a:extLst>
          </p:cNvPr>
          <p:cNvSpPr txBox="1"/>
          <p:nvPr/>
        </p:nvSpPr>
        <p:spPr>
          <a:xfrm>
            <a:off x="6218104" y="1738478"/>
            <a:ext cx="1969714" cy="646331"/>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The final action or step reached within a call (e.g. Language Selection, Queue).</a:t>
            </a:r>
          </a:p>
        </p:txBody>
      </p:sp>
      <p:sp>
        <p:nvSpPr>
          <p:cNvPr id="2" name="Google Shape;278;p29">
            <a:extLst>
              <a:ext uri="{FF2B5EF4-FFF2-40B4-BE49-F238E27FC236}">
                <a16:creationId xmlns:a16="http://schemas.microsoft.com/office/drawing/2014/main" id="{5BC92B0B-A830-C1CD-1517-42D412A84C0B}"/>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Definitions</a:t>
            </a:r>
            <a:endParaRPr sz="1100" b="1" i="1" u="none" strike="noStrike" cap="none">
              <a:solidFill>
                <a:srgbClr val="FFFFFF"/>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A8C782D5-1A83-912D-E88F-2A95170072CF}"/>
              </a:ext>
            </a:extLst>
          </p:cNvPr>
          <p:cNvSpPr/>
          <p:nvPr/>
        </p:nvSpPr>
        <p:spPr>
          <a:xfrm>
            <a:off x="887655" y="2970275"/>
            <a:ext cx="1986262" cy="453534"/>
          </a:xfrm>
          <a:prstGeom prst="rect">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bg1"/>
                </a:solidFill>
                <a:latin typeface="Calibri" panose="020F0502020204030204" pitchFamily="34" charset="0"/>
                <a:cs typeface="Calibri" panose="020F0502020204030204" pitchFamily="34" charset="0"/>
              </a:rPr>
              <a:t>Contact Session ID</a:t>
            </a:r>
          </a:p>
        </p:txBody>
      </p:sp>
      <p:sp>
        <p:nvSpPr>
          <p:cNvPr id="4" name="Rectangle 3">
            <a:extLst>
              <a:ext uri="{FF2B5EF4-FFF2-40B4-BE49-F238E27FC236}">
                <a16:creationId xmlns:a16="http://schemas.microsoft.com/office/drawing/2014/main" id="{76F63C57-6C7E-2C26-7886-126963D5B08D}"/>
              </a:ext>
            </a:extLst>
          </p:cNvPr>
          <p:cNvSpPr/>
          <p:nvPr/>
        </p:nvSpPr>
        <p:spPr>
          <a:xfrm>
            <a:off x="3578868" y="2970150"/>
            <a:ext cx="1986262" cy="453534"/>
          </a:xfrm>
          <a:prstGeom prst="rect">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bg1"/>
                </a:solidFill>
                <a:latin typeface="Calibri" panose="020F0502020204030204" pitchFamily="34" charset="0"/>
                <a:cs typeface="Calibri" panose="020F0502020204030204" pitchFamily="34" charset="0"/>
              </a:rPr>
              <a:t>Submenu Count</a:t>
            </a:r>
          </a:p>
        </p:txBody>
      </p:sp>
      <p:sp>
        <p:nvSpPr>
          <p:cNvPr id="5" name="Rectangle 4">
            <a:extLst>
              <a:ext uri="{FF2B5EF4-FFF2-40B4-BE49-F238E27FC236}">
                <a16:creationId xmlns:a16="http://schemas.microsoft.com/office/drawing/2014/main" id="{2525379D-13F0-1E7B-DB9B-4F9581A719AE}"/>
              </a:ext>
            </a:extLst>
          </p:cNvPr>
          <p:cNvSpPr/>
          <p:nvPr/>
        </p:nvSpPr>
        <p:spPr>
          <a:xfrm>
            <a:off x="6270083" y="2970150"/>
            <a:ext cx="1986262" cy="453534"/>
          </a:xfrm>
          <a:prstGeom prst="rect">
            <a:avLst/>
          </a:prstGeom>
          <a:solidFill>
            <a:srgbClr val="1133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bg1"/>
                </a:solidFill>
                <a:latin typeface="Calibri" panose="020F0502020204030204" pitchFamily="34" charset="0"/>
                <a:cs typeface="Calibri" panose="020F0502020204030204" pitchFamily="34" charset="0"/>
              </a:rPr>
              <a:t>Unknown Values</a:t>
            </a:r>
          </a:p>
        </p:txBody>
      </p:sp>
      <p:sp>
        <p:nvSpPr>
          <p:cNvPr id="6" name="Rounded Rectangle 5">
            <a:extLst>
              <a:ext uri="{FF2B5EF4-FFF2-40B4-BE49-F238E27FC236}">
                <a16:creationId xmlns:a16="http://schemas.microsoft.com/office/drawing/2014/main" id="{5AEDC3F5-F909-0AF0-41DA-1F504C6EAC33}"/>
              </a:ext>
            </a:extLst>
          </p:cNvPr>
          <p:cNvSpPr/>
          <p:nvPr/>
        </p:nvSpPr>
        <p:spPr>
          <a:xfrm>
            <a:off x="873204" y="3532586"/>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E7E113E-0177-E7F8-D26C-3A7B8AA2F52A}"/>
              </a:ext>
            </a:extLst>
          </p:cNvPr>
          <p:cNvSpPr txBox="1"/>
          <p:nvPr/>
        </p:nvSpPr>
        <p:spPr>
          <a:xfrm>
            <a:off x="886089" y="3646318"/>
            <a:ext cx="2085094" cy="646331"/>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Unique identifier for each distinct call. Counted each time the ID is within a menu.</a:t>
            </a:r>
          </a:p>
        </p:txBody>
      </p:sp>
      <p:sp>
        <p:nvSpPr>
          <p:cNvPr id="8" name="Rounded Rectangle 7">
            <a:extLst>
              <a:ext uri="{FF2B5EF4-FFF2-40B4-BE49-F238E27FC236}">
                <a16:creationId xmlns:a16="http://schemas.microsoft.com/office/drawing/2014/main" id="{015DF425-9097-FC02-4036-73BF57B36AD3}"/>
              </a:ext>
            </a:extLst>
          </p:cNvPr>
          <p:cNvSpPr/>
          <p:nvPr/>
        </p:nvSpPr>
        <p:spPr>
          <a:xfrm>
            <a:off x="3523010" y="3532586"/>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D2430CA-55F1-F457-0232-FBAAE0D3D6E1}"/>
              </a:ext>
            </a:extLst>
          </p:cNvPr>
          <p:cNvSpPr txBox="1"/>
          <p:nvPr/>
        </p:nvSpPr>
        <p:spPr>
          <a:xfrm>
            <a:off x="3538893" y="3629151"/>
            <a:ext cx="1969714" cy="646331"/>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Number of submenus navigated during a single call.</a:t>
            </a:r>
          </a:p>
        </p:txBody>
      </p:sp>
      <p:sp>
        <p:nvSpPr>
          <p:cNvPr id="14" name="Rounded Rectangle 13">
            <a:extLst>
              <a:ext uri="{FF2B5EF4-FFF2-40B4-BE49-F238E27FC236}">
                <a16:creationId xmlns:a16="http://schemas.microsoft.com/office/drawing/2014/main" id="{47F35AEB-FEB4-E6EF-0271-EE2E407A8632}"/>
              </a:ext>
            </a:extLst>
          </p:cNvPr>
          <p:cNvSpPr/>
          <p:nvPr/>
        </p:nvSpPr>
        <p:spPr>
          <a:xfrm>
            <a:off x="6255631" y="3532586"/>
            <a:ext cx="2097979" cy="976100"/>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ADF03DE-2833-B98A-9119-D16B235E7188}"/>
              </a:ext>
            </a:extLst>
          </p:cNvPr>
          <p:cNvSpPr txBox="1"/>
          <p:nvPr/>
        </p:nvSpPr>
        <p:spPr>
          <a:xfrm>
            <a:off x="6270083" y="3627655"/>
            <a:ext cx="1969714" cy="646331"/>
          </a:xfrm>
          <a:prstGeom prst="rect">
            <a:avLst/>
          </a:prstGeom>
          <a:noFill/>
        </p:spPr>
        <p:txBody>
          <a:bodyPr wrap="square" rtlCol="0" anchor="ctr">
            <a:spAutoFit/>
          </a:bodyPr>
          <a:lstStyle/>
          <a:p>
            <a:r>
              <a:rPr lang="en-US" altLang="en-US" sz="1200">
                <a:solidFill>
                  <a:schemeClr val="tx1"/>
                </a:solidFill>
                <a:latin typeface="Calibri" panose="020F0502020204030204" pitchFamily="34" charset="0"/>
                <a:cs typeface="Calibri" panose="020F0502020204030204" pitchFamily="34" charset="0"/>
              </a:rPr>
              <a:t>Placeholder for missing data. Ensures complete hierarchy display.</a:t>
            </a:r>
          </a:p>
        </p:txBody>
      </p:sp>
    </p:spTree>
    <p:extLst>
      <p:ext uri="{BB962C8B-B14F-4D97-AF65-F5344CB8AC3E}">
        <p14:creationId xmlns:p14="http://schemas.microsoft.com/office/powerpoint/2010/main" val="3246606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9">
          <a:extLst>
            <a:ext uri="{FF2B5EF4-FFF2-40B4-BE49-F238E27FC236}">
              <a16:creationId xmlns:a16="http://schemas.microsoft.com/office/drawing/2014/main" id="{68AD123F-EB11-CCAB-6A0C-CFDD507E62DF}"/>
            </a:ext>
          </a:extLst>
        </p:cNvPr>
        <p:cNvGrpSpPr/>
        <p:nvPr/>
      </p:nvGrpSpPr>
      <p:grpSpPr>
        <a:xfrm>
          <a:off x="0" y="0"/>
          <a:ext cx="0" cy="0"/>
          <a:chOff x="0" y="0"/>
          <a:chExt cx="0" cy="0"/>
        </a:xfrm>
      </p:grpSpPr>
      <p:grpSp>
        <p:nvGrpSpPr>
          <p:cNvPr id="270" name="Google Shape;270;p29">
            <a:extLst>
              <a:ext uri="{FF2B5EF4-FFF2-40B4-BE49-F238E27FC236}">
                <a16:creationId xmlns:a16="http://schemas.microsoft.com/office/drawing/2014/main" id="{1D4DDBFA-D462-D412-24F5-699A2F17EE84}"/>
              </a:ext>
            </a:extLst>
          </p:cNvPr>
          <p:cNvGrpSpPr/>
          <p:nvPr/>
        </p:nvGrpSpPr>
        <p:grpSpPr>
          <a:xfrm>
            <a:off x="6719777" y="1046175"/>
            <a:ext cx="2318072" cy="3209311"/>
            <a:chOff x="0" y="-47625"/>
            <a:chExt cx="2088662" cy="1955466"/>
          </a:xfrm>
        </p:grpSpPr>
        <p:sp>
          <p:nvSpPr>
            <p:cNvPr id="271" name="Google Shape;271;p29">
              <a:extLst>
                <a:ext uri="{FF2B5EF4-FFF2-40B4-BE49-F238E27FC236}">
                  <a16:creationId xmlns:a16="http://schemas.microsoft.com/office/drawing/2014/main" id="{1FEAFFFE-1708-D82D-7CCD-E02AB9A244C3}"/>
                </a:ext>
              </a:extLst>
            </p:cNvPr>
            <p:cNvSpPr/>
            <p:nvPr/>
          </p:nvSpPr>
          <p:spPr>
            <a:xfrm>
              <a:off x="0" y="0"/>
              <a:ext cx="2088662" cy="1907841"/>
            </a:xfrm>
            <a:custGeom>
              <a:avLst/>
              <a:gdLst/>
              <a:ahLst/>
              <a:cxnLst/>
              <a:rect l="l" t="t" r="r" b="b"/>
              <a:pathLst>
                <a:path w="2088662" h="1907841" extrusionOk="0">
                  <a:moveTo>
                    <a:pt x="9762" y="0"/>
                  </a:moveTo>
                  <a:lnTo>
                    <a:pt x="2078899" y="0"/>
                  </a:lnTo>
                  <a:cubicBezTo>
                    <a:pt x="2081489" y="0"/>
                    <a:pt x="2083972" y="1029"/>
                    <a:pt x="2085803" y="2859"/>
                  </a:cubicBezTo>
                  <a:cubicBezTo>
                    <a:pt x="2087633" y="4690"/>
                    <a:pt x="2088662" y="7173"/>
                    <a:pt x="2088662" y="9762"/>
                  </a:cubicBezTo>
                  <a:lnTo>
                    <a:pt x="2088662" y="1898079"/>
                  </a:lnTo>
                  <a:cubicBezTo>
                    <a:pt x="2088662" y="1900668"/>
                    <a:pt x="2087633" y="1903151"/>
                    <a:pt x="2085803" y="1904982"/>
                  </a:cubicBezTo>
                  <a:cubicBezTo>
                    <a:pt x="2083972" y="1906813"/>
                    <a:pt x="2081489" y="1907841"/>
                    <a:pt x="2078899" y="1907841"/>
                  </a:cubicBezTo>
                  <a:lnTo>
                    <a:pt x="9762" y="1907841"/>
                  </a:lnTo>
                  <a:cubicBezTo>
                    <a:pt x="7173" y="1907841"/>
                    <a:pt x="4690" y="1906813"/>
                    <a:pt x="2859" y="1904982"/>
                  </a:cubicBezTo>
                  <a:cubicBezTo>
                    <a:pt x="1029" y="1903151"/>
                    <a:pt x="0" y="1900668"/>
                    <a:pt x="0" y="1898079"/>
                  </a:cubicBezTo>
                  <a:lnTo>
                    <a:pt x="0" y="9762"/>
                  </a:lnTo>
                  <a:cubicBezTo>
                    <a:pt x="0" y="7173"/>
                    <a:pt x="1029" y="4690"/>
                    <a:pt x="2859" y="2859"/>
                  </a:cubicBezTo>
                  <a:cubicBezTo>
                    <a:pt x="4690" y="1029"/>
                    <a:pt x="7173" y="0"/>
                    <a:pt x="9762" y="0"/>
                  </a:cubicBezTo>
                  <a:close/>
                </a:path>
              </a:pathLst>
            </a:custGeom>
            <a:solidFill>
              <a:srgbClr val="FFFFFF"/>
            </a:solidFill>
            <a:ln>
              <a:noFill/>
            </a:ln>
          </p:spPr>
          <p:txBody>
            <a:bodyPr spcFirstLastPara="1" wrap="square" lIns="57125" tIns="57125" rIns="57125" bIns="57125" anchor="ctr" anchorCtr="0">
              <a:noAutofit/>
            </a:bodyPr>
            <a:lstStyle/>
            <a:p>
              <a:pPr marL="0" lvl="0" indent="0" algn="l" rtl="0">
                <a:spcBef>
                  <a:spcPts val="0"/>
                </a:spcBef>
                <a:spcAft>
                  <a:spcPts val="0"/>
                </a:spcAft>
                <a:buNone/>
              </a:pPr>
              <a:endParaRPr/>
            </a:p>
          </p:txBody>
        </p:sp>
        <p:sp>
          <p:nvSpPr>
            <p:cNvPr id="272" name="Google Shape;272;p29">
              <a:extLst>
                <a:ext uri="{FF2B5EF4-FFF2-40B4-BE49-F238E27FC236}">
                  <a16:creationId xmlns:a16="http://schemas.microsoft.com/office/drawing/2014/main" id="{4DDB982C-7757-2D8D-1CBF-60AA99F6F15D}"/>
                </a:ext>
              </a:extLst>
            </p:cNvPr>
            <p:cNvSpPr txBox="1"/>
            <p:nvPr/>
          </p:nvSpPr>
          <p:spPr>
            <a:xfrm>
              <a:off x="0" y="-47625"/>
              <a:ext cx="2088600" cy="1955400"/>
            </a:xfrm>
            <a:prstGeom prst="rect">
              <a:avLst/>
            </a:prstGeom>
            <a:noFill/>
            <a:ln>
              <a:noFill/>
            </a:ln>
          </p:spPr>
          <p:txBody>
            <a:bodyPr spcFirstLastPara="1" wrap="square" lIns="31725" tIns="31725" rIns="31725" bIns="31725" anchor="ctr" anchorCtr="0">
              <a:noAutofit/>
            </a:bodyPr>
            <a:lstStyle/>
            <a:p>
              <a:pPr marL="0" marR="0" lvl="0" indent="0" algn="ctr" rtl="0">
                <a:lnSpc>
                  <a:spcPct val="171111"/>
                </a:lnSpc>
                <a:spcBef>
                  <a:spcPts val="0"/>
                </a:spcBef>
                <a:spcAft>
                  <a:spcPts val="0"/>
                </a:spcAft>
                <a:buNone/>
              </a:pPr>
              <a:endParaRPr sz="1124" b="0" i="0" u="none" strike="noStrike" cap="none">
                <a:solidFill>
                  <a:schemeClr val="dk1"/>
                </a:solidFill>
                <a:latin typeface="Calibri"/>
                <a:ea typeface="Calibri"/>
                <a:cs typeface="Calibri"/>
                <a:sym typeface="Calibri"/>
              </a:endParaRPr>
            </a:p>
          </p:txBody>
        </p:sp>
      </p:grpSp>
      <p:sp>
        <p:nvSpPr>
          <p:cNvPr id="273" name="Google Shape;273;p29">
            <a:extLst>
              <a:ext uri="{FF2B5EF4-FFF2-40B4-BE49-F238E27FC236}">
                <a16:creationId xmlns:a16="http://schemas.microsoft.com/office/drawing/2014/main" id="{F87FF007-EC69-D15B-A40E-3C661DF503FB}"/>
              </a:ext>
            </a:extLst>
          </p:cNvPr>
          <p:cNvSpPr txBox="1"/>
          <p:nvPr/>
        </p:nvSpPr>
        <p:spPr>
          <a:xfrm>
            <a:off x="307616" y="320426"/>
            <a:ext cx="7178315" cy="452432"/>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US" sz="2100" b="1">
                <a:solidFill>
                  <a:srgbClr val="11341D"/>
                </a:solidFill>
                <a:latin typeface="Calibri"/>
                <a:cs typeface="Calibri"/>
                <a:sym typeface="Calibri"/>
              </a:rPr>
              <a:t>Preparing the Data for Drill-Down Analysis</a:t>
            </a:r>
            <a:endParaRPr lang="en-US" sz="700"/>
          </a:p>
        </p:txBody>
      </p:sp>
      <p:sp>
        <p:nvSpPr>
          <p:cNvPr id="278" name="Google Shape;278;p29">
            <a:extLst>
              <a:ext uri="{FF2B5EF4-FFF2-40B4-BE49-F238E27FC236}">
                <a16:creationId xmlns:a16="http://schemas.microsoft.com/office/drawing/2014/main" id="{BDC4F4C7-3FCD-E7A8-C7BA-BBDEEF447CE4}"/>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Data Preparation </a:t>
            </a:r>
            <a:endParaRPr sz="1100" b="1" i="1" u="none" strike="noStrike" cap="none">
              <a:solidFill>
                <a:srgbClr val="FFFFFF"/>
              </a:solidFill>
              <a:latin typeface="Calibri"/>
              <a:ea typeface="Calibri"/>
              <a:cs typeface="Calibri"/>
              <a:sym typeface="Calibri"/>
            </a:endParaRPr>
          </a:p>
        </p:txBody>
      </p:sp>
      <p:sp>
        <p:nvSpPr>
          <p:cNvPr id="5" name="Google Shape;275;p29">
            <a:extLst>
              <a:ext uri="{FF2B5EF4-FFF2-40B4-BE49-F238E27FC236}">
                <a16:creationId xmlns:a16="http://schemas.microsoft.com/office/drawing/2014/main" id="{35AD899F-CB8B-AF7A-42C9-CBCE3E87BF06}"/>
              </a:ext>
            </a:extLst>
          </p:cNvPr>
          <p:cNvSpPr txBox="1"/>
          <p:nvPr/>
        </p:nvSpPr>
        <p:spPr>
          <a:xfrm>
            <a:off x="6879265" y="1209753"/>
            <a:ext cx="2051500" cy="293003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 sz="1600" b="1">
                <a:solidFill>
                  <a:srgbClr val="11341D"/>
                </a:solidFill>
                <a:latin typeface="Calibri"/>
                <a:ea typeface="Calibri"/>
                <a:cs typeface="Calibri"/>
                <a:sym typeface="Calibri"/>
              </a:rPr>
              <a:t>What We Did:</a:t>
            </a:r>
          </a:p>
          <a:p>
            <a:pPr marL="285750" marR="0" lvl="0" indent="-285750" algn="l" rtl="0">
              <a:spcBef>
                <a:spcPts val="0"/>
              </a:spcBef>
              <a:spcAft>
                <a:spcPts val="0"/>
              </a:spcAft>
              <a:buFont typeface="Arial" panose="020B0604020202020204" pitchFamily="34" charset="0"/>
              <a:buChar char="•"/>
            </a:pPr>
            <a:r>
              <a:rPr lang="en" sz="1200">
                <a:solidFill>
                  <a:srgbClr val="11341D"/>
                </a:solidFill>
                <a:latin typeface="Calibri"/>
                <a:ea typeface="Calibri"/>
                <a:cs typeface="Calibri"/>
                <a:sym typeface="Calibri"/>
              </a:rPr>
              <a:t>Standardized/combined CAR dataset</a:t>
            </a:r>
          </a:p>
          <a:p>
            <a:pPr marL="285750" marR="0" lvl="0" indent="-285750" algn="l" rtl="0">
              <a:spcBef>
                <a:spcPts val="0"/>
              </a:spcBef>
              <a:spcAft>
                <a:spcPts val="0"/>
              </a:spcAft>
              <a:buFont typeface="Arial" panose="020B0604020202020204" pitchFamily="34" charset="0"/>
              <a:buChar char="•"/>
            </a:pPr>
            <a:r>
              <a:rPr lang="en" sz="1200">
                <a:solidFill>
                  <a:srgbClr val="11341D"/>
                </a:solidFill>
                <a:latin typeface="Calibri"/>
                <a:ea typeface="Calibri"/>
                <a:cs typeface="Calibri"/>
                <a:sym typeface="Calibri"/>
              </a:rPr>
              <a:t>Created </a:t>
            </a:r>
            <a:r>
              <a:rPr lang="en" sz="1200" err="1">
                <a:solidFill>
                  <a:srgbClr val="11341D"/>
                </a:solidFill>
                <a:latin typeface="Calibri"/>
                <a:ea typeface="Calibri"/>
                <a:cs typeface="Calibri"/>
                <a:sym typeface="Calibri"/>
              </a:rPr>
              <a:t>submenu_count</a:t>
            </a:r>
            <a:r>
              <a:rPr lang="en" sz="1200">
                <a:solidFill>
                  <a:srgbClr val="11341D"/>
                </a:solidFill>
                <a:latin typeface="Calibri"/>
                <a:ea typeface="Calibri"/>
                <a:cs typeface="Calibri"/>
                <a:sym typeface="Calibri"/>
              </a:rPr>
              <a:t> variable</a:t>
            </a:r>
          </a:p>
          <a:p>
            <a:pPr marL="285750" marR="0" lvl="0" indent="-285750" algn="l" rtl="0">
              <a:spcBef>
                <a:spcPts val="0"/>
              </a:spcBef>
              <a:spcAft>
                <a:spcPts val="0"/>
              </a:spcAft>
              <a:buFont typeface="Arial" panose="020B0604020202020204" pitchFamily="34" charset="0"/>
              <a:buChar char="•"/>
            </a:pPr>
            <a:r>
              <a:rPr lang="en-US" sz="1200">
                <a:solidFill>
                  <a:srgbClr val="11341D"/>
                </a:solidFill>
                <a:latin typeface="Calibri"/>
                <a:ea typeface="Calibri"/>
                <a:cs typeface="Calibri"/>
                <a:sym typeface="Calibri"/>
              </a:rPr>
              <a:t>Replaced NAs with “Unknown” placeholders</a:t>
            </a:r>
          </a:p>
          <a:p>
            <a:pPr marL="285750" marR="0" lvl="0" indent="-285750" algn="l" rtl="0">
              <a:spcBef>
                <a:spcPts val="0"/>
              </a:spcBef>
              <a:spcAft>
                <a:spcPts val="0"/>
              </a:spcAft>
              <a:buFont typeface="Arial" panose="020B0604020202020204" pitchFamily="34" charset="0"/>
              <a:buChar char="•"/>
            </a:pPr>
            <a:r>
              <a:rPr lang="en-US" sz="1200">
                <a:solidFill>
                  <a:srgbClr val="11341D"/>
                </a:solidFill>
                <a:latin typeface="Calibri"/>
                <a:ea typeface="Calibri"/>
                <a:cs typeface="Calibri"/>
                <a:sym typeface="Calibri"/>
              </a:rPr>
              <a:t>Converted </a:t>
            </a:r>
            <a:r>
              <a:rPr lang="en-US" sz="1200" err="1">
                <a:solidFill>
                  <a:srgbClr val="11341D"/>
                </a:solidFill>
                <a:latin typeface="Calibri"/>
                <a:ea typeface="Calibri"/>
                <a:cs typeface="Calibri"/>
                <a:sym typeface="Calibri"/>
              </a:rPr>
              <a:t>ep_name</a:t>
            </a:r>
            <a:r>
              <a:rPr lang="en-US" sz="1200">
                <a:solidFill>
                  <a:srgbClr val="11341D"/>
                </a:solidFill>
                <a:latin typeface="Calibri"/>
                <a:ea typeface="Calibri"/>
                <a:cs typeface="Calibri"/>
                <a:sym typeface="Calibri"/>
              </a:rPr>
              <a:t>, </a:t>
            </a:r>
            <a:r>
              <a:rPr lang="en-US" sz="1200" err="1">
                <a:solidFill>
                  <a:srgbClr val="11341D"/>
                </a:solidFill>
                <a:latin typeface="Calibri"/>
                <a:ea typeface="Calibri"/>
                <a:cs typeface="Calibri"/>
                <a:sym typeface="Calibri"/>
              </a:rPr>
              <a:t>flow_name</a:t>
            </a:r>
            <a:r>
              <a:rPr lang="en-US" sz="1200">
                <a:solidFill>
                  <a:srgbClr val="11341D"/>
                </a:solidFill>
                <a:latin typeface="Calibri"/>
                <a:ea typeface="Calibri"/>
                <a:cs typeface="Calibri"/>
                <a:sym typeface="Calibri"/>
              </a:rPr>
              <a:t>, and </a:t>
            </a:r>
            <a:r>
              <a:rPr lang="en-US" sz="1200" err="1">
                <a:solidFill>
                  <a:srgbClr val="11341D"/>
                </a:solidFill>
                <a:latin typeface="Calibri"/>
                <a:ea typeface="Calibri"/>
                <a:cs typeface="Calibri"/>
                <a:sym typeface="Calibri"/>
              </a:rPr>
              <a:t>activity_name</a:t>
            </a:r>
            <a:r>
              <a:rPr lang="en-US" sz="1200">
                <a:solidFill>
                  <a:srgbClr val="11341D"/>
                </a:solidFill>
                <a:latin typeface="Calibri"/>
                <a:ea typeface="Calibri"/>
                <a:cs typeface="Calibri"/>
                <a:sym typeface="Calibri"/>
              </a:rPr>
              <a:t> to text</a:t>
            </a:r>
          </a:p>
          <a:p>
            <a:pPr marL="285750" marR="0" lvl="0" indent="-285750" algn="l" rtl="0">
              <a:spcBef>
                <a:spcPts val="0"/>
              </a:spcBef>
              <a:spcAft>
                <a:spcPts val="0"/>
              </a:spcAft>
              <a:buFont typeface="Arial" panose="020B0604020202020204" pitchFamily="34" charset="0"/>
              <a:buChar char="•"/>
            </a:pPr>
            <a:r>
              <a:rPr lang="en-US" sz="1200">
                <a:solidFill>
                  <a:srgbClr val="11341D"/>
                </a:solidFill>
                <a:latin typeface="Calibri"/>
                <a:ea typeface="Calibri"/>
                <a:cs typeface="Calibri"/>
                <a:sym typeface="Calibri"/>
              </a:rPr>
              <a:t>Filled missing EPs and Flows by filling from the row above and grouping by </a:t>
            </a:r>
            <a:r>
              <a:rPr lang="en-US" sz="1200" err="1">
                <a:solidFill>
                  <a:srgbClr val="11341D"/>
                </a:solidFill>
                <a:latin typeface="Calibri"/>
                <a:ea typeface="Calibri"/>
                <a:cs typeface="Calibri"/>
                <a:sym typeface="Calibri"/>
              </a:rPr>
              <a:t>contact_session_id</a:t>
            </a:r>
            <a:endParaRPr lang="en-US" sz="1200">
              <a:solidFill>
                <a:srgbClr val="11341D"/>
              </a:solidFill>
              <a:latin typeface="Calibri"/>
              <a:ea typeface="Calibri"/>
              <a:cs typeface="Calibri"/>
              <a:sym typeface="Calibri"/>
            </a:endParaRPr>
          </a:p>
          <a:p>
            <a:pPr marR="0" lvl="0" algn="l" rtl="0">
              <a:spcBef>
                <a:spcPts val="0"/>
              </a:spcBef>
              <a:spcAft>
                <a:spcPts val="0"/>
              </a:spcAft>
            </a:pPr>
            <a:endParaRPr lang="en-US" sz="700">
              <a:latin typeface="Calibri"/>
              <a:ea typeface="Calibri"/>
              <a:cs typeface="Calibri"/>
              <a:sym typeface="Calibri"/>
            </a:endParaRPr>
          </a:p>
        </p:txBody>
      </p:sp>
      <p:pic>
        <p:nvPicPr>
          <p:cNvPr id="2" name="Picture 1" descr="A screenshot of a computer&#10;&#10;AI-generated content may be incorrect.">
            <a:extLst>
              <a:ext uri="{FF2B5EF4-FFF2-40B4-BE49-F238E27FC236}">
                <a16:creationId xmlns:a16="http://schemas.microsoft.com/office/drawing/2014/main" id="{23777B7B-7DBC-3929-FA96-37630C4806C3}"/>
              </a:ext>
            </a:extLst>
          </p:cNvPr>
          <p:cNvPicPr>
            <a:picLocks noChangeAspect="1"/>
          </p:cNvPicPr>
          <p:nvPr/>
        </p:nvPicPr>
        <p:blipFill rotWithShape="1">
          <a:blip r:embed="rId3"/>
          <a:srcRect b="7457"/>
          <a:stretch>
            <a:fillRect/>
          </a:stretch>
        </p:blipFill>
        <p:spPr>
          <a:xfrm>
            <a:off x="213235" y="922679"/>
            <a:ext cx="2902108" cy="2123554"/>
          </a:xfrm>
          <a:prstGeom prst="rect">
            <a:avLst/>
          </a:prstGeom>
        </p:spPr>
      </p:pic>
      <p:cxnSp>
        <p:nvCxnSpPr>
          <p:cNvPr id="7" name="Curved Connector 6">
            <a:extLst>
              <a:ext uri="{FF2B5EF4-FFF2-40B4-BE49-F238E27FC236}">
                <a16:creationId xmlns:a16="http://schemas.microsoft.com/office/drawing/2014/main" id="{1957F605-2F4D-819A-CED4-F8C052BFF18C}"/>
              </a:ext>
            </a:extLst>
          </p:cNvPr>
          <p:cNvCxnSpPr>
            <a:cxnSpLocks/>
          </p:cNvCxnSpPr>
          <p:nvPr/>
        </p:nvCxnSpPr>
        <p:spPr>
          <a:xfrm>
            <a:off x="3115343" y="1403498"/>
            <a:ext cx="1786361" cy="812442"/>
          </a:xfrm>
          <a:prstGeom prst="curvedConnector2">
            <a:avLst/>
          </a:prstGeom>
          <a:ln w="12700">
            <a:solidFill>
              <a:srgbClr val="11331D"/>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screenshot of a computer&#10;&#10;Description automatically generated">
            <a:extLst>
              <a:ext uri="{FF2B5EF4-FFF2-40B4-BE49-F238E27FC236}">
                <a16:creationId xmlns:a16="http://schemas.microsoft.com/office/drawing/2014/main" id="{40072AE6-BE39-BDE6-06B3-374023D30141}"/>
              </a:ext>
            </a:extLst>
          </p:cNvPr>
          <p:cNvPicPr>
            <a:picLocks noChangeAspect="1"/>
          </p:cNvPicPr>
          <p:nvPr/>
        </p:nvPicPr>
        <p:blipFill>
          <a:blip r:embed="rId4"/>
          <a:stretch>
            <a:fillRect/>
          </a:stretch>
        </p:blipFill>
        <p:spPr>
          <a:xfrm>
            <a:off x="3140158" y="2215940"/>
            <a:ext cx="3554803" cy="2117600"/>
          </a:xfrm>
          <a:prstGeom prst="rect">
            <a:avLst/>
          </a:prstGeom>
        </p:spPr>
      </p:pic>
    </p:spTree>
    <p:extLst>
      <p:ext uri="{BB962C8B-B14F-4D97-AF65-F5344CB8AC3E}">
        <p14:creationId xmlns:p14="http://schemas.microsoft.com/office/powerpoint/2010/main" val="208876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9">
          <a:extLst>
            <a:ext uri="{FF2B5EF4-FFF2-40B4-BE49-F238E27FC236}">
              <a16:creationId xmlns:a16="http://schemas.microsoft.com/office/drawing/2014/main" id="{D2992159-0B0D-1124-F2F2-98AA66AAF336}"/>
            </a:ext>
          </a:extLst>
        </p:cNvPr>
        <p:cNvGrpSpPr/>
        <p:nvPr/>
      </p:nvGrpSpPr>
      <p:grpSpPr>
        <a:xfrm>
          <a:off x="0" y="0"/>
          <a:ext cx="0" cy="0"/>
          <a:chOff x="0" y="0"/>
          <a:chExt cx="0" cy="0"/>
        </a:xfrm>
      </p:grpSpPr>
      <p:sp>
        <p:nvSpPr>
          <p:cNvPr id="273" name="Google Shape;273;p29">
            <a:extLst>
              <a:ext uri="{FF2B5EF4-FFF2-40B4-BE49-F238E27FC236}">
                <a16:creationId xmlns:a16="http://schemas.microsoft.com/office/drawing/2014/main" id="{DDEDA1D9-142D-C901-54AE-AB41C89A08AC}"/>
              </a:ext>
            </a:extLst>
          </p:cNvPr>
          <p:cNvSpPr txBox="1"/>
          <p:nvPr/>
        </p:nvSpPr>
        <p:spPr>
          <a:xfrm>
            <a:off x="307616" y="320426"/>
            <a:ext cx="7178315" cy="452432"/>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US" sz="2100" b="1">
                <a:solidFill>
                  <a:srgbClr val="11341D"/>
                </a:solidFill>
                <a:latin typeface="Calibri"/>
                <a:cs typeface="Calibri"/>
                <a:sym typeface="Calibri"/>
              </a:rPr>
              <a:t>Call Flow Example</a:t>
            </a:r>
            <a:endParaRPr lang="en-US" sz="700"/>
          </a:p>
        </p:txBody>
      </p:sp>
      <p:sp>
        <p:nvSpPr>
          <p:cNvPr id="278" name="Google Shape;278;p29">
            <a:extLst>
              <a:ext uri="{FF2B5EF4-FFF2-40B4-BE49-F238E27FC236}">
                <a16:creationId xmlns:a16="http://schemas.microsoft.com/office/drawing/2014/main" id="{5704AEBD-AC64-902D-2D66-3F9D040315ED}"/>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Call Flow</a:t>
            </a:r>
            <a:endParaRPr sz="1100" b="1" i="1" u="none" strike="noStrike" cap="none">
              <a:solidFill>
                <a:srgbClr val="FFFFFF"/>
              </a:solidFill>
              <a:latin typeface="Calibri"/>
              <a:ea typeface="Calibri"/>
              <a:cs typeface="Calibri"/>
              <a:sym typeface="Calibri"/>
            </a:endParaRPr>
          </a:p>
        </p:txBody>
      </p:sp>
      <p:pic>
        <p:nvPicPr>
          <p:cNvPr id="6" name="Picture 5" descr="A screenshot of a computer&#10;&#10;Description automatically generated">
            <a:extLst>
              <a:ext uri="{FF2B5EF4-FFF2-40B4-BE49-F238E27FC236}">
                <a16:creationId xmlns:a16="http://schemas.microsoft.com/office/drawing/2014/main" id="{0EE86818-1B00-52E3-F820-16149FF5FE26}"/>
              </a:ext>
            </a:extLst>
          </p:cNvPr>
          <p:cNvPicPr>
            <a:picLocks noChangeAspect="1"/>
          </p:cNvPicPr>
          <p:nvPr/>
        </p:nvPicPr>
        <p:blipFill>
          <a:blip r:embed="rId3"/>
          <a:srcRect l="-619" t="-676" r="215" b="79483"/>
          <a:stretch>
            <a:fillRect/>
          </a:stretch>
        </p:blipFill>
        <p:spPr>
          <a:xfrm>
            <a:off x="434659" y="3951294"/>
            <a:ext cx="7925050" cy="996482"/>
          </a:xfrm>
          <a:prstGeom prst="rect">
            <a:avLst/>
          </a:prstGeom>
        </p:spPr>
      </p:pic>
      <p:pic>
        <p:nvPicPr>
          <p:cNvPr id="3" name="Picture 2" descr="A diagram of a call&#10;&#10;Description automatically generated">
            <a:extLst>
              <a:ext uri="{FF2B5EF4-FFF2-40B4-BE49-F238E27FC236}">
                <a16:creationId xmlns:a16="http://schemas.microsoft.com/office/drawing/2014/main" id="{0C37C25F-2A7A-17F4-58D9-56E503D7E7ED}"/>
              </a:ext>
            </a:extLst>
          </p:cNvPr>
          <p:cNvPicPr>
            <a:picLocks noChangeAspect="1"/>
          </p:cNvPicPr>
          <p:nvPr/>
        </p:nvPicPr>
        <p:blipFill>
          <a:blip r:embed="rId4"/>
          <a:srcRect r="20051" b="17317"/>
          <a:stretch/>
        </p:blipFill>
        <p:spPr>
          <a:xfrm>
            <a:off x="434659" y="1008166"/>
            <a:ext cx="3073802" cy="2073235"/>
          </a:xfrm>
          <a:prstGeom prst="rect">
            <a:avLst/>
          </a:prstGeom>
        </p:spPr>
      </p:pic>
      <p:pic>
        <p:nvPicPr>
          <p:cNvPr id="8" name="Picture 7" descr="A diagram of a business process&#10;&#10;Description automatically generated">
            <a:extLst>
              <a:ext uri="{FF2B5EF4-FFF2-40B4-BE49-F238E27FC236}">
                <a16:creationId xmlns:a16="http://schemas.microsoft.com/office/drawing/2014/main" id="{F069E092-C5BC-FE9A-F41D-31C0BFEC0B93}"/>
              </a:ext>
            </a:extLst>
          </p:cNvPr>
          <p:cNvPicPr>
            <a:picLocks noChangeAspect="1"/>
          </p:cNvPicPr>
          <p:nvPr/>
        </p:nvPicPr>
        <p:blipFill>
          <a:blip r:embed="rId5"/>
          <a:stretch>
            <a:fillRect/>
          </a:stretch>
        </p:blipFill>
        <p:spPr>
          <a:xfrm>
            <a:off x="4910246" y="885456"/>
            <a:ext cx="3465304" cy="2842131"/>
          </a:xfrm>
          <a:prstGeom prst="rect">
            <a:avLst/>
          </a:prstGeom>
        </p:spPr>
      </p:pic>
      <p:cxnSp>
        <p:nvCxnSpPr>
          <p:cNvPr id="10" name="Straight Arrow Connector 9">
            <a:extLst>
              <a:ext uri="{FF2B5EF4-FFF2-40B4-BE49-F238E27FC236}">
                <a16:creationId xmlns:a16="http://schemas.microsoft.com/office/drawing/2014/main" id="{6678613D-2105-18B1-208C-DB31DA52687F}"/>
              </a:ext>
            </a:extLst>
          </p:cNvPr>
          <p:cNvCxnSpPr>
            <a:stCxn id="3" idx="3"/>
          </p:cNvCxnSpPr>
          <p:nvPr/>
        </p:nvCxnSpPr>
        <p:spPr>
          <a:xfrm flipV="1">
            <a:off x="3508461" y="2044783"/>
            <a:ext cx="1402814"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D7A36505-43C6-ED7B-8396-C139F70BBF76}"/>
              </a:ext>
            </a:extLst>
          </p:cNvPr>
          <p:cNvSpPr/>
          <p:nvPr/>
        </p:nvSpPr>
        <p:spPr>
          <a:xfrm>
            <a:off x="767421" y="2628348"/>
            <a:ext cx="2294965" cy="34962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D2E1799-5A02-DEEA-5D99-9355B65D6C52}"/>
              </a:ext>
            </a:extLst>
          </p:cNvPr>
          <p:cNvSpPr/>
          <p:nvPr/>
        </p:nvSpPr>
        <p:spPr>
          <a:xfrm>
            <a:off x="5104067" y="4376341"/>
            <a:ext cx="1061379" cy="16017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01F19EA-6ED3-E3EE-2CE5-BB3B346D1697}"/>
              </a:ext>
            </a:extLst>
          </p:cNvPr>
          <p:cNvSpPr/>
          <p:nvPr/>
        </p:nvSpPr>
        <p:spPr>
          <a:xfrm>
            <a:off x="4823011" y="871314"/>
            <a:ext cx="2070847" cy="349623"/>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7774618-2F99-20BD-2460-14258B62C3CB}"/>
              </a:ext>
            </a:extLst>
          </p:cNvPr>
          <p:cNvSpPr/>
          <p:nvPr/>
        </p:nvSpPr>
        <p:spPr>
          <a:xfrm>
            <a:off x="5104067" y="4622015"/>
            <a:ext cx="909231" cy="160175"/>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49669A8-8696-C742-5FF1-6548EB857E11}"/>
              </a:ext>
            </a:extLst>
          </p:cNvPr>
          <p:cNvSpPr/>
          <p:nvPr/>
        </p:nvSpPr>
        <p:spPr>
          <a:xfrm>
            <a:off x="6790043" y="2977971"/>
            <a:ext cx="1739390" cy="349623"/>
          </a:xfrm>
          <a:prstGeom prst="ellipse">
            <a:avLst/>
          </a:prstGeom>
          <a:noFill/>
          <a:ln w="19050">
            <a:solidFill>
              <a:srgbClr val="FF00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EE931FD-772F-2BF9-A591-FB9A021DDE16}"/>
              </a:ext>
            </a:extLst>
          </p:cNvPr>
          <p:cNvSpPr/>
          <p:nvPr/>
        </p:nvSpPr>
        <p:spPr>
          <a:xfrm>
            <a:off x="5104067" y="4766927"/>
            <a:ext cx="1061379" cy="179374"/>
          </a:xfrm>
          <a:prstGeom prst="ellipse">
            <a:avLst/>
          </a:prstGeom>
          <a:noFill/>
          <a:ln w="19050">
            <a:solidFill>
              <a:srgbClr val="FF00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167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9">
          <a:extLst>
            <a:ext uri="{FF2B5EF4-FFF2-40B4-BE49-F238E27FC236}">
              <a16:creationId xmlns:a16="http://schemas.microsoft.com/office/drawing/2014/main" id="{447B1ADA-0418-D217-CB2C-C423F6D61C24}"/>
            </a:ext>
          </a:extLst>
        </p:cNvPr>
        <p:cNvGrpSpPr/>
        <p:nvPr/>
      </p:nvGrpSpPr>
      <p:grpSpPr>
        <a:xfrm>
          <a:off x="0" y="0"/>
          <a:ext cx="0" cy="0"/>
          <a:chOff x="0" y="0"/>
          <a:chExt cx="0" cy="0"/>
        </a:xfrm>
      </p:grpSpPr>
      <p:grpSp>
        <p:nvGrpSpPr>
          <p:cNvPr id="270" name="Google Shape;270;p29">
            <a:extLst>
              <a:ext uri="{FF2B5EF4-FFF2-40B4-BE49-F238E27FC236}">
                <a16:creationId xmlns:a16="http://schemas.microsoft.com/office/drawing/2014/main" id="{105142A2-EE0C-B131-1AA0-42B8877FE4D1}"/>
              </a:ext>
            </a:extLst>
          </p:cNvPr>
          <p:cNvGrpSpPr/>
          <p:nvPr/>
        </p:nvGrpSpPr>
        <p:grpSpPr>
          <a:xfrm>
            <a:off x="6541333" y="1085095"/>
            <a:ext cx="2491200" cy="3749471"/>
            <a:chOff x="0" y="-47625"/>
            <a:chExt cx="2088662" cy="1955466"/>
          </a:xfrm>
        </p:grpSpPr>
        <p:sp>
          <p:nvSpPr>
            <p:cNvPr id="271" name="Google Shape;271;p29">
              <a:extLst>
                <a:ext uri="{FF2B5EF4-FFF2-40B4-BE49-F238E27FC236}">
                  <a16:creationId xmlns:a16="http://schemas.microsoft.com/office/drawing/2014/main" id="{7D30D64A-A731-A99A-0198-5C604BCE39B7}"/>
                </a:ext>
              </a:extLst>
            </p:cNvPr>
            <p:cNvSpPr/>
            <p:nvPr/>
          </p:nvSpPr>
          <p:spPr>
            <a:xfrm>
              <a:off x="0" y="0"/>
              <a:ext cx="2088662" cy="1907841"/>
            </a:xfrm>
            <a:custGeom>
              <a:avLst/>
              <a:gdLst/>
              <a:ahLst/>
              <a:cxnLst/>
              <a:rect l="l" t="t" r="r" b="b"/>
              <a:pathLst>
                <a:path w="2088662" h="1907841" extrusionOk="0">
                  <a:moveTo>
                    <a:pt x="9762" y="0"/>
                  </a:moveTo>
                  <a:lnTo>
                    <a:pt x="2078899" y="0"/>
                  </a:lnTo>
                  <a:cubicBezTo>
                    <a:pt x="2081489" y="0"/>
                    <a:pt x="2083972" y="1029"/>
                    <a:pt x="2085803" y="2859"/>
                  </a:cubicBezTo>
                  <a:cubicBezTo>
                    <a:pt x="2087633" y="4690"/>
                    <a:pt x="2088662" y="7173"/>
                    <a:pt x="2088662" y="9762"/>
                  </a:cubicBezTo>
                  <a:lnTo>
                    <a:pt x="2088662" y="1898079"/>
                  </a:lnTo>
                  <a:cubicBezTo>
                    <a:pt x="2088662" y="1900668"/>
                    <a:pt x="2087633" y="1903151"/>
                    <a:pt x="2085803" y="1904982"/>
                  </a:cubicBezTo>
                  <a:cubicBezTo>
                    <a:pt x="2083972" y="1906813"/>
                    <a:pt x="2081489" y="1907841"/>
                    <a:pt x="2078899" y="1907841"/>
                  </a:cubicBezTo>
                  <a:lnTo>
                    <a:pt x="9762" y="1907841"/>
                  </a:lnTo>
                  <a:cubicBezTo>
                    <a:pt x="7173" y="1907841"/>
                    <a:pt x="4690" y="1906813"/>
                    <a:pt x="2859" y="1904982"/>
                  </a:cubicBezTo>
                  <a:cubicBezTo>
                    <a:pt x="1029" y="1903151"/>
                    <a:pt x="0" y="1900668"/>
                    <a:pt x="0" y="1898079"/>
                  </a:cubicBezTo>
                  <a:lnTo>
                    <a:pt x="0" y="9762"/>
                  </a:lnTo>
                  <a:cubicBezTo>
                    <a:pt x="0" y="7173"/>
                    <a:pt x="1029" y="4690"/>
                    <a:pt x="2859" y="2859"/>
                  </a:cubicBezTo>
                  <a:cubicBezTo>
                    <a:pt x="4690" y="1029"/>
                    <a:pt x="7173" y="0"/>
                    <a:pt x="9762" y="0"/>
                  </a:cubicBezTo>
                  <a:close/>
                </a:path>
              </a:pathLst>
            </a:custGeom>
            <a:solidFill>
              <a:srgbClr val="FFFFFF"/>
            </a:solidFill>
            <a:ln>
              <a:noFill/>
            </a:ln>
          </p:spPr>
          <p:txBody>
            <a:bodyPr spcFirstLastPara="1" wrap="square" lIns="57125" tIns="57125" rIns="57125" bIns="57125" anchor="ctr" anchorCtr="0">
              <a:noAutofit/>
            </a:bodyPr>
            <a:lstStyle/>
            <a:p>
              <a:pPr marL="0" lvl="0" indent="0" algn="l" rtl="0">
                <a:spcBef>
                  <a:spcPts val="0"/>
                </a:spcBef>
                <a:spcAft>
                  <a:spcPts val="0"/>
                </a:spcAft>
                <a:buNone/>
              </a:pPr>
              <a:endParaRPr/>
            </a:p>
          </p:txBody>
        </p:sp>
        <p:sp>
          <p:nvSpPr>
            <p:cNvPr id="272" name="Google Shape;272;p29">
              <a:extLst>
                <a:ext uri="{FF2B5EF4-FFF2-40B4-BE49-F238E27FC236}">
                  <a16:creationId xmlns:a16="http://schemas.microsoft.com/office/drawing/2014/main" id="{44827E8A-2ECF-5635-1974-06F050E70F7C}"/>
                </a:ext>
              </a:extLst>
            </p:cNvPr>
            <p:cNvSpPr txBox="1"/>
            <p:nvPr/>
          </p:nvSpPr>
          <p:spPr>
            <a:xfrm>
              <a:off x="0" y="-47625"/>
              <a:ext cx="2088600" cy="1955400"/>
            </a:xfrm>
            <a:prstGeom prst="rect">
              <a:avLst/>
            </a:prstGeom>
            <a:noFill/>
            <a:ln>
              <a:noFill/>
            </a:ln>
          </p:spPr>
          <p:txBody>
            <a:bodyPr spcFirstLastPara="1" wrap="square" lIns="31725" tIns="31725" rIns="31725" bIns="31725" anchor="ctr" anchorCtr="0">
              <a:noAutofit/>
            </a:bodyPr>
            <a:lstStyle/>
            <a:p>
              <a:pPr marL="0" marR="0" lvl="0" indent="0" algn="ctr" rtl="0">
                <a:lnSpc>
                  <a:spcPct val="171111"/>
                </a:lnSpc>
                <a:spcBef>
                  <a:spcPts val="0"/>
                </a:spcBef>
                <a:spcAft>
                  <a:spcPts val="0"/>
                </a:spcAft>
                <a:buNone/>
              </a:pPr>
              <a:endParaRPr sz="1124" b="0" i="0" u="none" strike="noStrike" cap="none">
                <a:solidFill>
                  <a:schemeClr val="dk1"/>
                </a:solidFill>
                <a:latin typeface="Calibri"/>
                <a:ea typeface="Calibri"/>
                <a:cs typeface="Calibri"/>
                <a:sym typeface="Calibri"/>
              </a:endParaRPr>
            </a:p>
          </p:txBody>
        </p:sp>
      </p:grpSp>
      <p:sp>
        <p:nvSpPr>
          <p:cNvPr id="273" name="Google Shape;273;p29">
            <a:extLst>
              <a:ext uri="{FF2B5EF4-FFF2-40B4-BE49-F238E27FC236}">
                <a16:creationId xmlns:a16="http://schemas.microsoft.com/office/drawing/2014/main" id="{84CCDFD6-8A9A-F376-4083-06983871F97B}"/>
              </a:ext>
            </a:extLst>
          </p:cNvPr>
          <p:cNvSpPr txBox="1"/>
          <p:nvPr/>
        </p:nvSpPr>
        <p:spPr>
          <a:xfrm>
            <a:off x="307616" y="320426"/>
            <a:ext cx="7178315" cy="904863"/>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US" sz="2100" b="1" dirty="0">
                <a:solidFill>
                  <a:srgbClr val="11341D"/>
                </a:solidFill>
                <a:latin typeface="Calibri"/>
                <a:cs typeface="Calibri"/>
                <a:sym typeface="Calibri"/>
              </a:rPr>
              <a:t>Baseline Distribution of Contact Session IDs by EP Name, Colored by Flow Name</a:t>
            </a:r>
            <a:endParaRPr lang="en-US" sz="700" dirty="0"/>
          </a:p>
        </p:txBody>
      </p:sp>
      <p:sp>
        <p:nvSpPr>
          <p:cNvPr id="278" name="Google Shape;278;p29">
            <a:extLst>
              <a:ext uri="{FF2B5EF4-FFF2-40B4-BE49-F238E27FC236}">
                <a16:creationId xmlns:a16="http://schemas.microsoft.com/office/drawing/2014/main" id="{D55386C2-FF3E-C54D-E557-8291093198CA}"/>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Analysis </a:t>
            </a:r>
            <a:endParaRPr sz="1100" b="1" i="1" u="none" strike="noStrike" cap="none">
              <a:solidFill>
                <a:srgbClr val="FFFFFF"/>
              </a:solidFill>
              <a:latin typeface="Calibri"/>
              <a:ea typeface="Calibri"/>
              <a:cs typeface="Calibri"/>
              <a:sym typeface="Calibri"/>
            </a:endParaRPr>
          </a:p>
        </p:txBody>
      </p:sp>
      <p:pic>
        <p:nvPicPr>
          <p:cNvPr id="12" name="Picture 11">
            <a:hlinkClick r:id="rId3"/>
            <a:extLst>
              <a:ext uri="{FF2B5EF4-FFF2-40B4-BE49-F238E27FC236}">
                <a16:creationId xmlns:a16="http://schemas.microsoft.com/office/drawing/2014/main" id="{E3A12345-2692-F8B2-F681-3A6891DBE139}"/>
              </a:ext>
            </a:extLst>
          </p:cNvPr>
          <p:cNvPicPr>
            <a:picLocks noChangeAspect="1"/>
          </p:cNvPicPr>
          <p:nvPr/>
        </p:nvPicPr>
        <p:blipFill>
          <a:blip r:embed="rId4"/>
          <a:stretch>
            <a:fillRect/>
          </a:stretch>
        </p:blipFill>
        <p:spPr>
          <a:xfrm>
            <a:off x="307616" y="1174750"/>
            <a:ext cx="6013970" cy="3659817"/>
          </a:xfrm>
          <a:prstGeom prst="rect">
            <a:avLst/>
          </a:prstGeom>
        </p:spPr>
      </p:pic>
      <p:sp>
        <p:nvSpPr>
          <p:cNvPr id="13" name="Google Shape;275;p29">
            <a:extLst>
              <a:ext uri="{FF2B5EF4-FFF2-40B4-BE49-F238E27FC236}">
                <a16:creationId xmlns:a16="http://schemas.microsoft.com/office/drawing/2014/main" id="{CCDFC361-8793-28A7-EF8E-302E59A123E6}"/>
              </a:ext>
            </a:extLst>
          </p:cNvPr>
          <p:cNvSpPr txBox="1"/>
          <p:nvPr/>
        </p:nvSpPr>
        <p:spPr>
          <a:xfrm>
            <a:off x="6651202" y="1195516"/>
            <a:ext cx="2271387" cy="36686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 sz="1600" b="1" dirty="0">
                <a:solidFill>
                  <a:srgbClr val="11341D"/>
                </a:solidFill>
                <a:latin typeface="Calibri"/>
                <a:ea typeface="Calibri"/>
                <a:cs typeface="Calibri"/>
                <a:sym typeface="Calibri"/>
              </a:rPr>
              <a:t>What We Found:</a:t>
            </a:r>
          </a:p>
          <a:p>
            <a:pPr marL="285750" indent="-285750">
              <a:buFont typeface="Arial" panose="020B0604020202020204" pitchFamily="34" charset="0"/>
              <a:buChar char="•"/>
            </a:pPr>
            <a:r>
              <a:rPr lang="en" sz="1200">
                <a:solidFill>
                  <a:srgbClr val="11341D"/>
                </a:solidFill>
                <a:latin typeface="Calibri"/>
                <a:ea typeface="Calibri"/>
                <a:cs typeface="Calibri"/>
                <a:sym typeface="Calibri"/>
              </a:rPr>
              <a:t>The </a:t>
            </a:r>
            <a:r>
              <a:rPr lang="en" sz="1200" b="1">
                <a:solidFill>
                  <a:srgbClr val="11341D"/>
                </a:solidFill>
                <a:latin typeface="Calibri"/>
                <a:ea typeface="Calibri"/>
                <a:cs typeface="Calibri"/>
                <a:sym typeface="Calibri"/>
              </a:rPr>
              <a:t>Main EP </a:t>
            </a:r>
            <a:r>
              <a:rPr lang="en" sz="1200" dirty="0">
                <a:solidFill>
                  <a:srgbClr val="11341D"/>
                </a:solidFill>
                <a:latin typeface="Calibri"/>
                <a:ea typeface="Calibri"/>
                <a:cs typeface="Calibri"/>
                <a:sym typeface="Calibri"/>
              </a:rPr>
              <a:t>is visited most frequently; indicates we should prioritize simplifying this EP since it takes extra time to read out all these options</a:t>
            </a:r>
          </a:p>
          <a:p>
            <a:pPr marL="285750" indent="-285750">
              <a:buFont typeface="Arial" panose="020B0604020202020204" pitchFamily="34" charset="0"/>
              <a:buChar char="•"/>
            </a:pPr>
            <a:r>
              <a:rPr lang="en" sz="1200">
                <a:solidFill>
                  <a:srgbClr val="11341D"/>
                </a:solidFill>
                <a:latin typeface="Calibri"/>
                <a:ea typeface="Calibri"/>
                <a:cs typeface="Calibri"/>
                <a:sym typeface="Calibri"/>
              </a:rPr>
              <a:t>Under the Main Menu, there are </a:t>
            </a:r>
            <a:r>
              <a:rPr lang="en" sz="1200" b="1">
                <a:solidFill>
                  <a:srgbClr val="11341D"/>
                </a:solidFill>
                <a:latin typeface="Calibri"/>
                <a:ea typeface="Calibri"/>
                <a:cs typeface="Calibri"/>
                <a:sym typeface="Calibri"/>
              </a:rPr>
              <a:t>12 Activity Names</a:t>
            </a:r>
            <a:r>
              <a:rPr lang="en" sz="1200">
                <a:solidFill>
                  <a:srgbClr val="11341D"/>
                </a:solidFill>
                <a:latin typeface="Calibri"/>
                <a:ea typeface="Calibri"/>
                <a:cs typeface="Calibri"/>
                <a:sym typeface="Calibri"/>
              </a:rPr>
              <a:t>, which takes </a:t>
            </a:r>
            <a:r>
              <a:rPr lang="en" sz="1200" b="1">
                <a:solidFill>
                  <a:srgbClr val="11341D"/>
                </a:solidFill>
                <a:latin typeface="Calibri"/>
                <a:ea typeface="Calibri"/>
                <a:cs typeface="Calibri"/>
                <a:sym typeface="Calibri"/>
              </a:rPr>
              <a:t>58 seconds </a:t>
            </a:r>
            <a:r>
              <a:rPr lang="en" sz="1200">
                <a:solidFill>
                  <a:srgbClr val="11341D"/>
                </a:solidFill>
                <a:latin typeface="Calibri"/>
                <a:ea typeface="Calibri"/>
                <a:cs typeface="Calibri"/>
                <a:sym typeface="Calibri"/>
              </a:rPr>
              <a:t>to list; separating these activities into 2 groups could improve efficiency</a:t>
            </a:r>
            <a:endParaRPr lang="en" sz="1200">
              <a:solidFill>
                <a:srgbClr val="11341D"/>
              </a:solidFill>
              <a:latin typeface="Calibri"/>
              <a:ea typeface="Calibri"/>
              <a:cs typeface="Calibri"/>
            </a:endParaRPr>
          </a:p>
          <a:p>
            <a:pPr marL="285750" marR="0" lvl="0" indent="-285750" algn="l" rtl="0">
              <a:spcBef>
                <a:spcPts val="0"/>
              </a:spcBef>
              <a:spcAft>
                <a:spcPts val="0"/>
              </a:spcAft>
              <a:buFont typeface="Arial" panose="020B0604020202020204" pitchFamily="34" charset="0"/>
              <a:buChar char="•"/>
            </a:pPr>
            <a:r>
              <a:rPr lang="en" sz="1200" b="1">
                <a:solidFill>
                  <a:srgbClr val="11341D"/>
                </a:solidFill>
                <a:latin typeface="Calibri"/>
                <a:ea typeface="Calibri"/>
                <a:cs typeface="Calibri"/>
                <a:sym typeface="Calibri"/>
              </a:rPr>
              <a:t>Benefits, Employment, HIV, Immigration E</a:t>
            </a:r>
            <a:r>
              <a:rPr lang="en-US" sz="1200" b="1">
                <a:solidFill>
                  <a:srgbClr val="11341D"/>
                </a:solidFill>
                <a:latin typeface="Calibri"/>
                <a:ea typeface="Calibri"/>
                <a:cs typeface="Calibri"/>
                <a:sym typeface="Calibri"/>
              </a:rPr>
              <a:t>Ps </a:t>
            </a:r>
            <a:r>
              <a:rPr lang="en-US" sz="1200" dirty="0">
                <a:solidFill>
                  <a:srgbClr val="11341D"/>
                </a:solidFill>
                <a:latin typeface="Calibri"/>
                <a:ea typeface="Calibri"/>
                <a:cs typeface="Calibri"/>
                <a:sym typeface="Calibri"/>
              </a:rPr>
              <a:t>are rarely used; could combine these to simplify the system then have them be just flows instead of their own </a:t>
            </a:r>
            <a:r>
              <a:rPr lang="en-US" sz="1200">
                <a:solidFill>
                  <a:srgbClr val="11341D"/>
                </a:solidFill>
                <a:latin typeface="Calibri"/>
                <a:ea typeface="Calibri"/>
                <a:cs typeface="Calibri"/>
                <a:sym typeface="Calibri"/>
              </a:rPr>
              <a:t>EPs</a:t>
            </a:r>
          </a:p>
          <a:p>
            <a:pPr marR="0" lvl="0" algn="l" rtl="0">
              <a:spcBef>
                <a:spcPts val="0"/>
              </a:spcBef>
              <a:spcAft>
                <a:spcPts val="0"/>
              </a:spcAft>
            </a:pPr>
            <a:endParaRPr lang="en" sz="1200">
              <a:solidFill>
                <a:srgbClr val="11341D"/>
              </a:solidFill>
              <a:latin typeface="Calibri"/>
              <a:ea typeface="Calibri"/>
              <a:cs typeface="Calibri"/>
              <a:sym typeface="Calibri"/>
            </a:endParaRPr>
          </a:p>
        </p:txBody>
      </p:sp>
    </p:spTree>
    <p:extLst>
      <p:ext uri="{BB962C8B-B14F-4D97-AF65-F5344CB8AC3E}">
        <p14:creationId xmlns:p14="http://schemas.microsoft.com/office/powerpoint/2010/main" val="1500902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82">
          <a:extLst>
            <a:ext uri="{FF2B5EF4-FFF2-40B4-BE49-F238E27FC236}">
              <a16:creationId xmlns:a16="http://schemas.microsoft.com/office/drawing/2014/main" id="{20704A2A-4006-B57B-38DF-A130BE9AFCDA}"/>
            </a:ext>
          </a:extLst>
        </p:cNvPr>
        <p:cNvGrpSpPr/>
        <p:nvPr/>
      </p:nvGrpSpPr>
      <p:grpSpPr>
        <a:xfrm>
          <a:off x="0" y="0"/>
          <a:ext cx="0" cy="0"/>
          <a:chOff x="0" y="0"/>
          <a:chExt cx="0" cy="0"/>
        </a:xfrm>
      </p:grpSpPr>
      <p:sp>
        <p:nvSpPr>
          <p:cNvPr id="283" name="Google Shape;283;p30">
            <a:extLst>
              <a:ext uri="{FF2B5EF4-FFF2-40B4-BE49-F238E27FC236}">
                <a16:creationId xmlns:a16="http://schemas.microsoft.com/office/drawing/2014/main" id="{19BB08C0-6146-5C6E-2826-5E69F92D1B93}"/>
              </a:ext>
            </a:extLst>
          </p:cNvPr>
          <p:cNvSpPr/>
          <p:nvPr/>
        </p:nvSpPr>
        <p:spPr>
          <a:xfrm>
            <a:off x="479525" y="1009675"/>
            <a:ext cx="7560000" cy="3583200"/>
          </a:xfrm>
          <a:prstGeom prst="roundRect">
            <a:avLst>
              <a:gd name="adj" fmla="val 5975"/>
            </a:avLst>
          </a:prstGeom>
          <a:solidFill>
            <a:srgbClr val="538761"/>
          </a:solidFill>
          <a:ln>
            <a:noFill/>
          </a:ln>
        </p:spPr>
        <p:txBody>
          <a:bodyPr spcFirstLastPara="1" wrap="square" lIns="122850" tIns="122850" rIns="122850" bIns="122850" anchor="t" anchorCtr="0">
            <a:noAutofit/>
          </a:bodyPr>
          <a:lstStyle/>
          <a:p>
            <a:pPr marL="0" lvl="0" indent="0" algn="l" rtl="0">
              <a:spcBef>
                <a:spcPts val="0"/>
              </a:spcBef>
              <a:spcAft>
                <a:spcPts val="0"/>
              </a:spcAft>
              <a:buNone/>
            </a:pPr>
            <a:endParaRPr sz="3224">
              <a:solidFill>
                <a:srgbClr val="F3F3F3"/>
              </a:solidFill>
              <a:latin typeface="Inter ExtraLight"/>
              <a:ea typeface="Inter ExtraLight"/>
              <a:cs typeface="Inter ExtraLight"/>
              <a:sym typeface="Inter ExtraLight"/>
            </a:endParaRPr>
          </a:p>
        </p:txBody>
      </p:sp>
      <p:sp>
        <p:nvSpPr>
          <p:cNvPr id="284" name="Google Shape;284;p30">
            <a:extLst>
              <a:ext uri="{FF2B5EF4-FFF2-40B4-BE49-F238E27FC236}">
                <a16:creationId xmlns:a16="http://schemas.microsoft.com/office/drawing/2014/main" id="{42F84357-1A82-0158-F97F-5D279260ED61}"/>
              </a:ext>
            </a:extLst>
          </p:cNvPr>
          <p:cNvSpPr txBox="1"/>
          <p:nvPr/>
        </p:nvSpPr>
        <p:spPr>
          <a:xfrm>
            <a:off x="514350" y="471500"/>
            <a:ext cx="5965500" cy="452432"/>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Font typeface="Arial"/>
              <a:buNone/>
            </a:pPr>
            <a:r>
              <a:rPr lang="en" sz="2100" b="1">
                <a:solidFill>
                  <a:srgbClr val="11341D"/>
                </a:solidFill>
                <a:latin typeface="Calibri"/>
                <a:cs typeface="Calibri"/>
                <a:sym typeface="Calibri"/>
              </a:rPr>
              <a:t>Recommendations</a:t>
            </a:r>
            <a:endParaRPr sz="700"/>
          </a:p>
        </p:txBody>
      </p:sp>
      <p:sp>
        <p:nvSpPr>
          <p:cNvPr id="285" name="Google Shape;285;p30">
            <a:extLst>
              <a:ext uri="{FF2B5EF4-FFF2-40B4-BE49-F238E27FC236}">
                <a16:creationId xmlns:a16="http://schemas.microsoft.com/office/drawing/2014/main" id="{AACC9836-D1E0-6521-F2BC-CC8D6923CD0D}"/>
              </a:ext>
            </a:extLst>
          </p:cNvPr>
          <p:cNvSpPr txBox="1"/>
          <p:nvPr/>
        </p:nvSpPr>
        <p:spPr>
          <a:xfrm>
            <a:off x="818232" y="1353965"/>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1</a:t>
            </a:r>
            <a:endParaRPr sz="3224">
              <a:solidFill>
                <a:srgbClr val="FBFBFB"/>
              </a:solidFill>
              <a:latin typeface="Inter Light"/>
              <a:ea typeface="Inter Light"/>
              <a:cs typeface="Inter Light"/>
              <a:sym typeface="Inter Light"/>
            </a:endParaRPr>
          </a:p>
        </p:txBody>
      </p:sp>
      <p:sp>
        <p:nvSpPr>
          <p:cNvPr id="286" name="Google Shape;286;p30">
            <a:extLst>
              <a:ext uri="{FF2B5EF4-FFF2-40B4-BE49-F238E27FC236}">
                <a16:creationId xmlns:a16="http://schemas.microsoft.com/office/drawing/2014/main" id="{C180D0AE-CBBF-9189-3FFE-C3396F967B1D}"/>
              </a:ext>
            </a:extLst>
          </p:cNvPr>
          <p:cNvSpPr txBox="1"/>
          <p:nvPr/>
        </p:nvSpPr>
        <p:spPr>
          <a:xfrm>
            <a:off x="818232" y="2510643"/>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2</a:t>
            </a:r>
            <a:endParaRPr sz="3224">
              <a:solidFill>
                <a:srgbClr val="FBFBFB"/>
              </a:solidFill>
              <a:latin typeface="Inter Light"/>
              <a:ea typeface="Inter Light"/>
              <a:cs typeface="Inter Light"/>
              <a:sym typeface="Inter Light"/>
            </a:endParaRPr>
          </a:p>
        </p:txBody>
      </p:sp>
      <p:sp>
        <p:nvSpPr>
          <p:cNvPr id="287" name="Google Shape;287;p30">
            <a:extLst>
              <a:ext uri="{FF2B5EF4-FFF2-40B4-BE49-F238E27FC236}">
                <a16:creationId xmlns:a16="http://schemas.microsoft.com/office/drawing/2014/main" id="{93ABFE45-1F04-EAA9-45F4-AD765AA41BB0}"/>
              </a:ext>
            </a:extLst>
          </p:cNvPr>
          <p:cNvSpPr txBox="1"/>
          <p:nvPr/>
        </p:nvSpPr>
        <p:spPr>
          <a:xfrm>
            <a:off x="818232" y="3680683"/>
            <a:ext cx="1080300" cy="597300"/>
          </a:xfrm>
          <a:prstGeom prst="rect">
            <a:avLst/>
          </a:prstGeom>
          <a:noFill/>
          <a:ln>
            <a:noFill/>
          </a:ln>
        </p:spPr>
        <p:txBody>
          <a:bodyPr spcFirstLastPara="1" wrap="square" lIns="24550" tIns="24550" rIns="24550" bIns="24550" anchor="ctr" anchorCtr="0">
            <a:noAutofit/>
          </a:bodyPr>
          <a:lstStyle/>
          <a:p>
            <a:pPr marL="0" lvl="0" indent="0" algn="ctr" rtl="0">
              <a:spcBef>
                <a:spcPts val="0"/>
              </a:spcBef>
              <a:spcAft>
                <a:spcPts val="0"/>
              </a:spcAft>
              <a:buNone/>
            </a:pPr>
            <a:r>
              <a:rPr lang="en" sz="3224">
                <a:solidFill>
                  <a:srgbClr val="FBFBFB"/>
                </a:solidFill>
                <a:latin typeface="Inter Light"/>
                <a:ea typeface="Inter Light"/>
                <a:cs typeface="Inter Light"/>
                <a:sym typeface="Inter Light"/>
              </a:rPr>
              <a:t>3</a:t>
            </a:r>
            <a:endParaRPr sz="3224">
              <a:solidFill>
                <a:srgbClr val="FBFBFB"/>
              </a:solidFill>
              <a:latin typeface="Inter Light"/>
              <a:ea typeface="Inter Light"/>
              <a:cs typeface="Inter Light"/>
              <a:sym typeface="Inter Light"/>
            </a:endParaRPr>
          </a:p>
        </p:txBody>
      </p:sp>
      <p:sp>
        <p:nvSpPr>
          <p:cNvPr id="288" name="Google Shape;288;p30">
            <a:extLst>
              <a:ext uri="{FF2B5EF4-FFF2-40B4-BE49-F238E27FC236}">
                <a16:creationId xmlns:a16="http://schemas.microsoft.com/office/drawing/2014/main" id="{DB9872E1-2BD8-A7A3-00AE-C1E8ECC68563}"/>
              </a:ext>
            </a:extLst>
          </p:cNvPr>
          <p:cNvSpPr txBox="1"/>
          <p:nvPr/>
        </p:nvSpPr>
        <p:spPr>
          <a:xfrm>
            <a:off x="2075375" y="1257000"/>
            <a:ext cx="4140000"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r>
              <a:rPr lang="en" sz="1209" b="1">
                <a:solidFill>
                  <a:srgbClr val="FFFFFF"/>
                </a:solidFill>
                <a:latin typeface="Calibri"/>
                <a:ea typeface="Calibri"/>
                <a:cs typeface="Calibri"/>
                <a:sym typeface="Calibri"/>
              </a:rPr>
              <a:t>Simplify high-complexity menus</a:t>
            </a:r>
            <a:endParaRPr sz="1209">
              <a:solidFill>
                <a:srgbClr val="FFFFFF"/>
              </a:solidFill>
              <a:latin typeface="Calibri"/>
              <a:ea typeface="Calibri"/>
              <a:cs typeface="Calibri"/>
              <a:sym typeface="Calibri"/>
            </a:endParaRPr>
          </a:p>
        </p:txBody>
      </p:sp>
      <p:cxnSp>
        <p:nvCxnSpPr>
          <p:cNvPr id="289" name="Google Shape;289;p30">
            <a:extLst>
              <a:ext uri="{FF2B5EF4-FFF2-40B4-BE49-F238E27FC236}">
                <a16:creationId xmlns:a16="http://schemas.microsoft.com/office/drawing/2014/main" id="{BA2C610C-58A6-3BC5-BB70-55A4A18DD1B5}"/>
              </a:ext>
            </a:extLst>
          </p:cNvPr>
          <p:cNvCxnSpPr/>
          <p:nvPr/>
        </p:nvCxnSpPr>
        <p:spPr>
          <a:xfrm>
            <a:off x="912329" y="2209426"/>
            <a:ext cx="6290700" cy="0"/>
          </a:xfrm>
          <a:prstGeom prst="straightConnector1">
            <a:avLst/>
          </a:prstGeom>
          <a:noFill/>
          <a:ln w="12800" cap="flat" cmpd="sng">
            <a:solidFill>
              <a:schemeClr val="lt1"/>
            </a:solidFill>
            <a:prstDash val="solid"/>
            <a:round/>
            <a:headEnd type="none" w="med" len="med"/>
            <a:tailEnd type="none" w="med" len="med"/>
          </a:ln>
        </p:spPr>
      </p:cxnSp>
      <p:cxnSp>
        <p:nvCxnSpPr>
          <p:cNvPr id="290" name="Google Shape;290;p30">
            <a:extLst>
              <a:ext uri="{FF2B5EF4-FFF2-40B4-BE49-F238E27FC236}">
                <a16:creationId xmlns:a16="http://schemas.microsoft.com/office/drawing/2014/main" id="{6640CEF3-C03A-DE2E-D45F-A3A017FBC0A8}"/>
              </a:ext>
            </a:extLst>
          </p:cNvPr>
          <p:cNvCxnSpPr/>
          <p:nvPr/>
        </p:nvCxnSpPr>
        <p:spPr>
          <a:xfrm>
            <a:off x="912329" y="3409178"/>
            <a:ext cx="6290700" cy="0"/>
          </a:xfrm>
          <a:prstGeom prst="straightConnector1">
            <a:avLst/>
          </a:prstGeom>
          <a:noFill/>
          <a:ln w="12800" cap="flat" cmpd="sng">
            <a:solidFill>
              <a:schemeClr val="lt1"/>
            </a:solidFill>
            <a:prstDash val="solid"/>
            <a:round/>
            <a:headEnd type="none" w="med" len="med"/>
            <a:tailEnd type="none" w="med" len="med"/>
          </a:ln>
        </p:spPr>
      </p:cxnSp>
      <p:sp>
        <p:nvSpPr>
          <p:cNvPr id="291" name="Google Shape;291;p30">
            <a:extLst>
              <a:ext uri="{FF2B5EF4-FFF2-40B4-BE49-F238E27FC236}">
                <a16:creationId xmlns:a16="http://schemas.microsoft.com/office/drawing/2014/main" id="{BEBAE794-387F-605F-5049-AE6DAB96F607}"/>
              </a:ext>
            </a:extLst>
          </p:cNvPr>
          <p:cNvSpPr txBox="1"/>
          <p:nvPr/>
        </p:nvSpPr>
        <p:spPr>
          <a:xfrm>
            <a:off x="2075375" y="2446000"/>
            <a:ext cx="4140000"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r>
              <a:rPr lang="en-US" sz="1209" b="1">
                <a:solidFill>
                  <a:srgbClr val="FFFFFF"/>
                </a:solidFill>
                <a:latin typeface="Calibri"/>
                <a:ea typeface="Calibri"/>
                <a:cs typeface="Calibri"/>
                <a:sym typeface="Calibri"/>
              </a:rPr>
              <a:t>Develop Menu Efficiency Metrics</a:t>
            </a:r>
          </a:p>
        </p:txBody>
      </p:sp>
      <p:sp>
        <p:nvSpPr>
          <p:cNvPr id="292" name="Google Shape;292;p30">
            <a:extLst>
              <a:ext uri="{FF2B5EF4-FFF2-40B4-BE49-F238E27FC236}">
                <a16:creationId xmlns:a16="http://schemas.microsoft.com/office/drawing/2014/main" id="{A6C67AAB-E0FE-740E-E614-83E25F9199D1}"/>
              </a:ext>
            </a:extLst>
          </p:cNvPr>
          <p:cNvSpPr txBox="1"/>
          <p:nvPr/>
        </p:nvSpPr>
        <p:spPr>
          <a:xfrm>
            <a:off x="2075375" y="3645738"/>
            <a:ext cx="4140000" cy="726600"/>
          </a:xfrm>
          <a:prstGeom prst="rect">
            <a:avLst/>
          </a:prstGeom>
          <a:noFill/>
          <a:ln>
            <a:noFill/>
          </a:ln>
        </p:spPr>
        <p:txBody>
          <a:bodyPr spcFirstLastPara="1" wrap="square" lIns="24550" tIns="24550" rIns="24550" bIns="24550" anchor="ctr" anchorCtr="0">
            <a:noAutofit/>
          </a:bodyPr>
          <a:lstStyle/>
          <a:p>
            <a:pPr marL="0" lvl="0" indent="0" algn="l" rtl="0">
              <a:lnSpc>
                <a:spcPct val="115000"/>
              </a:lnSpc>
              <a:spcBef>
                <a:spcPts val="0"/>
              </a:spcBef>
              <a:spcAft>
                <a:spcPts val="0"/>
              </a:spcAft>
              <a:buNone/>
            </a:pPr>
            <a:r>
              <a:rPr lang="en-US" sz="1209" b="1">
                <a:solidFill>
                  <a:srgbClr val="FFFFFF"/>
                </a:solidFill>
                <a:latin typeface="Calibri"/>
                <a:ea typeface="Calibri"/>
                <a:cs typeface="Calibri"/>
                <a:sym typeface="Calibri"/>
              </a:rPr>
              <a:t>Reduce Queue-Related Bottlenecks</a:t>
            </a:r>
          </a:p>
        </p:txBody>
      </p:sp>
      <p:sp>
        <p:nvSpPr>
          <p:cNvPr id="293" name="Google Shape;293;p30">
            <a:extLst>
              <a:ext uri="{FF2B5EF4-FFF2-40B4-BE49-F238E27FC236}">
                <a16:creationId xmlns:a16="http://schemas.microsoft.com/office/drawing/2014/main" id="{C738C6B9-3F2C-F06C-B42D-EC7E47B69843}"/>
              </a:ext>
            </a:extLst>
          </p:cNvPr>
          <p:cNvSpPr/>
          <p:nvPr/>
        </p:nvSpPr>
        <p:spPr>
          <a:xfrm>
            <a:off x="6702775" y="3759413"/>
            <a:ext cx="500256" cy="439830"/>
          </a:xfrm>
          <a:custGeom>
            <a:avLst/>
            <a:gdLst/>
            <a:ahLst/>
            <a:cxnLst/>
            <a:rect l="l" t="t" r="r" b="b"/>
            <a:pathLst>
              <a:path w="21600" h="21600" extrusionOk="0">
                <a:moveTo>
                  <a:pt x="20618" y="14727"/>
                </a:moveTo>
                <a:lnTo>
                  <a:pt x="982" y="14727"/>
                </a:lnTo>
                <a:lnTo>
                  <a:pt x="982" y="1964"/>
                </a:lnTo>
                <a:cubicBezTo>
                  <a:pt x="982" y="1422"/>
                  <a:pt x="1421" y="982"/>
                  <a:pt x="1964" y="982"/>
                </a:cubicBezTo>
                <a:lnTo>
                  <a:pt x="19636" y="982"/>
                </a:lnTo>
                <a:cubicBezTo>
                  <a:pt x="20179" y="982"/>
                  <a:pt x="20618" y="1422"/>
                  <a:pt x="20618" y="1964"/>
                </a:cubicBezTo>
                <a:cubicBezTo>
                  <a:pt x="20618" y="1964"/>
                  <a:pt x="20618" y="14727"/>
                  <a:pt x="20618" y="14727"/>
                </a:cubicBezTo>
                <a:close/>
                <a:moveTo>
                  <a:pt x="20618" y="16691"/>
                </a:moveTo>
                <a:cubicBezTo>
                  <a:pt x="20618" y="17233"/>
                  <a:pt x="20179" y="17673"/>
                  <a:pt x="19636" y="17673"/>
                </a:cubicBezTo>
                <a:lnTo>
                  <a:pt x="1964" y="17673"/>
                </a:lnTo>
                <a:cubicBezTo>
                  <a:pt x="1421"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3" y="20618"/>
                  <a:pt x="6873" y="20838"/>
                  <a:pt x="6873" y="21109"/>
                </a:cubicBezTo>
                <a:cubicBezTo>
                  <a:pt x="6873" y="21380"/>
                  <a:pt x="7093" y="21600"/>
                  <a:pt x="7364" y="21600"/>
                </a:cubicBezTo>
                <a:lnTo>
                  <a:pt x="14236" y="21600"/>
                </a:lnTo>
                <a:cubicBezTo>
                  <a:pt x="14507" y="21600"/>
                  <a:pt x="14727" y="21380"/>
                  <a:pt x="14727" y="21109"/>
                </a:cubicBezTo>
                <a:cubicBezTo>
                  <a:pt x="14727" y="20838"/>
                  <a:pt x="14507"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moveTo>
                  <a:pt x="10774" y="5201"/>
                </a:moveTo>
                <a:cubicBezTo>
                  <a:pt x="10711" y="5093"/>
                  <a:pt x="10614" y="5023"/>
                  <a:pt x="10504" y="4986"/>
                </a:cubicBezTo>
                <a:lnTo>
                  <a:pt x="10517" y="4938"/>
                </a:lnTo>
                <a:cubicBezTo>
                  <a:pt x="10483" y="4941"/>
                  <a:pt x="10451" y="4949"/>
                  <a:pt x="10419" y="4957"/>
                </a:cubicBezTo>
                <a:lnTo>
                  <a:pt x="8464" y="4434"/>
                </a:lnTo>
                <a:cubicBezTo>
                  <a:pt x="8343" y="4401"/>
                  <a:pt x="8209" y="4414"/>
                  <a:pt x="8091" y="4482"/>
                </a:cubicBezTo>
                <a:cubicBezTo>
                  <a:pt x="7856" y="4618"/>
                  <a:pt x="7776" y="4918"/>
                  <a:pt x="7912" y="5153"/>
                </a:cubicBezTo>
                <a:cubicBezTo>
                  <a:pt x="7979" y="5271"/>
                  <a:pt x="8088" y="5349"/>
                  <a:pt x="8210" y="5382"/>
                </a:cubicBezTo>
                <a:lnTo>
                  <a:pt x="8964" y="5584"/>
                </a:lnTo>
                <a:cubicBezTo>
                  <a:pt x="8292" y="6116"/>
                  <a:pt x="7855" y="6927"/>
                  <a:pt x="7855" y="7855"/>
                </a:cubicBezTo>
                <a:cubicBezTo>
                  <a:pt x="7855" y="9081"/>
                  <a:pt x="8605" y="10131"/>
                  <a:pt x="9671" y="10574"/>
                </a:cubicBezTo>
                <a:lnTo>
                  <a:pt x="9934" y="9609"/>
                </a:lnTo>
                <a:cubicBezTo>
                  <a:pt x="9286" y="9289"/>
                  <a:pt x="8836" y="8627"/>
                  <a:pt x="8836" y="7855"/>
                </a:cubicBezTo>
                <a:cubicBezTo>
                  <a:pt x="8836" y="7221"/>
                  <a:pt x="9142" y="6666"/>
                  <a:pt x="9609" y="6309"/>
                </a:cubicBezTo>
                <a:lnTo>
                  <a:pt x="9335" y="7331"/>
                </a:lnTo>
                <a:cubicBezTo>
                  <a:pt x="9303" y="7453"/>
                  <a:pt x="9316" y="7586"/>
                  <a:pt x="9384" y="7704"/>
                </a:cubicBezTo>
                <a:cubicBezTo>
                  <a:pt x="9520" y="7939"/>
                  <a:pt x="9820" y="8019"/>
                  <a:pt x="10055" y="7883"/>
                </a:cubicBezTo>
                <a:cubicBezTo>
                  <a:pt x="10172" y="7815"/>
                  <a:pt x="10251" y="7707"/>
                  <a:pt x="10284" y="7585"/>
                </a:cubicBezTo>
                <a:lnTo>
                  <a:pt x="10823" y="5574"/>
                </a:lnTo>
                <a:cubicBezTo>
                  <a:pt x="10855" y="5452"/>
                  <a:pt x="10841" y="5319"/>
                  <a:pt x="10774" y="5201"/>
                </a:cubicBezTo>
                <a:moveTo>
                  <a:pt x="13421" y="10344"/>
                </a:moveTo>
                <a:lnTo>
                  <a:pt x="12630" y="10132"/>
                </a:lnTo>
                <a:cubicBezTo>
                  <a:pt x="13306" y="9599"/>
                  <a:pt x="13745" y="8785"/>
                  <a:pt x="13745" y="7855"/>
                </a:cubicBezTo>
                <a:cubicBezTo>
                  <a:pt x="13745" y="6644"/>
                  <a:pt x="13013" y="5604"/>
                  <a:pt x="11967" y="5153"/>
                </a:cubicBezTo>
                <a:lnTo>
                  <a:pt x="11702" y="6121"/>
                </a:lnTo>
                <a:cubicBezTo>
                  <a:pt x="12330" y="6448"/>
                  <a:pt x="12764" y="7098"/>
                  <a:pt x="12764" y="7855"/>
                </a:cubicBezTo>
                <a:cubicBezTo>
                  <a:pt x="12764" y="8468"/>
                  <a:pt x="12477" y="9008"/>
                  <a:pt x="12035" y="9366"/>
                </a:cubicBezTo>
                <a:lnTo>
                  <a:pt x="12295" y="8394"/>
                </a:lnTo>
                <a:cubicBezTo>
                  <a:pt x="12328" y="8273"/>
                  <a:pt x="12314" y="8139"/>
                  <a:pt x="12246" y="8021"/>
                </a:cubicBezTo>
                <a:cubicBezTo>
                  <a:pt x="12111" y="7786"/>
                  <a:pt x="11811" y="7706"/>
                  <a:pt x="11576" y="7842"/>
                </a:cubicBezTo>
                <a:cubicBezTo>
                  <a:pt x="11458" y="7910"/>
                  <a:pt x="11380" y="8019"/>
                  <a:pt x="11347" y="8140"/>
                </a:cubicBezTo>
                <a:lnTo>
                  <a:pt x="10808" y="10152"/>
                </a:lnTo>
                <a:lnTo>
                  <a:pt x="10808" y="10152"/>
                </a:lnTo>
                <a:cubicBezTo>
                  <a:pt x="10776" y="10274"/>
                  <a:pt x="10789" y="10407"/>
                  <a:pt x="10857" y="10524"/>
                </a:cubicBezTo>
                <a:cubicBezTo>
                  <a:pt x="10920" y="10634"/>
                  <a:pt x="11021" y="10706"/>
                  <a:pt x="11133" y="10742"/>
                </a:cubicBezTo>
                <a:lnTo>
                  <a:pt x="11126" y="10767"/>
                </a:lnTo>
                <a:cubicBezTo>
                  <a:pt x="11142" y="10765"/>
                  <a:pt x="11157" y="10762"/>
                  <a:pt x="11173" y="10758"/>
                </a:cubicBezTo>
                <a:lnTo>
                  <a:pt x="13167" y="11292"/>
                </a:lnTo>
                <a:cubicBezTo>
                  <a:pt x="13288" y="11324"/>
                  <a:pt x="13422" y="11311"/>
                  <a:pt x="13540" y="11243"/>
                </a:cubicBezTo>
                <a:cubicBezTo>
                  <a:pt x="13775" y="11107"/>
                  <a:pt x="13855" y="10807"/>
                  <a:pt x="13719" y="10573"/>
                </a:cubicBezTo>
                <a:cubicBezTo>
                  <a:pt x="13651" y="10455"/>
                  <a:pt x="13542" y="10376"/>
                  <a:pt x="13421" y="10344"/>
                </a:cubicBezTo>
              </a:path>
            </a:pathLst>
          </a:custGeom>
          <a:solidFill>
            <a:srgbClr val="FFFFFF"/>
          </a:solidFill>
          <a:ln>
            <a:noFill/>
          </a:ln>
        </p:spPr>
        <p:txBody>
          <a:bodyPr spcFirstLastPara="1" wrap="square" lIns="38100" tIns="38100" rIns="38100" bIns="381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4" name="Google Shape;294;p30">
            <a:extLst>
              <a:ext uri="{FF2B5EF4-FFF2-40B4-BE49-F238E27FC236}">
                <a16:creationId xmlns:a16="http://schemas.microsoft.com/office/drawing/2014/main" id="{912E594B-0C55-260B-B2BB-513EF6DEB221}"/>
              </a:ext>
            </a:extLst>
          </p:cNvPr>
          <p:cNvSpPr/>
          <p:nvPr/>
        </p:nvSpPr>
        <p:spPr>
          <a:xfrm>
            <a:off x="6759741" y="2589387"/>
            <a:ext cx="386316" cy="439830"/>
          </a:xfrm>
          <a:custGeom>
            <a:avLst/>
            <a:gdLst/>
            <a:ahLst/>
            <a:cxnLst/>
            <a:rect l="l" t="t" r="r" b="b"/>
            <a:pathLst>
              <a:path w="21600" h="21600" extrusionOk="0">
                <a:moveTo>
                  <a:pt x="15709" y="15709"/>
                </a:moveTo>
                <a:lnTo>
                  <a:pt x="5891" y="15709"/>
                </a:lnTo>
                <a:lnTo>
                  <a:pt x="5891" y="16691"/>
                </a:lnTo>
                <a:lnTo>
                  <a:pt x="15709" y="16691"/>
                </a:lnTo>
                <a:cubicBezTo>
                  <a:pt x="15709" y="16691"/>
                  <a:pt x="15709" y="15709"/>
                  <a:pt x="15709" y="15709"/>
                </a:cubicBezTo>
                <a:close/>
                <a:moveTo>
                  <a:pt x="15709" y="17673"/>
                </a:moveTo>
                <a:lnTo>
                  <a:pt x="5891" y="17673"/>
                </a:lnTo>
                <a:lnTo>
                  <a:pt x="5891" y="18655"/>
                </a:lnTo>
                <a:lnTo>
                  <a:pt x="15709" y="18655"/>
                </a:lnTo>
                <a:cubicBezTo>
                  <a:pt x="15709" y="18655"/>
                  <a:pt x="15709" y="17673"/>
                  <a:pt x="15709" y="17673"/>
                </a:cubicBezTo>
                <a:close/>
                <a:moveTo>
                  <a:pt x="11782" y="13745"/>
                </a:moveTo>
                <a:lnTo>
                  <a:pt x="5891" y="13745"/>
                </a:lnTo>
                <a:lnTo>
                  <a:pt x="5891" y="14727"/>
                </a:lnTo>
                <a:lnTo>
                  <a:pt x="11782" y="14727"/>
                </a:lnTo>
                <a:cubicBezTo>
                  <a:pt x="11782" y="14727"/>
                  <a:pt x="11782" y="13745"/>
                  <a:pt x="11782" y="13745"/>
                </a:cubicBezTo>
                <a:close/>
                <a:moveTo>
                  <a:pt x="20618" y="19636"/>
                </a:moveTo>
                <a:cubicBezTo>
                  <a:pt x="20618" y="20178"/>
                  <a:pt x="20178" y="20618"/>
                  <a:pt x="19636" y="20618"/>
                </a:cubicBezTo>
                <a:lnTo>
                  <a:pt x="18655" y="20618"/>
                </a:lnTo>
                <a:lnTo>
                  <a:pt x="18655" y="11782"/>
                </a:lnTo>
                <a:cubicBezTo>
                  <a:pt x="18655" y="11240"/>
                  <a:pt x="18214" y="10800"/>
                  <a:pt x="17673" y="10800"/>
                </a:cubicBezTo>
                <a:lnTo>
                  <a:pt x="3927" y="10800"/>
                </a:lnTo>
                <a:cubicBezTo>
                  <a:pt x="3385" y="10800"/>
                  <a:pt x="2945" y="11240"/>
                  <a:pt x="2945" y="11782"/>
                </a:cubicBezTo>
                <a:lnTo>
                  <a:pt x="2945" y="20618"/>
                </a:lnTo>
                <a:lnTo>
                  <a:pt x="1964" y="20618"/>
                </a:lnTo>
                <a:cubicBezTo>
                  <a:pt x="1421" y="20618"/>
                  <a:pt x="982" y="20178"/>
                  <a:pt x="982" y="19636"/>
                </a:cubicBezTo>
                <a:lnTo>
                  <a:pt x="982" y="1964"/>
                </a:lnTo>
                <a:cubicBezTo>
                  <a:pt x="982" y="1422"/>
                  <a:pt x="1421" y="982"/>
                  <a:pt x="1964" y="982"/>
                </a:cubicBezTo>
                <a:lnTo>
                  <a:pt x="4909" y="982"/>
                </a:lnTo>
                <a:lnTo>
                  <a:pt x="4909" y="6873"/>
                </a:lnTo>
                <a:cubicBezTo>
                  <a:pt x="4909" y="7414"/>
                  <a:pt x="5348" y="7855"/>
                  <a:pt x="5891" y="7855"/>
                </a:cubicBezTo>
                <a:lnTo>
                  <a:pt x="15709" y="7855"/>
                </a:lnTo>
                <a:cubicBezTo>
                  <a:pt x="16251" y="7855"/>
                  <a:pt x="16691" y="7414"/>
                  <a:pt x="16691" y="6873"/>
                </a:cubicBezTo>
                <a:lnTo>
                  <a:pt x="16691" y="982"/>
                </a:lnTo>
                <a:lnTo>
                  <a:pt x="17182" y="982"/>
                </a:lnTo>
                <a:lnTo>
                  <a:pt x="20618" y="4418"/>
                </a:lnTo>
                <a:cubicBezTo>
                  <a:pt x="20618" y="4418"/>
                  <a:pt x="20618" y="19636"/>
                  <a:pt x="20618" y="19636"/>
                </a:cubicBezTo>
                <a:close/>
                <a:moveTo>
                  <a:pt x="17673" y="20618"/>
                </a:moveTo>
                <a:lnTo>
                  <a:pt x="3927" y="20618"/>
                </a:lnTo>
                <a:lnTo>
                  <a:pt x="3927" y="11782"/>
                </a:lnTo>
                <a:lnTo>
                  <a:pt x="17673" y="11782"/>
                </a:lnTo>
                <a:cubicBezTo>
                  <a:pt x="17673" y="11782"/>
                  <a:pt x="17673" y="20618"/>
                  <a:pt x="17673" y="20618"/>
                </a:cubicBezTo>
                <a:close/>
                <a:moveTo>
                  <a:pt x="5891" y="982"/>
                </a:moveTo>
                <a:lnTo>
                  <a:pt x="15709" y="982"/>
                </a:lnTo>
                <a:lnTo>
                  <a:pt x="15709" y="6873"/>
                </a:lnTo>
                <a:lnTo>
                  <a:pt x="5891" y="6873"/>
                </a:lnTo>
                <a:cubicBezTo>
                  <a:pt x="5891" y="6873"/>
                  <a:pt x="5891" y="982"/>
                  <a:pt x="5891" y="982"/>
                </a:cubicBezTo>
                <a:close/>
                <a:moveTo>
                  <a:pt x="17673" y="0"/>
                </a:moveTo>
                <a:lnTo>
                  <a:pt x="1964" y="0"/>
                </a:lnTo>
                <a:cubicBezTo>
                  <a:pt x="879" y="0"/>
                  <a:pt x="0" y="879"/>
                  <a:pt x="0" y="1964"/>
                </a:cubicBezTo>
                <a:lnTo>
                  <a:pt x="0" y="19636"/>
                </a:lnTo>
                <a:cubicBezTo>
                  <a:pt x="0" y="20722"/>
                  <a:pt x="879" y="21600"/>
                  <a:pt x="1964" y="21600"/>
                </a:cubicBezTo>
                <a:lnTo>
                  <a:pt x="19636" y="21600"/>
                </a:lnTo>
                <a:cubicBezTo>
                  <a:pt x="20721" y="21600"/>
                  <a:pt x="21600" y="20722"/>
                  <a:pt x="21600" y="19636"/>
                </a:cubicBezTo>
                <a:lnTo>
                  <a:pt x="21600" y="3927"/>
                </a:lnTo>
                <a:cubicBezTo>
                  <a:pt x="21600" y="3927"/>
                  <a:pt x="17673" y="0"/>
                  <a:pt x="17673" y="0"/>
                </a:cubicBezTo>
                <a:close/>
                <a:moveTo>
                  <a:pt x="12764" y="5891"/>
                </a:moveTo>
                <a:lnTo>
                  <a:pt x="14727" y="5891"/>
                </a:lnTo>
                <a:lnTo>
                  <a:pt x="14727" y="1964"/>
                </a:lnTo>
                <a:lnTo>
                  <a:pt x="12764" y="1964"/>
                </a:lnTo>
                <a:cubicBezTo>
                  <a:pt x="12764" y="1964"/>
                  <a:pt x="12764" y="5891"/>
                  <a:pt x="12764" y="5891"/>
                </a:cubicBezTo>
                <a:close/>
              </a:path>
            </a:pathLst>
          </a:custGeom>
          <a:solidFill>
            <a:srgbClr val="FFFFFF"/>
          </a:solidFill>
          <a:ln>
            <a:noFill/>
          </a:ln>
        </p:spPr>
        <p:txBody>
          <a:bodyPr spcFirstLastPara="1" wrap="square" lIns="38100" tIns="38100" rIns="38100" bIns="381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5" name="Google Shape;295;p30">
            <a:extLst>
              <a:ext uri="{FF2B5EF4-FFF2-40B4-BE49-F238E27FC236}">
                <a16:creationId xmlns:a16="http://schemas.microsoft.com/office/drawing/2014/main" id="{245FAE53-F378-9E3A-B6A5-424C07B2E51D}"/>
              </a:ext>
            </a:extLst>
          </p:cNvPr>
          <p:cNvSpPr/>
          <p:nvPr/>
        </p:nvSpPr>
        <p:spPr>
          <a:xfrm>
            <a:off x="6725941" y="1471152"/>
            <a:ext cx="453924" cy="439830"/>
          </a:xfrm>
          <a:custGeom>
            <a:avLst/>
            <a:gdLst/>
            <a:ahLst/>
            <a:cxnLst/>
            <a:rect l="l" t="t" r="r" b="b"/>
            <a:pathLst>
              <a:path w="21600" h="21600" extrusionOk="0">
                <a:moveTo>
                  <a:pt x="20618" y="17673"/>
                </a:moveTo>
                <a:cubicBezTo>
                  <a:pt x="20618" y="18214"/>
                  <a:pt x="20178" y="18655"/>
                  <a:pt x="19636" y="18655"/>
                </a:cubicBezTo>
                <a:lnTo>
                  <a:pt x="19636" y="14727"/>
                </a:lnTo>
                <a:cubicBezTo>
                  <a:pt x="20178" y="14727"/>
                  <a:pt x="20618" y="15167"/>
                  <a:pt x="20618" y="15709"/>
                </a:cubicBezTo>
                <a:cubicBezTo>
                  <a:pt x="20618" y="15709"/>
                  <a:pt x="20618" y="17673"/>
                  <a:pt x="20618" y="17673"/>
                </a:cubicBezTo>
                <a:close/>
                <a:moveTo>
                  <a:pt x="18655" y="19145"/>
                </a:moveTo>
                <a:cubicBezTo>
                  <a:pt x="18655" y="19959"/>
                  <a:pt x="17995" y="20618"/>
                  <a:pt x="17182" y="20618"/>
                </a:cubicBezTo>
                <a:cubicBezTo>
                  <a:pt x="16368" y="20618"/>
                  <a:pt x="15709" y="19959"/>
                  <a:pt x="15709" y="19145"/>
                </a:cubicBezTo>
                <a:lnTo>
                  <a:pt x="15709" y="14236"/>
                </a:lnTo>
                <a:cubicBezTo>
                  <a:pt x="15709" y="13423"/>
                  <a:pt x="16368" y="12764"/>
                  <a:pt x="17182" y="12764"/>
                </a:cubicBezTo>
                <a:cubicBezTo>
                  <a:pt x="17995" y="12764"/>
                  <a:pt x="18655" y="13423"/>
                  <a:pt x="18655" y="14236"/>
                </a:cubicBezTo>
                <a:cubicBezTo>
                  <a:pt x="18655" y="14236"/>
                  <a:pt x="18655" y="19145"/>
                  <a:pt x="18655" y="19145"/>
                </a:cubicBezTo>
                <a:close/>
                <a:moveTo>
                  <a:pt x="4418" y="12764"/>
                </a:moveTo>
                <a:cubicBezTo>
                  <a:pt x="5231" y="12764"/>
                  <a:pt x="5891" y="13423"/>
                  <a:pt x="5891" y="14236"/>
                </a:cubicBezTo>
                <a:lnTo>
                  <a:pt x="5891" y="19145"/>
                </a:lnTo>
                <a:cubicBezTo>
                  <a:pt x="5891" y="19959"/>
                  <a:pt x="5231" y="20618"/>
                  <a:pt x="4418" y="20618"/>
                </a:cubicBezTo>
                <a:cubicBezTo>
                  <a:pt x="3605" y="20618"/>
                  <a:pt x="2945" y="19959"/>
                  <a:pt x="2945" y="19145"/>
                </a:cubicBezTo>
                <a:lnTo>
                  <a:pt x="2945" y="14236"/>
                </a:lnTo>
                <a:cubicBezTo>
                  <a:pt x="2945" y="13423"/>
                  <a:pt x="3605" y="12764"/>
                  <a:pt x="4418" y="12764"/>
                </a:cubicBezTo>
                <a:moveTo>
                  <a:pt x="1964" y="18655"/>
                </a:moveTo>
                <a:cubicBezTo>
                  <a:pt x="1422" y="18655"/>
                  <a:pt x="982" y="18214"/>
                  <a:pt x="982" y="17673"/>
                </a:cubicBezTo>
                <a:lnTo>
                  <a:pt x="982" y="15709"/>
                </a:lnTo>
                <a:cubicBezTo>
                  <a:pt x="982" y="15167"/>
                  <a:pt x="1422" y="14727"/>
                  <a:pt x="1964" y="14727"/>
                </a:cubicBezTo>
                <a:cubicBezTo>
                  <a:pt x="1964" y="14727"/>
                  <a:pt x="1964" y="18655"/>
                  <a:pt x="1964" y="18655"/>
                </a:cubicBezTo>
                <a:close/>
                <a:moveTo>
                  <a:pt x="19636" y="13745"/>
                </a:moveTo>
                <a:lnTo>
                  <a:pt x="19636" y="5891"/>
                </a:lnTo>
                <a:cubicBezTo>
                  <a:pt x="19636" y="2638"/>
                  <a:pt x="16999" y="0"/>
                  <a:pt x="13745" y="0"/>
                </a:cubicBezTo>
                <a:lnTo>
                  <a:pt x="7855" y="0"/>
                </a:lnTo>
                <a:cubicBezTo>
                  <a:pt x="4601" y="0"/>
                  <a:pt x="1964" y="2638"/>
                  <a:pt x="1964" y="5891"/>
                </a:cubicBezTo>
                <a:lnTo>
                  <a:pt x="1964" y="13745"/>
                </a:lnTo>
                <a:cubicBezTo>
                  <a:pt x="879" y="13745"/>
                  <a:pt x="0" y="14625"/>
                  <a:pt x="0" y="15709"/>
                </a:cubicBezTo>
                <a:lnTo>
                  <a:pt x="0" y="17673"/>
                </a:lnTo>
                <a:cubicBezTo>
                  <a:pt x="0" y="18757"/>
                  <a:pt x="879" y="19636"/>
                  <a:pt x="1964" y="19636"/>
                </a:cubicBezTo>
                <a:lnTo>
                  <a:pt x="2013" y="19636"/>
                </a:lnTo>
                <a:cubicBezTo>
                  <a:pt x="2241" y="20757"/>
                  <a:pt x="3231" y="21600"/>
                  <a:pt x="4418" y="21600"/>
                </a:cubicBezTo>
                <a:cubicBezTo>
                  <a:pt x="5774" y="21600"/>
                  <a:pt x="6873" y="20501"/>
                  <a:pt x="6873" y="19145"/>
                </a:cubicBezTo>
                <a:lnTo>
                  <a:pt x="6873" y="14236"/>
                </a:lnTo>
                <a:cubicBezTo>
                  <a:pt x="6873" y="12881"/>
                  <a:pt x="5774" y="11782"/>
                  <a:pt x="4418" y="11782"/>
                </a:cubicBezTo>
                <a:cubicBezTo>
                  <a:pt x="3863" y="11782"/>
                  <a:pt x="3357" y="11974"/>
                  <a:pt x="2945" y="12284"/>
                </a:cubicBezTo>
                <a:lnTo>
                  <a:pt x="2945" y="5891"/>
                </a:lnTo>
                <a:cubicBezTo>
                  <a:pt x="2945" y="3180"/>
                  <a:pt x="5144" y="982"/>
                  <a:pt x="7855" y="982"/>
                </a:cubicBezTo>
                <a:lnTo>
                  <a:pt x="13745" y="982"/>
                </a:lnTo>
                <a:cubicBezTo>
                  <a:pt x="16456" y="982"/>
                  <a:pt x="18655" y="3180"/>
                  <a:pt x="18655" y="5891"/>
                </a:cubicBezTo>
                <a:lnTo>
                  <a:pt x="18655" y="12284"/>
                </a:lnTo>
                <a:cubicBezTo>
                  <a:pt x="18243" y="11974"/>
                  <a:pt x="17737" y="11782"/>
                  <a:pt x="17182" y="11782"/>
                </a:cubicBezTo>
                <a:cubicBezTo>
                  <a:pt x="15826" y="11782"/>
                  <a:pt x="14727" y="12881"/>
                  <a:pt x="14727" y="14236"/>
                </a:cubicBezTo>
                <a:lnTo>
                  <a:pt x="14727" y="19145"/>
                </a:lnTo>
                <a:cubicBezTo>
                  <a:pt x="14727" y="20501"/>
                  <a:pt x="15826" y="21600"/>
                  <a:pt x="17182" y="21600"/>
                </a:cubicBezTo>
                <a:cubicBezTo>
                  <a:pt x="18369" y="21600"/>
                  <a:pt x="19359" y="20757"/>
                  <a:pt x="19587" y="19636"/>
                </a:cubicBezTo>
                <a:lnTo>
                  <a:pt x="19636" y="19636"/>
                </a:lnTo>
                <a:cubicBezTo>
                  <a:pt x="20721" y="19636"/>
                  <a:pt x="21600" y="18757"/>
                  <a:pt x="21600" y="17673"/>
                </a:cubicBezTo>
                <a:lnTo>
                  <a:pt x="21600" y="15709"/>
                </a:lnTo>
                <a:cubicBezTo>
                  <a:pt x="21600" y="14625"/>
                  <a:pt x="20721" y="13745"/>
                  <a:pt x="19636" y="13745"/>
                </a:cubicBezTo>
              </a:path>
            </a:pathLst>
          </a:custGeom>
          <a:solidFill>
            <a:srgbClr val="FFFFFF"/>
          </a:solidFill>
          <a:ln>
            <a:noFill/>
          </a:ln>
        </p:spPr>
        <p:txBody>
          <a:bodyPr spcFirstLastPara="1" wrap="square" lIns="38100" tIns="38100" rIns="38100" bIns="381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6" name="Google Shape;296;p30">
            <a:extLst>
              <a:ext uri="{FF2B5EF4-FFF2-40B4-BE49-F238E27FC236}">
                <a16:creationId xmlns:a16="http://schemas.microsoft.com/office/drawing/2014/main" id="{681FCB24-BFBF-F1E4-4714-7603C3F176F3}"/>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Recommendations</a:t>
            </a:r>
            <a:endParaRPr sz="1100" b="1" i="1" u="none" strike="noStrike" cap="none">
              <a:solidFill>
                <a:srgbClr val="FFFFFF"/>
              </a:solidFill>
              <a:latin typeface="Calibri"/>
              <a:ea typeface="Calibri"/>
              <a:cs typeface="Calibri"/>
              <a:sym typeface="Calibri"/>
            </a:endParaRPr>
          </a:p>
        </p:txBody>
      </p:sp>
      <p:sp>
        <p:nvSpPr>
          <p:cNvPr id="3" name="TextBox 2">
            <a:extLst>
              <a:ext uri="{FF2B5EF4-FFF2-40B4-BE49-F238E27FC236}">
                <a16:creationId xmlns:a16="http://schemas.microsoft.com/office/drawing/2014/main" id="{6023DF64-7C71-EE74-0F9C-1B4D8A8151E0}"/>
              </a:ext>
            </a:extLst>
          </p:cNvPr>
          <p:cNvSpPr txBox="1"/>
          <p:nvPr/>
        </p:nvSpPr>
        <p:spPr>
          <a:xfrm>
            <a:off x="2286000" y="2419191"/>
            <a:ext cx="4572000" cy="307777"/>
          </a:xfrm>
          <a:prstGeom prst="rect">
            <a:avLst/>
          </a:prstGeom>
          <a:noFill/>
        </p:spPr>
        <p:txBody>
          <a:bodyPr wrap="square">
            <a:spAutoFit/>
          </a:bodyPr>
          <a:lstStyle/>
          <a:p>
            <a:r>
              <a:rPr lang="en-US" b="0">
                <a:effectLst/>
              </a:rPr>
              <a:t> </a:t>
            </a:r>
            <a:endParaRPr lang="en-US"/>
          </a:p>
        </p:txBody>
      </p:sp>
    </p:spTree>
    <p:extLst>
      <p:ext uri="{BB962C8B-B14F-4D97-AF65-F5344CB8AC3E}">
        <p14:creationId xmlns:p14="http://schemas.microsoft.com/office/powerpoint/2010/main" val="62474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a:extLst>
            <a:ext uri="{FF2B5EF4-FFF2-40B4-BE49-F238E27FC236}">
              <a16:creationId xmlns:a16="http://schemas.microsoft.com/office/drawing/2014/main" id="{D0084AE9-439F-E618-72B6-8EBB12D4CD61}"/>
            </a:ext>
          </a:extLst>
        </p:cNvPr>
        <p:cNvGrpSpPr/>
        <p:nvPr/>
      </p:nvGrpSpPr>
      <p:grpSpPr>
        <a:xfrm>
          <a:off x="0" y="0"/>
          <a:ext cx="0" cy="0"/>
          <a:chOff x="0" y="0"/>
          <a:chExt cx="0" cy="0"/>
        </a:xfrm>
      </p:grpSpPr>
      <p:sp>
        <p:nvSpPr>
          <p:cNvPr id="332" name="Google Shape;332;p33">
            <a:extLst>
              <a:ext uri="{FF2B5EF4-FFF2-40B4-BE49-F238E27FC236}">
                <a16:creationId xmlns:a16="http://schemas.microsoft.com/office/drawing/2014/main" id="{5BBF4ACB-D71C-C434-1A8F-0F0E8E7F6E31}"/>
              </a:ext>
            </a:extLst>
          </p:cNvPr>
          <p:cNvSpPr txBox="1"/>
          <p:nvPr/>
        </p:nvSpPr>
        <p:spPr>
          <a:xfrm>
            <a:off x="517950" y="452125"/>
            <a:ext cx="42741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 sz="2100" b="1">
                <a:solidFill>
                  <a:srgbClr val="11341D"/>
                </a:solidFill>
                <a:latin typeface="Calibri"/>
                <a:ea typeface="Calibri"/>
                <a:cs typeface="Calibri"/>
                <a:sym typeface="Calibri"/>
              </a:rPr>
              <a:t>Next Steps &amp; Further Questions </a:t>
            </a:r>
            <a:endParaRPr sz="700">
              <a:latin typeface="Calibri"/>
              <a:ea typeface="Calibri"/>
              <a:cs typeface="Calibri"/>
              <a:sym typeface="Calibri"/>
            </a:endParaRPr>
          </a:p>
        </p:txBody>
      </p:sp>
      <p:sp>
        <p:nvSpPr>
          <p:cNvPr id="333" name="Google Shape;333;p33">
            <a:extLst>
              <a:ext uri="{FF2B5EF4-FFF2-40B4-BE49-F238E27FC236}">
                <a16:creationId xmlns:a16="http://schemas.microsoft.com/office/drawing/2014/main" id="{FF00FBB5-F201-CC4B-0AA7-7FDC2E90F5FF}"/>
              </a:ext>
            </a:extLst>
          </p:cNvPr>
          <p:cNvSpPr/>
          <p:nvPr/>
        </p:nvSpPr>
        <p:spPr>
          <a:xfrm rot="-10124778">
            <a:off x="4203337" y="-896004"/>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a:extLst>
              <a:ext uri="{FF2B5EF4-FFF2-40B4-BE49-F238E27FC236}">
                <a16:creationId xmlns:a16="http://schemas.microsoft.com/office/drawing/2014/main" id="{01E1A68C-EB20-4A57-7952-D4862A21FC22}"/>
              </a:ext>
            </a:extLst>
          </p:cNvPr>
          <p:cNvSpPr/>
          <p:nvPr/>
        </p:nvSpPr>
        <p:spPr>
          <a:xfrm rot="570569">
            <a:off x="-5514351" y="3000847"/>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335" name="Google Shape;335;p33">
            <a:extLst>
              <a:ext uri="{FF2B5EF4-FFF2-40B4-BE49-F238E27FC236}">
                <a16:creationId xmlns:a16="http://schemas.microsoft.com/office/drawing/2014/main" id="{5A848B64-8E9F-21E9-3B9C-7B374F0D7BED}"/>
              </a:ext>
            </a:extLst>
          </p:cNvPr>
          <p:cNvSpPr txBox="1"/>
          <p:nvPr/>
        </p:nvSpPr>
        <p:spPr>
          <a:xfrm>
            <a:off x="517950" y="968275"/>
            <a:ext cx="8108100" cy="3447000"/>
          </a:xfrm>
          <a:prstGeom prst="rect">
            <a:avLst/>
          </a:prstGeom>
          <a:noFill/>
          <a:ln>
            <a:noFill/>
          </a:ln>
        </p:spPr>
        <p:txBody>
          <a:bodyPr spcFirstLastPara="1" wrap="square" lIns="91425" tIns="91425" rIns="91425" bIns="91425" anchor="t" anchorCtr="0">
            <a:noAutofit/>
          </a:bodyPr>
          <a:lstStyle/>
          <a:p>
            <a:pPr marL="457200" lvl="0" indent="-342900" algn="l" rtl="0">
              <a:spcBef>
                <a:spcPts val="1000"/>
              </a:spcBef>
              <a:spcAft>
                <a:spcPts val="0"/>
              </a:spcAft>
              <a:buClr>
                <a:schemeClr val="dk1"/>
              </a:buClr>
              <a:buSzPts val="1800"/>
              <a:buFont typeface="Arial" panose="020B0604020202020204" pitchFamily="34" charset="0"/>
              <a:buChar char="•"/>
            </a:pPr>
            <a:r>
              <a:rPr lang="en-US">
                <a:solidFill>
                  <a:schemeClr val="dk1"/>
                </a:solidFill>
                <a:latin typeface="Calibri"/>
                <a:ea typeface="Calibri"/>
                <a:cs typeface="Calibri"/>
                <a:sym typeface="Calibri"/>
              </a:rPr>
              <a:t>Add interactive filters and KPIs: Include slicers for date, day type, and hours; add cards for total calls and average submenus per EP</a:t>
            </a:r>
            <a:endParaRPr lang="en-US">
              <a:solidFill>
                <a:schemeClr val="dk1"/>
              </a:solidFill>
              <a:latin typeface="Calibri"/>
              <a:ea typeface="Calibri"/>
              <a:cs typeface="Calibri"/>
            </a:endParaRPr>
          </a:p>
          <a:p>
            <a:pPr marL="457200" lvl="0" indent="-342900" algn="l" rtl="0">
              <a:spcBef>
                <a:spcPts val="1000"/>
              </a:spcBef>
              <a:spcAft>
                <a:spcPts val="0"/>
              </a:spcAft>
              <a:buClr>
                <a:schemeClr val="dk1"/>
              </a:buClr>
              <a:buSzPts val="1800"/>
              <a:buFont typeface="Arial" panose="020B0604020202020204" pitchFamily="34" charset="0"/>
              <a:buChar char="•"/>
            </a:pPr>
            <a:r>
              <a:rPr lang="en-US">
                <a:solidFill>
                  <a:schemeClr val="dk1"/>
                </a:solidFill>
                <a:latin typeface="Calibri"/>
                <a:ea typeface="Calibri"/>
                <a:cs typeface="Calibri"/>
                <a:sym typeface="Calibri"/>
              </a:rPr>
              <a:t>Develop efficiency indicators: Calculate average submenu depth per EP or Flow to highlight areas with the most caller confusion or unnecessary steps</a:t>
            </a:r>
            <a:endParaRPr lang="en-US">
              <a:solidFill>
                <a:schemeClr val="dk1"/>
              </a:solidFill>
              <a:latin typeface="Calibri"/>
              <a:ea typeface="Calibri"/>
              <a:cs typeface="Calibri"/>
            </a:endParaRPr>
          </a:p>
          <a:p>
            <a:pPr marL="457200" lvl="0" indent="-342900">
              <a:spcBef>
                <a:spcPts val="1000"/>
              </a:spcBef>
              <a:buClr>
                <a:schemeClr val="dk1"/>
              </a:buClr>
              <a:buSzPts val="1800"/>
              <a:buFont typeface="Arial" panose="020B0604020202020204" pitchFamily="34" charset="0"/>
              <a:buChar char="•"/>
            </a:pPr>
            <a:r>
              <a:rPr lang="en-US">
                <a:solidFill>
                  <a:schemeClr val="dk1"/>
                </a:solidFill>
                <a:latin typeface="Calibri"/>
                <a:ea typeface="Calibri"/>
                <a:cs typeface="Calibri"/>
                <a:sym typeface="Calibri"/>
              </a:rPr>
              <a:t>Group related menus: Merge similar Eps (e.g. </a:t>
            </a:r>
            <a:r>
              <a:rPr lang="en">
                <a:solidFill>
                  <a:schemeClr val="tx1"/>
                </a:solidFill>
                <a:latin typeface="Calibri"/>
                <a:ea typeface="Calibri"/>
                <a:cs typeface="Calibri"/>
                <a:sym typeface="Calibri"/>
              </a:rPr>
              <a:t>Benefits, Employment, HIV, Immigration) for clearer visualization and comparison</a:t>
            </a:r>
            <a:endParaRPr lang="en">
              <a:solidFill>
                <a:schemeClr val="tx1"/>
              </a:solidFill>
              <a:latin typeface="Calibri"/>
              <a:ea typeface="Calibri"/>
              <a:cs typeface="Calibri"/>
            </a:endParaRPr>
          </a:p>
          <a:p>
            <a:pPr marL="457200" indent="-342900">
              <a:spcBef>
                <a:spcPts val="1000"/>
              </a:spcBef>
              <a:buClr>
                <a:schemeClr val="dk1"/>
              </a:buClr>
              <a:buSzPts val="1800"/>
              <a:buFont typeface="Arial" panose="020B0604020202020204" pitchFamily="34" charset="0"/>
              <a:buChar char="•"/>
            </a:pPr>
            <a:r>
              <a:rPr lang="en-US">
                <a:solidFill>
                  <a:schemeClr val="dk1"/>
                </a:solidFill>
                <a:latin typeface="Calibri"/>
                <a:ea typeface="Calibri"/>
                <a:cs typeface="Calibri"/>
                <a:sym typeface="Calibri"/>
              </a:rPr>
              <a:t>Group related activities: there are 12 options inside of Main Menu </a:t>
            </a:r>
            <a:r>
              <a:rPr lang="en-US">
                <a:solidFill>
                  <a:schemeClr val="dk1"/>
                </a:solidFill>
                <a:latin typeface="Calibri"/>
                <a:ea typeface="Calibri"/>
                <a:cs typeface="Calibri"/>
                <a:sym typeface="Wingdings" pitchFamily="2" charset="2"/>
              </a:rPr>
              <a:t> splitting into two groups could improve efficiency</a:t>
            </a:r>
            <a:endParaRPr lang="en">
              <a:solidFill>
                <a:schemeClr val="dk1"/>
              </a:solidFill>
              <a:latin typeface="Calibri"/>
              <a:ea typeface="Calibri"/>
              <a:cs typeface="Calibri"/>
            </a:endParaRPr>
          </a:p>
          <a:p>
            <a:pPr marL="457200" lvl="0" indent="-342900">
              <a:spcBef>
                <a:spcPts val="1000"/>
              </a:spcBef>
              <a:buClr>
                <a:schemeClr val="dk1"/>
              </a:buClr>
              <a:buSzPct val="100000"/>
              <a:buFont typeface="+mj-lt"/>
              <a:buAutoNum type="arabicPeriod"/>
            </a:pPr>
            <a:r>
              <a:rPr lang="en-US">
                <a:solidFill>
                  <a:schemeClr val="dk1"/>
                </a:solidFill>
                <a:latin typeface="Calibri"/>
                <a:ea typeface="Calibri"/>
                <a:cs typeface="Calibri"/>
                <a:sym typeface="Calibri"/>
              </a:rPr>
              <a:t>Does the EP </a:t>
            </a:r>
            <a:r>
              <a:rPr lang="en-US">
                <a:solidFill>
                  <a:schemeClr val="dk1"/>
                </a:solidFill>
                <a:latin typeface="Calibri"/>
                <a:ea typeface="Calibri"/>
                <a:cs typeface="Calibri"/>
                <a:sym typeface="Wingdings" pitchFamily="2" charset="2"/>
              </a:rPr>
              <a:t> Flow  Activity hierarchy in our cleaned data match LAC’s structure?</a:t>
            </a:r>
            <a:endParaRPr lang="en-US">
              <a:solidFill>
                <a:schemeClr val="dk1"/>
              </a:solidFill>
              <a:latin typeface="Calibri"/>
              <a:ea typeface="Calibri"/>
              <a:cs typeface="Calibri"/>
            </a:endParaRPr>
          </a:p>
          <a:p>
            <a:pPr marL="457200" indent="-342900">
              <a:spcBef>
                <a:spcPts val="1000"/>
              </a:spcBef>
              <a:buClr>
                <a:schemeClr val="dk1"/>
              </a:buClr>
              <a:buSzPct val="100000"/>
              <a:buFont typeface="+mj-lt"/>
              <a:buAutoNum type="arabicPeriod"/>
            </a:pPr>
            <a:r>
              <a:rPr lang="en-US">
                <a:solidFill>
                  <a:schemeClr val="dk1"/>
                </a:solidFill>
                <a:latin typeface="Calibri"/>
                <a:ea typeface="Calibri"/>
                <a:cs typeface="Calibri"/>
              </a:rPr>
              <a:t>Can Cynthia clarify what the Flow Name means?</a:t>
            </a:r>
            <a:endParaRPr lang="en-US">
              <a:solidFill>
                <a:schemeClr val="dk1"/>
              </a:solidFill>
              <a:latin typeface="Calibri"/>
              <a:ea typeface="Calibri"/>
              <a:cs typeface="Calibri"/>
              <a:sym typeface="Wingdings" pitchFamily="2" charset="2"/>
            </a:endParaRPr>
          </a:p>
          <a:p>
            <a:pPr marL="457200" lvl="0" indent="-342900">
              <a:spcBef>
                <a:spcPts val="1000"/>
              </a:spcBef>
              <a:buClr>
                <a:schemeClr val="dk1"/>
              </a:buClr>
              <a:buSzPct val="100000"/>
              <a:buFont typeface="+mj-lt"/>
              <a:buAutoNum type="arabicPeriod"/>
            </a:pPr>
            <a:r>
              <a:rPr lang="en-US">
                <a:solidFill>
                  <a:schemeClr val="dk1"/>
                </a:solidFill>
                <a:latin typeface="Calibri"/>
                <a:ea typeface="Calibri"/>
                <a:cs typeface="Calibri"/>
                <a:sym typeface="Wingdings" pitchFamily="2" charset="2"/>
              </a:rPr>
              <a:t>Would LAC be open to restructuring or merging high-friction menus based on our findings?</a:t>
            </a:r>
            <a:endParaRPr lang="en-US">
              <a:solidFill>
                <a:schemeClr val="dk1"/>
              </a:solidFill>
              <a:latin typeface="Calibri"/>
              <a:ea typeface="Calibri"/>
              <a:cs typeface="Calibri"/>
            </a:endParaRPr>
          </a:p>
          <a:p>
            <a:pPr marL="457200" lvl="0" indent="-342900">
              <a:spcBef>
                <a:spcPts val="1000"/>
              </a:spcBef>
              <a:buClr>
                <a:schemeClr val="dk1"/>
              </a:buClr>
              <a:buSzPct val="100000"/>
              <a:buFont typeface="+mj-lt"/>
              <a:buAutoNum type="arabicPeriod"/>
            </a:pPr>
            <a:r>
              <a:rPr lang="en-US">
                <a:solidFill>
                  <a:schemeClr val="dk1"/>
                </a:solidFill>
                <a:latin typeface="Calibri"/>
                <a:ea typeface="Calibri"/>
                <a:cs typeface="Calibri"/>
                <a:sym typeface="Wingdings" pitchFamily="2" charset="2"/>
              </a:rPr>
              <a:t>Which metrics are most important to LAC between minimizing submenu steps, reducing queue time, or ensuring correct routing on the first try?</a:t>
            </a:r>
            <a:endParaRPr lang="en">
              <a:solidFill>
                <a:schemeClr val="dk1"/>
              </a:solidFill>
              <a:latin typeface="Calibri"/>
              <a:ea typeface="Calibri"/>
              <a:cs typeface="Calibri"/>
              <a:sym typeface="Calibri"/>
            </a:endParaRPr>
          </a:p>
        </p:txBody>
      </p:sp>
      <p:sp>
        <p:nvSpPr>
          <p:cNvPr id="2" name="Google Shape;278;p29">
            <a:extLst>
              <a:ext uri="{FF2B5EF4-FFF2-40B4-BE49-F238E27FC236}">
                <a16:creationId xmlns:a16="http://schemas.microsoft.com/office/drawing/2014/main" id="{73F667BE-D601-2D65-FD7C-012CBD07480A}"/>
              </a:ext>
            </a:extLst>
          </p:cNvPr>
          <p:cNvSpPr/>
          <p:nvPr/>
        </p:nvSpPr>
        <p:spPr>
          <a:xfrm>
            <a:off x="7731300" y="111125"/>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u="none" strike="noStrike" cap="none">
                <a:solidFill>
                  <a:srgbClr val="FFFFFF"/>
                </a:solidFill>
                <a:latin typeface="Calibri"/>
                <a:ea typeface="Calibri"/>
                <a:cs typeface="Calibri"/>
                <a:sym typeface="Calibri"/>
              </a:rPr>
              <a:t>Next Steps</a:t>
            </a:r>
            <a:endParaRPr sz="1100" b="1" i="1"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46760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Shape 340"/>
        <p:cNvGrpSpPr/>
        <p:nvPr/>
      </p:nvGrpSpPr>
      <p:grpSpPr>
        <a:xfrm>
          <a:off x="0" y="0"/>
          <a:ext cx="0" cy="0"/>
          <a:chOff x="0" y="0"/>
          <a:chExt cx="0" cy="0"/>
        </a:xfrm>
      </p:grpSpPr>
      <p:sp>
        <p:nvSpPr>
          <p:cNvPr id="341" name="Google Shape;341;p34"/>
          <p:cNvSpPr txBox="1"/>
          <p:nvPr/>
        </p:nvSpPr>
        <p:spPr>
          <a:xfrm>
            <a:off x="514350" y="461963"/>
            <a:ext cx="4181400" cy="7080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 sz="4600" b="1">
                <a:solidFill>
                  <a:srgbClr val="11341D"/>
                </a:solidFill>
                <a:latin typeface="Calibri"/>
                <a:ea typeface="Calibri"/>
                <a:cs typeface="Calibri"/>
                <a:sym typeface="Calibri"/>
              </a:rPr>
              <a:t>Appendix</a:t>
            </a:r>
            <a:endParaRPr sz="700">
              <a:latin typeface="Calibri"/>
              <a:ea typeface="Calibri"/>
              <a:cs typeface="Calibri"/>
              <a:sym typeface="Calibri"/>
            </a:endParaRPr>
          </a:p>
        </p:txBody>
      </p:sp>
      <p:grpSp>
        <p:nvGrpSpPr>
          <p:cNvPr id="342" name="Google Shape;342;p34"/>
          <p:cNvGrpSpPr/>
          <p:nvPr/>
        </p:nvGrpSpPr>
        <p:grpSpPr>
          <a:xfrm>
            <a:off x="5364593" y="1992173"/>
            <a:ext cx="1802409" cy="2097349"/>
            <a:chOff x="0" y="0"/>
            <a:chExt cx="698500" cy="812800"/>
          </a:xfrm>
        </p:grpSpPr>
        <p:sp>
          <p:nvSpPr>
            <p:cNvPr id="343" name="Google Shape;343;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4" name="Google Shape;344;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45" name="Google Shape;345;p34"/>
          <p:cNvSpPr/>
          <p:nvPr/>
        </p:nvSpPr>
        <p:spPr>
          <a:xfrm rot="570569">
            <a:off x="-5626210" y="2867024"/>
            <a:ext cx="9883810" cy="3274012"/>
          </a:xfrm>
          <a:custGeom>
            <a:avLst/>
            <a:gdLst/>
            <a:ahLst/>
            <a:cxnLst/>
            <a:rect l="l" t="t" r="r" b="b"/>
            <a:pathLst>
              <a:path w="19792872" h="6556389" extrusionOk="0">
                <a:moveTo>
                  <a:pt x="0" y="0"/>
                </a:moveTo>
                <a:lnTo>
                  <a:pt x="19792872" y="0"/>
                </a:lnTo>
                <a:lnTo>
                  <a:pt x="19792872" y="6556388"/>
                </a:lnTo>
                <a:lnTo>
                  <a:pt x="0" y="6556388"/>
                </a:lnTo>
                <a:lnTo>
                  <a:pt x="0" y="0"/>
                </a:lnTo>
                <a:close/>
              </a:path>
            </a:pathLst>
          </a:custGeom>
          <a:blipFill rotWithShape="1">
            <a:blip r:embed="rId3">
              <a:alphaModFix amt="13000"/>
            </a:blip>
            <a:stretch>
              <a:fillRect/>
            </a:stretch>
          </a:blipFill>
          <a:ln>
            <a:noFill/>
          </a:ln>
        </p:spPr>
        <p:txBody>
          <a:bodyPr/>
          <a:lstStyle/>
          <a:p>
            <a:endParaRPr lang="en-US"/>
          </a:p>
        </p:txBody>
      </p:sp>
      <p:grpSp>
        <p:nvGrpSpPr>
          <p:cNvPr id="346" name="Google Shape;346;p34"/>
          <p:cNvGrpSpPr/>
          <p:nvPr/>
        </p:nvGrpSpPr>
        <p:grpSpPr>
          <a:xfrm>
            <a:off x="4026393" y="4431348"/>
            <a:ext cx="1802409" cy="2097349"/>
            <a:chOff x="0" y="0"/>
            <a:chExt cx="698500" cy="812800"/>
          </a:xfrm>
        </p:grpSpPr>
        <p:sp>
          <p:nvSpPr>
            <p:cNvPr id="347" name="Google Shape;347;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48" name="Google Shape;348;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49" name="Google Shape;349;p34"/>
          <p:cNvGrpSpPr/>
          <p:nvPr/>
        </p:nvGrpSpPr>
        <p:grpSpPr>
          <a:xfrm>
            <a:off x="8532466" y="3173248"/>
            <a:ext cx="1802409" cy="2097349"/>
            <a:chOff x="0" y="0"/>
            <a:chExt cx="698500" cy="812800"/>
          </a:xfrm>
        </p:grpSpPr>
        <p:sp>
          <p:nvSpPr>
            <p:cNvPr id="350" name="Google Shape;350;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51" name="Google Shape;351;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2" name="Google Shape;352;p34"/>
          <p:cNvGrpSpPr/>
          <p:nvPr/>
        </p:nvGrpSpPr>
        <p:grpSpPr>
          <a:xfrm>
            <a:off x="4927607" y="-1390442"/>
            <a:ext cx="1802409" cy="2097349"/>
            <a:chOff x="0" y="0"/>
            <a:chExt cx="698500" cy="812800"/>
          </a:xfrm>
        </p:grpSpPr>
        <p:sp>
          <p:nvSpPr>
            <p:cNvPr id="353" name="Google Shape;353;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4" name="Google Shape;354;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5" name="Google Shape;355;p34"/>
          <p:cNvGrpSpPr/>
          <p:nvPr/>
        </p:nvGrpSpPr>
        <p:grpSpPr>
          <a:xfrm>
            <a:off x="8532466" y="1075875"/>
            <a:ext cx="1802409" cy="2097349"/>
            <a:chOff x="0" y="0"/>
            <a:chExt cx="698500" cy="812800"/>
          </a:xfrm>
        </p:grpSpPr>
        <p:sp>
          <p:nvSpPr>
            <p:cNvPr id="356" name="Google Shape;356;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11341D">
                <a:alpha val="28240"/>
              </a:srgbClr>
            </a:solidFill>
            <a:ln>
              <a:noFill/>
            </a:ln>
          </p:spPr>
          <p:txBody>
            <a:bodyPr/>
            <a:lstStyle/>
            <a:p>
              <a:endParaRPr lang="en-US"/>
            </a:p>
          </p:txBody>
        </p:sp>
        <p:sp>
          <p:nvSpPr>
            <p:cNvPr id="357" name="Google Shape;357;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358" name="Google Shape;358;p34"/>
          <p:cNvGrpSpPr/>
          <p:nvPr/>
        </p:nvGrpSpPr>
        <p:grpSpPr>
          <a:xfrm>
            <a:off x="6730036" y="27190"/>
            <a:ext cx="1802409" cy="2097349"/>
            <a:chOff x="0" y="0"/>
            <a:chExt cx="698500" cy="812800"/>
          </a:xfrm>
        </p:grpSpPr>
        <p:sp>
          <p:nvSpPr>
            <p:cNvPr id="359" name="Google Shape;359;p34"/>
            <p:cNvSpPr/>
            <p:nvPr/>
          </p:nvSpPr>
          <p:spPr>
            <a:xfrm>
              <a:off x="0" y="0"/>
              <a:ext cx="698500" cy="812800"/>
            </a:xfrm>
            <a:custGeom>
              <a:avLst/>
              <a:gdLst/>
              <a:ahLst/>
              <a:cxnLst/>
              <a:rect l="l" t="t" r="r" b="b"/>
              <a:pathLst>
                <a:path w="698500" h="812800" extrusionOk="0">
                  <a:moveTo>
                    <a:pt x="349250" y="0"/>
                  </a:moveTo>
                  <a:lnTo>
                    <a:pt x="698500" y="203200"/>
                  </a:lnTo>
                  <a:lnTo>
                    <a:pt x="698500" y="609600"/>
                  </a:lnTo>
                  <a:lnTo>
                    <a:pt x="349250" y="812800"/>
                  </a:lnTo>
                  <a:lnTo>
                    <a:pt x="0" y="609600"/>
                  </a:lnTo>
                  <a:lnTo>
                    <a:pt x="0" y="203200"/>
                  </a:lnTo>
                  <a:lnTo>
                    <a:pt x="349250" y="0"/>
                  </a:lnTo>
                  <a:close/>
                </a:path>
              </a:pathLst>
            </a:custGeom>
            <a:solidFill>
              <a:srgbClr val="538761"/>
            </a:solidFill>
            <a:ln>
              <a:noFill/>
            </a:ln>
          </p:spPr>
          <p:txBody>
            <a:bodyPr/>
            <a:lstStyle/>
            <a:p>
              <a:endParaRPr lang="en-US"/>
            </a:p>
          </p:txBody>
        </p:sp>
        <p:sp>
          <p:nvSpPr>
            <p:cNvPr id="360" name="Google Shape;360;p34"/>
            <p:cNvSpPr txBox="1"/>
            <p:nvPr/>
          </p:nvSpPr>
          <p:spPr>
            <a:xfrm>
              <a:off x="0" y="92075"/>
              <a:ext cx="698400" cy="581100"/>
            </a:xfrm>
            <a:prstGeom prst="rect">
              <a:avLst/>
            </a:prstGeom>
            <a:noFill/>
            <a:ln>
              <a:noFill/>
            </a:ln>
          </p:spPr>
          <p:txBody>
            <a:bodyPr spcFirstLastPara="1" wrap="square" lIns="25400" tIns="25400" rIns="25400" bIns="25400" anchor="ctr" anchorCtr="0">
              <a:noAutofit/>
            </a:bodyPr>
            <a:lstStyle/>
            <a:p>
              <a:pPr marL="0" marR="0" lvl="0" indent="0" algn="ctr" rtl="0">
                <a:lnSpc>
                  <a:spcPct val="171111"/>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361" name="Google Shape;361;p34"/>
          <p:cNvSpPr/>
          <p:nvPr/>
        </p:nvSpPr>
        <p:spPr>
          <a:xfrm>
            <a:off x="8506095" y="-455835"/>
            <a:ext cx="732122" cy="1714500"/>
          </a:xfrm>
          <a:custGeom>
            <a:avLst/>
            <a:gdLst/>
            <a:ahLst/>
            <a:cxnLst/>
            <a:rect l="l" t="t" r="r" b="b"/>
            <a:pathLst>
              <a:path w="1464244" h="3429000" extrusionOk="0">
                <a:moveTo>
                  <a:pt x="0" y="0"/>
                </a:moveTo>
                <a:lnTo>
                  <a:pt x="1464244" y="0"/>
                </a:lnTo>
                <a:lnTo>
                  <a:pt x="1464244" y="3429000"/>
                </a:lnTo>
                <a:lnTo>
                  <a:pt x="0" y="3429000"/>
                </a:lnTo>
                <a:lnTo>
                  <a:pt x="0" y="0"/>
                </a:lnTo>
                <a:close/>
              </a:path>
            </a:pathLst>
          </a:custGeom>
          <a:blipFill rotWithShape="1">
            <a:blip r:embed="rId4">
              <a:alphaModFix/>
            </a:blip>
            <a:stretch>
              <a:fillRect r="-399575"/>
            </a:stretch>
          </a:blipFill>
          <a:ln>
            <a:noFill/>
          </a:ln>
        </p:spPr>
        <p:txBody>
          <a:bodyPr/>
          <a:lstStyle/>
          <a:p>
            <a:endParaRPr lang="en-US"/>
          </a:p>
        </p:txBody>
      </p:sp>
      <p:sp>
        <p:nvSpPr>
          <p:cNvPr id="362" name="Google Shape;362;p34"/>
          <p:cNvSpPr txBox="1"/>
          <p:nvPr/>
        </p:nvSpPr>
        <p:spPr>
          <a:xfrm>
            <a:off x="424375" y="1134000"/>
            <a:ext cx="6023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i="1">
                <a:solidFill>
                  <a:srgbClr val="11341D"/>
                </a:solidFill>
                <a:latin typeface="Calibri"/>
                <a:ea typeface="Calibri"/>
                <a:cs typeface="Calibri"/>
                <a:sym typeface="Calibri"/>
              </a:rPr>
              <a:t>* Includes additional details and visuals from our preliminary analysis that were not included in the live presentation due to time constraints. </a:t>
            </a:r>
            <a:endParaRPr b="1" i="1">
              <a:solidFill>
                <a:srgbClr val="11341D"/>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31">
          <a:extLst>
            <a:ext uri="{FF2B5EF4-FFF2-40B4-BE49-F238E27FC236}">
              <a16:creationId xmlns:a16="http://schemas.microsoft.com/office/drawing/2014/main" id="{068AF6BE-6D86-097D-3B27-6B074DCC7675}"/>
            </a:ext>
          </a:extLst>
        </p:cNvPr>
        <p:cNvGrpSpPr/>
        <p:nvPr/>
      </p:nvGrpSpPr>
      <p:grpSpPr>
        <a:xfrm>
          <a:off x="0" y="0"/>
          <a:ext cx="0" cy="0"/>
          <a:chOff x="0" y="0"/>
          <a:chExt cx="0" cy="0"/>
        </a:xfrm>
      </p:grpSpPr>
      <p:sp>
        <p:nvSpPr>
          <p:cNvPr id="332" name="Google Shape;332;p33">
            <a:extLst>
              <a:ext uri="{FF2B5EF4-FFF2-40B4-BE49-F238E27FC236}">
                <a16:creationId xmlns:a16="http://schemas.microsoft.com/office/drawing/2014/main" id="{28024545-EEAF-3330-E2AD-69AF3E674110}"/>
              </a:ext>
            </a:extLst>
          </p:cNvPr>
          <p:cNvSpPr txBox="1"/>
          <p:nvPr/>
        </p:nvSpPr>
        <p:spPr>
          <a:xfrm>
            <a:off x="517949" y="452125"/>
            <a:ext cx="8108100" cy="32316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1">
                <a:solidFill>
                  <a:srgbClr val="11341D"/>
                </a:solidFill>
                <a:latin typeface="Calibri"/>
                <a:ea typeface="Calibri"/>
                <a:cs typeface="Calibri"/>
                <a:sym typeface="Calibri"/>
              </a:rPr>
              <a:t>Example Call Flow</a:t>
            </a:r>
            <a:endParaRPr lang="en-US" sz="700">
              <a:latin typeface="Calibri"/>
              <a:ea typeface="Calibri"/>
              <a:cs typeface="Calibri"/>
              <a:sym typeface="Calibri"/>
            </a:endParaRPr>
          </a:p>
        </p:txBody>
      </p:sp>
      <p:sp>
        <p:nvSpPr>
          <p:cNvPr id="333" name="Google Shape;333;p33">
            <a:extLst>
              <a:ext uri="{FF2B5EF4-FFF2-40B4-BE49-F238E27FC236}">
                <a16:creationId xmlns:a16="http://schemas.microsoft.com/office/drawing/2014/main" id="{7A3CC490-C4F2-3870-E331-ED063A5C6C6B}"/>
              </a:ext>
            </a:extLst>
          </p:cNvPr>
          <p:cNvSpPr/>
          <p:nvPr/>
        </p:nvSpPr>
        <p:spPr>
          <a:xfrm rot="-10124778">
            <a:off x="4180114" y="300476"/>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3">
              <a:alphaModFix amt="20000"/>
            </a:blip>
            <a:stretch>
              <a:fillRect/>
            </a:stretch>
          </a:blipFill>
          <a:ln>
            <a:noFill/>
          </a:ln>
        </p:spPr>
        <p:txBody>
          <a:bodyPr/>
          <a:lstStyle/>
          <a:p>
            <a:endParaRPr lang="en-US"/>
          </a:p>
        </p:txBody>
      </p:sp>
      <p:sp>
        <p:nvSpPr>
          <p:cNvPr id="334" name="Google Shape;334;p33">
            <a:extLst>
              <a:ext uri="{FF2B5EF4-FFF2-40B4-BE49-F238E27FC236}">
                <a16:creationId xmlns:a16="http://schemas.microsoft.com/office/drawing/2014/main" id="{177C3E3C-5C8D-6511-A635-12BA4856DA61}"/>
              </a:ext>
            </a:extLst>
          </p:cNvPr>
          <p:cNvSpPr/>
          <p:nvPr/>
        </p:nvSpPr>
        <p:spPr>
          <a:xfrm rot="570569">
            <a:off x="-1170566" y="3492860"/>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4">
              <a:alphaModFix amt="13000"/>
            </a:blip>
            <a:stretch>
              <a:fillRect/>
            </a:stretch>
          </a:blipFill>
          <a:ln>
            <a:noFill/>
          </a:ln>
        </p:spPr>
        <p:txBody>
          <a:bodyPr/>
          <a:lstStyle/>
          <a:p>
            <a:endParaRPr lang="en-US"/>
          </a:p>
        </p:txBody>
      </p:sp>
      <p:sp>
        <p:nvSpPr>
          <p:cNvPr id="13" name="Rectangle 1">
            <a:extLst>
              <a:ext uri="{FF2B5EF4-FFF2-40B4-BE49-F238E27FC236}">
                <a16:creationId xmlns:a16="http://schemas.microsoft.com/office/drawing/2014/main" id="{07E64712-EFCC-54CF-49AE-66CB87693453}"/>
              </a:ext>
            </a:extLst>
          </p:cNvPr>
          <p:cNvSpPr>
            <a:spLocks noChangeArrowheads="1"/>
          </p:cNvSpPr>
          <p:nvPr/>
        </p:nvSpPr>
        <p:spPr bwMode="auto">
          <a:xfrm>
            <a:off x="0" y="-1229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Google Shape;384;p36">
            <a:extLst>
              <a:ext uri="{FF2B5EF4-FFF2-40B4-BE49-F238E27FC236}">
                <a16:creationId xmlns:a16="http://schemas.microsoft.com/office/drawing/2014/main" id="{D12E3CF3-EECD-C485-D928-777356153AD9}"/>
              </a:ext>
            </a:extLst>
          </p:cNvPr>
          <p:cNvSpPr/>
          <p:nvPr/>
        </p:nvSpPr>
        <p:spPr>
          <a:xfrm>
            <a:off x="7748725" y="115500"/>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Example Call Journey</a:t>
            </a:r>
            <a:endParaRPr sz="1100" b="1" i="1"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2080581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5"/>
          <p:cNvSpPr/>
          <p:nvPr/>
        </p:nvSpPr>
        <p:spPr>
          <a:xfrm rot="-5400000">
            <a:off x="2352070" y="-2388870"/>
            <a:ext cx="5143500" cy="9921240"/>
          </a:xfrm>
          <a:custGeom>
            <a:avLst/>
            <a:gdLst/>
            <a:ahLst/>
            <a:cxnLst/>
            <a:rect l="l" t="t" r="r" b="b"/>
            <a:pathLst>
              <a:path w="10287000" h="18288000" extrusionOk="0">
                <a:moveTo>
                  <a:pt x="10287000" y="0"/>
                </a:moveTo>
                <a:lnTo>
                  <a:pt x="10287000" y="18288000"/>
                </a:lnTo>
                <a:lnTo>
                  <a:pt x="0" y="18288000"/>
                </a:lnTo>
                <a:lnTo>
                  <a:pt x="0" y="0"/>
                </a:lnTo>
                <a:lnTo>
                  <a:pt x="10287000" y="0"/>
                </a:lnTo>
                <a:close/>
              </a:path>
            </a:pathLst>
          </a:custGeom>
          <a:blipFill rotWithShape="1">
            <a:blip r:embed="rId3">
              <a:alphaModFix/>
            </a:blip>
            <a:stretch>
              <a:fillRect l="-12888" r="-12878"/>
            </a:stretch>
          </a:blipFill>
          <a:ln>
            <a:noFill/>
          </a:ln>
        </p:spPr>
        <p:txBody>
          <a:bodyPr/>
          <a:lstStyle/>
          <a:p>
            <a:endParaRPr lang="en-US"/>
          </a:p>
        </p:txBody>
      </p:sp>
      <p:sp>
        <p:nvSpPr>
          <p:cNvPr id="368" name="Google Shape;368;p35"/>
          <p:cNvSpPr txBox="1"/>
          <p:nvPr/>
        </p:nvSpPr>
        <p:spPr>
          <a:xfrm>
            <a:off x="514350" y="471500"/>
            <a:ext cx="33336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 sz="2100" b="1">
                <a:solidFill>
                  <a:srgbClr val="11341D"/>
                </a:solidFill>
                <a:latin typeface="Calibri"/>
                <a:ea typeface="Calibri"/>
                <a:cs typeface="Calibri"/>
                <a:sym typeface="Calibri"/>
              </a:rPr>
              <a:t>Data Cleaning (Power BI)</a:t>
            </a:r>
            <a:endParaRPr sz="700">
              <a:latin typeface="Calibri"/>
              <a:ea typeface="Calibri"/>
              <a:cs typeface="Calibri"/>
              <a:sym typeface="Calibri"/>
            </a:endParaRPr>
          </a:p>
        </p:txBody>
      </p:sp>
      <p:sp>
        <p:nvSpPr>
          <p:cNvPr id="369" name="Google Shape;369;p35"/>
          <p:cNvSpPr/>
          <p:nvPr/>
        </p:nvSpPr>
        <p:spPr>
          <a:xfrm rot="-10124778">
            <a:off x="4245887" y="-786554"/>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4">
              <a:alphaModFix amt="20000"/>
            </a:blip>
            <a:stretch>
              <a:fillRect/>
            </a:stretch>
          </a:blipFill>
          <a:ln>
            <a:noFill/>
          </a:ln>
        </p:spPr>
        <p:txBody>
          <a:bodyPr/>
          <a:lstStyle/>
          <a:p>
            <a:endParaRPr lang="en-US"/>
          </a:p>
        </p:txBody>
      </p:sp>
      <p:sp>
        <p:nvSpPr>
          <p:cNvPr id="370" name="Google Shape;370;p35"/>
          <p:cNvSpPr/>
          <p:nvPr/>
        </p:nvSpPr>
        <p:spPr>
          <a:xfrm rot="570569">
            <a:off x="-5527713" y="2990214"/>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5">
              <a:alphaModFix amt="13000"/>
            </a:blip>
            <a:stretch>
              <a:fillRect/>
            </a:stretch>
          </a:blipFill>
          <a:ln>
            <a:noFill/>
          </a:ln>
        </p:spPr>
        <p:txBody>
          <a:bodyPr/>
          <a:lstStyle/>
          <a:p>
            <a:endParaRPr lang="en-US"/>
          </a:p>
        </p:txBody>
      </p:sp>
      <p:sp>
        <p:nvSpPr>
          <p:cNvPr id="371" name="Google Shape;371;p35"/>
          <p:cNvSpPr txBox="1"/>
          <p:nvPr/>
        </p:nvSpPr>
        <p:spPr>
          <a:xfrm>
            <a:off x="430600" y="1297250"/>
            <a:ext cx="8641500" cy="3447000"/>
          </a:xfrm>
          <a:prstGeom prst="rect">
            <a:avLst/>
          </a:prstGeom>
          <a:noFill/>
          <a:ln>
            <a:noFill/>
          </a:ln>
        </p:spPr>
        <p:txBody>
          <a:bodyPr spcFirstLastPara="1" wrap="square" lIns="91425" tIns="91425" rIns="91425" bIns="91425" anchor="t" anchorCtr="0">
            <a:noAutofit/>
          </a:bodyPr>
          <a:lstStyle/>
          <a:p>
            <a:pPr marL="91440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72" name="Google Shape;372;p35"/>
          <p:cNvSpPr txBox="1"/>
          <p:nvPr/>
        </p:nvSpPr>
        <p:spPr>
          <a:xfrm>
            <a:off x="430600" y="794600"/>
            <a:ext cx="8108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Calibri"/>
                <a:ea typeface="Calibri"/>
                <a:cs typeface="Calibri"/>
                <a:sym typeface="Calibri"/>
              </a:rPr>
              <a:t>The following was completed in </a:t>
            </a:r>
            <a:r>
              <a:rPr lang="en" sz="1600" b="1">
                <a:solidFill>
                  <a:schemeClr val="dk1"/>
                </a:solidFill>
                <a:latin typeface="Calibri"/>
                <a:ea typeface="Calibri"/>
                <a:cs typeface="Calibri"/>
                <a:sym typeface="Calibri"/>
              </a:rPr>
              <a:t>Power BI</a:t>
            </a:r>
            <a:r>
              <a:rPr lang="en"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5" name="Google Shape;384;p36">
            <a:extLst>
              <a:ext uri="{FF2B5EF4-FFF2-40B4-BE49-F238E27FC236}">
                <a16:creationId xmlns:a16="http://schemas.microsoft.com/office/drawing/2014/main" id="{C3F92D39-E4CD-9010-10B5-78D318071555}"/>
              </a:ext>
            </a:extLst>
          </p:cNvPr>
          <p:cNvSpPr/>
          <p:nvPr/>
        </p:nvSpPr>
        <p:spPr>
          <a:xfrm>
            <a:off x="7748725" y="115500"/>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Example Call Journey</a:t>
            </a:r>
            <a:endParaRPr sz="1100" b="1" i="1" u="none" strike="noStrike" cap="none">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7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6"/>
          <p:cNvSpPr/>
          <p:nvPr/>
        </p:nvSpPr>
        <p:spPr>
          <a:xfrm rot="-5400000">
            <a:off x="2352070" y="-2388870"/>
            <a:ext cx="5143500" cy="9921240"/>
          </a:xfrm>
          <a:custGeom>
            <a:avLst/>
            <a:gdLst/>
            <a:ahLst/>
            <a:cxnLst/>
            <a:rect l="l" t="t" r="r" b="b"/>
            <a:pathLst>
              <a:path w="10287000" h="18288000" extrusionOk="0">
                <a:moveTo>
                  <a:pt x="10287000" y="0"/>
                </a:moveTo>
                <a:lnTo>
                  <a:pt x="10287000" y="18288000"/>
                </a:lnTo>
                <a:lnTo>
                  <a:pt x="0" y="18288000"/>
                </a:lnTo>
                <a:lnTo>
                  <a:pt x="0" y="0"/>
                </a:lnTo>
                <a:lnTo>
                  <a:pt x="10287000" y="0"/>
                </a:lnTo>
                <a:close/>
              </a:path>
            </a:pathLst>
          </a:custGeom>
          <a:blipFill rotWithShape="1">
            <a:blip r:embed="rId3">
              <a:alphaModFix/>
            </a:blip>
            <a:stretch>
              <a:fillRect l="-12888" r="-12878"/>
            </a:stretch>
          </a:blipFill>
          <a:ln>
            <a:noFill/>
          </a:ln>
        </p:spPr>
        <p:txBody>
          <a:bodyPr/>
          <a:lstStyle/>
          <a:p>
            <a:endParaRPr lang="en-US"/>
          </a:p>
        </p:txBody>
      </p:sp>
      <p:sp>
        <p:nvSpPr>
          <p:cNvPr id="379" name="Google Shape;379;p36"/>
          <p:cNvSpPr txBox="1"/>
          <p:nvPr/>
        </p:nvSpPr>
        <p:spPr>
          <a:xfrm>
            <a:off x="514350" y="471500"/>
            <a:ext cx="30429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 sz="2100" b="1">
                <a:solidFill>
                  <a:srgbClr val="11341D"/>
                </a:solidFill>
                <a:latin typeface="Calibri"/>
                <a:ea typeface="Calibri"/>
                <a:cs typeface="Calibri"/>
                <a:sym typeface="Calibri"/>
              </a:rPr>
              <a:t>Data Cleaning (Python)</a:t>
            </a:r>
            <a:endParaRPr sz="700">
              <a:latin typeface="Calibri"/>
              <a:ea typeface="Calibri"/>
              <a:cs typeface="Calibri"/>
              <a:sym typeface="Calibri"/>
            </a:endParaRPr>
          </a:p>
        </p:txBody>
      </p:sp>
      <p:sp>
        <p:nvSpPr>
          <p:cNvPr id="380" name="Google Shape;380;p36"/>
          <p:cNvSpPr/>
          <p:nvPr/>
        </p:nvSpPr>
        <p:spPr>
          <a:xfrm rot="-10124778">
            <a:off x="4245887" y="-786554"/>
            <a:ext cx="6538646" cy="1953420"/>
          </a:xfrm>
          <a:custGeom>
            <a:avLst/>
            <a:gdLst/>
            <a:ahLst/>
            <a:cxnLst/>
            <a:rect l="l" t="t" r="r" b="b"/>
            <a:pathLst>
              <a:path w="13087603" h="3909921" extrusionOk="0">
                <a:moveTo>
                  <a:pt x="13087603" y="3909921"/>
                </a:moveTo>
                <a:lnTo>
                  <a:pt x="0" y="3909921"/>
                </a:lnTo>
                <a:lnTo>
                  <a:pt x="0" y="0"/>
                </a:lnTo>
                <a:lnTo>
                  <a:pt x="13087603" y="0"/>
                </a:lnTo>
                <a:lnTo>
                  <a:pt x="13087603" y="3909921"/>
                </a:lnTo>
                <a:close/>
              </a:path>
            </a:pathLst>
          </a:custGeom>
          <a:blipFill rotWithShape="1">
            <a:blip r:embed="rId4">
              <a:alphaModFix amt="20000"/>
            </a:blip>
            <a:stretch>
              <a:fillRect/>
            </a:stretch>
          </a:blipFill>
          <a:ln>
            <a:noFill/>
          </a:ln>
        </p:spPr>
        <p:txBody>
          <a:bodyPr/>
          <a:lstStyle/>
          <a:p>
            <a:endParaRPr lang="en-US"/>
          </a:p>
        </p:txBody>
      </p:sp>
      <p:sp>
        <p:nvSpPr>
          <p:cNvPr id="381" name="Google Shape;381;p36"/>
          <p:cNvSpPr/>
          <p:nvPr/>
        </p:nvSpPr>
        <p:spPr>
          <a:xfrm rot="570569">
            <a:off x="-5527713" y="2990214"/>
            <a:ext cx="9883810" cy="3274012"/>
          </a:xfrm>
          <a:custGeom>
            <a:avLst/>
            <a:gdLst/>
            <a:ahLst/>
            <a:cxnLst/>
            <a:rect l="l" t="t" r="r" b="b"/>
            <a:pathLst>
              <a:path w="19792872" h="6556389" extrusionOk="0">
                <a:moveTo>
                  <a:pt x="0" y="0"/>
                </a:moveTo>
                <a:lnTo>
                  <a:pt x="19792873" y="0"/>
                </a:lnTo>
                <a:lnTo>
                  <a:pt x="19792873" y="6556388"/>
                </a:lnTo>
                <a:lnTo>
                  <a:pt x="0" y="6556388"/>
                </a:lnTo>
                <a:lnTo>
                  <a:pt x="0" y="0"/>
                </a:lnTo>
                <a:close/>
              </a:path>
            </a:pathLst>
          </a:custGeom>
          <a:blipFill rotWithShape="1">
            <a:blip r:embed="rId5">
              <a:alphaModFix amt="13000"/>
            </a:blip>
            <a:stretch>
              <a:fillRect/>
            </a:stretch>
          </a:blipFill>
          <a:ln>
            <a:noFill/>
          </a:ln>
        </p:spPr>
        <p:txBody>
          <a:bodyPr/>
          <a:lstStyle/>
          <a:p>
            <a:endParaRPr lang="en-US"/>
          </a:p>
        </p:txBody>
      </p:sp>
      <p:sp>
        <p:nvSpPr>
          <p:cNvPr id="382" name="Google Shape;382;p36"/>
          <p:cNvSpPr txBox="1"/>
          <p:nvPr/>
        </p:nvSpPr>
        <p:spPr>
          <a:xfrm>
            <a:off x="430600" y="1297250"/>
            <a:ext cx="8641500" cy="3447000"/>
          </a:xfrm>
          <a:prstGeom prst="rect">
            <a:avLst/>
          </a:prstGeom>
          <a:noFill/>
          <a:ln>
            <a:noFill/>
          </a:ln>
        </p:spPr>
        <p:txBody>
          <a:bodyPr spcFirstLastPara="1" wrap="square" lIns="91425" tIns="91425" rIns="91425" bIns="91425" anchor="t" anchorCtr="0">
            <a:noAutofit/>
          </a:bodyPr>
          <a:lstStyle/>
          <a:p>
            <a:pPr marL="91440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83" name="Google Shape;383;p36"/>
          <p:cNvSpPr txBox="1"/>
          <p:nvPr/>
        </p:nvSpPr>
        <p:spPr>
          <a:xfrm>
            <a:off x="430600" y="794600"/>
            <a:ext cx="8108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Calibri"/>
                <a:ea typeface="Calibri"/>
                <a:cs typeface="Calibri"/>
                <a:sym typeface="Calibri"/>
              </a:rPr>
              <a:t>The following data cleaning was completed in </a:t>
            </a:r>
            <a:r>
              <a:rPr lang="en" sz="1600" b="1">
                <a:solidFill>
                  <a:schemeClr val="dk1"/>
                </a:solidFill>
                <a:latin typeface="Calibri"/>
                <a:ea typeface="Calibri"/>
                <a:cs typeface="Calibri"/>
                <a:sym typeface="Calibri"/>
              </a:rPr>
              <a:t>Python</a:t>
            </a:r>
            <a:r>
              <a:rPr lang="en" sz="1600">
                <a:solidFill>
                  <a:schemeClr val="dk1"/>
                </a:solidFill>
                <a:latin typeface="Calibri"/>
                <a:ea typeface="Calibri"/>
                <a:cs typeface="Calibri"/>
                <a:sym typeface="Calibri"/>
              </a:rPr>
              <a:t>. Code </a:t>
            </a:r>
            <a:r>
              <a:rPr lang="en" sz="1600" u="sng">
                <a:solidFill>
                  <a:schemeClr val="hlink"/>
                </a:solidFill>
                <a:latin typeface="Calibri"/>
                <a:ea typeface="Calibri"/>
                <a:cs typeface="Calibri"/>
                <a:sym typeface="Calibri"/>
                <a:hlinkClick r:id="rId6"/>
              </a:rPr>
              <a:t>here</a:t>
            </a:r>
            <a:r>
              <a:rPr lang="en"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384" name="Google Shape;384;p36"/>
          <p:cNvSpPr/>
          <p:nvPr/>
        </p:nvSpPr>
        <p:spPr>
          <a:xfrm>
            <a:off x="7748725" y="115500"/>
            <a:ext cx="1412700" cy="288300"/>
          </a:xfrm>
          <a:prstGeom prst="rect">
            <a:avLst/>
          </a:prstGeom>
          <a:solidFill>
            <a:srgbClr val="1134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1">
                <a:solidFill>
                  <a:srgbClr val="FFFFFF"/>
                </a:solidFill>
                <a:latin typeface="Calibri"/>
                <a:ea typeface="Calibri"/>
                <a:cs typeface="Calibri"/>
                <a:sym typeface="Calibri"/>
              </a:rPr>
              <a:t>Data Cleaning </a:t>
            </a:r>
            <a:endParaRPr sz="1100" b="1" i="1" u="none" strike="noStrike" cap="none">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8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2296</Words>
  <Application>Microsoft Macintosh PowerPoint</Application>
  <PresentationFormat>On-screen Show (16:9)</PresentationFormat>
  <Paragraphs>212</Paragraphs>
  <Slides>20</Slides>
  <Notes>20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Inter ExtraLight</vt:lpstr>
      <vt:lpstr>Calibri</vt:lpstr>
      <vt:lpstr>Arial</vt:lpstr>
      <vt:lpstr>Inter Light</vt:lpstr>
      <vt:lpstr>Work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Livia Divina Salituro</cp:lastModifiedBy>
  <cp:revision>2</cp:revision>
  <dcterms:modified xsi:type="dcterms:W3CDTF">2025-10-22T21:55:32Z</dcterms:modified>
</cp:coreProperties>
</file>